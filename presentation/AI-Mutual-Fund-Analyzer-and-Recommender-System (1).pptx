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embeddedFontLst>
    <p:embeddedFont>
      <p:font typeface="Inter Bold"/>
      <p:regular r:id="rId201314"/>
    </p:embeddedFont>
    <p:embeddedFont>
      <p:font typeface="Inter"/>
      <p:regular r:id="rId201315"/>
    </p:embeddedFont>
    <p:embeddedFont>
      <p:font typeface="Inter Black"/>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jpeg"/><Relationship Id="rId2" Type="http://schemas.openxmlformats.org/officeDocument/2006/relationships/image" Target="../media/image-1002-1.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5" name="Shape 2"/>
          <p:cNvSpPr/>
          <p:nvPr/>
        </p:nvSpPr>
        <p:spPr>
          <a:xfrm>
            <a:off x="0" y="0"/>
            <a:ext cx="9144000" cy="5143500"/>
          </a:xfrm>
          <a:prstGeom prst="rect">
            <a:avLst/>
          </a:prstGeom>
          <a:solidFill>
            <a:srgbClr val="FFFFFF">
              <a:alpha val="85000"/>
            </a:srgbClr>
          </a:solidFill>
          <a:ln/>
        </p:spPr>
      </p:sp>
      <p:pic>
        <p:nvPicPr>
          <p:cNvPr id="6"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svg"/><Relationship Id="rId9" Type="http://schemas.openxmlformats.org/officeDocument/2006/relationships/image" Target="../media/image-6-9.png"/><Relationship Id="rId10" Type="http://schemas.openxmlformats.org/officeDocument/2006/relationships/image" Target="../media/image-6-10.svg"/><Relationship Id="rId11" Type="http://schemas.openxmlformats.org/officeDocument/2006/relationships/image" Target="../media/image-6-11.png"/><Relationship Id="rId12" Type="http://schemas.openxmlformats.org/officeDocument/2006/relationships/image" Target="../media/image-6-12.svg"/><Relationship Id="rId13" Type="http://schemas.openxmlformats.org/officeDocument/2006/relationships/image" Target="../media/image-6-13.png"/><Relationship Id="rId14" Type="http://schemas.openxmlformats.org/officeDocument/2006/relationships/slideLayout" Target="../slideLayouts/slideLayout2.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localhost:8501" TargetMode="Externa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doi.org/10.1111/j.1540-6261.1952.tb01525.x" TargetMode="External"/><Relationship Id="rId2" Type="http://schemas.openxmlformats.org/officeDocument/2006/relationships/hyperlink" Target="https://doi.org/10.3905/jpm.1991.409343" TargetMode="External"/><Relationship Id="rId3" Type="http://schemas.openxmlformats.org/officeDocument/2006/relationships/hyperlink" Target="https://fastapi.tiangolo.com" TargetMode="External"/><Relationship Id="rId4" Type="http://schemas.openxmlformats.org/officeDocument/2006/relationships/hyperlink" Target="https://www.amfiindia.com" TargetMode="External"/><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github.com/rahulb49/AI-Mutual-Fund-Analyzer-Recommender-System" TargetMode="External"/><Relationship Id="rId2" Type="http://schemas.openxmlformats.org/officeDocument/2006/relationships/hyperlink" Target="https://ai-mutual-fund-analyzer.streamlit.app/" TargetMode="External"/><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136452"/>
            <a:ext cx="4722763" cy="885974"/>
          </a:xfrm>
          <a:prstGeom prst="rect">
            <a:avLst/>
          </a:prstGeom>
          <a:noFill/>
          <a:ln/>
        </p:spPr>
        <p:txBody>
          <a:bodyPr wrap="square" lIns="0" tIns="0" rIns="0" bIns="0" rtlCol="0" anchor="t">
            <a:normAutofit/>
          </a:bodyPr>
          <a:lstStyle/>
          <a:p>
            <a:pPr algn="l" indent="0" marL="0">
              <a:lnSpc>
                <a:spcPct val="104000"/>
              </a:lnSpc>
              <a:buNone/>
            </a:pPr>
            <a:r>
              <a:rPr lang="en-US" sz="2750" b="1" dirty="0">
                <a:solidFill>
                  <a:srgbClr val="000000"/>
                </a:solidFill>
                <a:latin typeface="Inter Bold" pitchFamily="34" charset="0"/>
                <a:ea typeface="Inter Bold" pitchFamily="34" charset="-122"/>
                <a:cs typeface="Inter Bold" pitchFamily="34" charset="-120"/>
              </a:rPr>
              <a:t>AI Mutual Fund Analyzer &amp; Recommender System</a:t>
            </a:r>
            <a:endParaRPr lang="en-US" sz="2750" dirty="0"/>
          </a:p>
        </p:txBody>
      </p:sp>
      <p:sp>
        <p:nvSpPr>
          <p:cNvPr id="4" name="Text 1"/>
          <p:cNvSpPr/>
          <p:nvPr/>
        </p:nvSpPr>
        <p:spPr>
          <a:xfrm>
            <a:off x="3925119" y="2235026"/>
            <a:ext cx="4722763" cy="1771948"/>
          </a:xfrm>
          <a:prstGeom prst="rect">
            <a:avLst/>
          </a:prstGeom>
          <a:noFill/>
          <a:ln/>
        </p:spPr>
        <p:txBody>
          <a:bodyPr wrap="square" lIns="0" tIns="0" rIns="0" bIns="0" rtlCol="0" anchor="t"/>
          <a:lstStyle/>
          <a:p>
            <a:pPr algn="l" indent="0" marL="0">
              <a:lnSpc>
                <a:spcPct val="133000"/>
              </a:lnSpc>
              <a:spcAft>
                <a:spcPts val="1250"/>
              </a:spcAft>
              <a:buNone/>
            </a:pPr>
            <a:r>
              <a:rPr lang="en-US" sz="1100" b="1" dirty="0">
                <a:solidFill>
                  <a:srgbClr val="272525"/>
                </a:solidFill>
                <a:latin typeface="Inter Bold" pitchFamily="34" charset="0"/>
                <a:ea typeface="Inter Bold" pitchFamily="34" charset="-122"/>
                <a:cs typeface="Inter Bold" pitchFamily="34" charset="-120"/>
              </a:rPr>
              <a:t>MSc Data Science</a:t>
            </a:r>
            <a:endParaRPr lang="en-US" sz="1100" dirty="0"/>
          </a:p>
          <a:p>
            <a:pPr algn="l" indent="0" marL="0">
              <a:lnSpc>
                <a:spcPct val="133000"/>
              </a:lnSpc>
              <a:buNone/>
            </a:pPr>
            <a:r>
              <a:rPr lang="en-US" sz="1100" b="1" dirty="0">
                <a:solidFill>
                  <a:srgbClr val="272525"/>
                </a:solidFill>
                <a:latin typeface="Inter Bold" pitchFamily="34" charset="0"/>
                <a:ea typeface="Inter Bold" pitchFamily="34" charset="-122"/>
                <a:cs typeface="Inter Bold" pitchFamily="34" charset="-120"/>
              </a:rPr>
              <a:t>Student:</a:t>
            </a:r>
            <a:pPr algn="l" indent="0" marL="0">
              <a:lnSpc>
                <a:spcPct val="133000"/>
              </a:lnSpc>
              <a:spcAft>
                <a:spcPts val="1250"/>
              </a:spcAft>
              <a:buNone/>
            </a:pPr>
            <a:r>
              <a:rPr lang="en-US" sz="1100" dirty="0">
                <a:solidFill>
                  <a:srgbClr val="272525"/>
                </a:solidFill>
                <a:latin typeface="Inter" pitchFamily="34" charset="0"/>
                <a:ea typeface="Inter" pitchFamily="34" charset="-122"/>
                <a:cs typeface="Inter" pitchFamily="34" charset="-120"/>
              </a:rPr>
              <a:t> Rahul Bhagat - 24EMDT1062</a:t>
            </a:r>
            <a:endParaRPr lang="en-US" sz="1100" dirty="0"/>
          </a:p>
          <a:p>
            <a:pPr algn="l" indent="0" marL="0">
              <a:lnSpc>
                <a:spcPct val="133000"/>
              </a:lnSpc>
              <a:buNone/>
            </a:pPr>
            <a:r>
              <a:rPr lang="en-US" sz="1100" b="1" dirty="0">
                <a:solidFill>
                  <a:srgbClr val="272525"/>
                </a:solidFill>
                <a:latin typeface="Inter Bold" pitchFamily="34" charset="0"/>
                <a:ea typeface="Inter Bold" pitchFamily="34" charset="-122"/>
                <a:cs typeface="Inter Bold" pitchFamily="34" charset="-120"/>
              </a:rPr>
              <a:t>Guide:</a:t>
            </a:r>
            <a:pPr algn="l" indent="0" marL="0">
              <a:lnSpc>
                <a:spcPct val="133000"/>
              </a:lnSpc>
              <a:spcAft>
                <a:spcPts val="1250"/>
              </a:spcAft>
              <a:buNone/>
            </a:pPr>
            <a:r>
              <a:rPr lang="en-US" sz="1100" dirty="0">
                <a:solidFill>
                  <a:srgbClr val="272525"/>
                </a:solidFill>
                <a:latin typeface="Inter" pitchFamily="34" charset="0"/>
                <a:ea typeface="Inter" pitchFamily="34" charset="-122"/>
                <a:cs typeface="Inter" pitchFamily="34" charset="-120"/>
              </a:rPr>
              <a:t> Prof. Raja Das</a:t>
            </a:r>
            <a:endParaRPr lang="en-US" sz="1100" dirty="0"/>
          </a:p>
          <a:p>
            <a:pPr algn="l" indent="0" marL="0">
              <a:lnSpc>
                <a:spcPct val="133000"/>
              </a:lnSpc>
              <a:buNone/>
            </a:pPr>
            <a:r>
              <a:rPr lang="en-US" sz="1100" b="1" dirty="0">
                <a:solidFill>
                  <a:srgbClr val="272525"/>
                </a:solidFill>
                <a:latin typeface="Inter Bold" pitchFamily="34" charset="0"/>
                <a:ea typeface="Inter Bold" pitchFamily="34" charset="-122"/>
                <a:cs typeface="Inter Bold" pitchFamily="34" charset="-120"/>
              </a:rPr>
              <a:t>Institution:</a:t>
            </a:r>
            <a:pPr algn="l" indent="0" marL="0">
              <a:lnSpc>
                <a:spcPct val="133000"/>
              </a:lnSpc>
              <a:spcAft>
                <a:spcPts val="1250"/>
              </a:spcAft>
              <a:buNone/>
            </a:pPr>
            <a:r>
              <a:rPr lang="en-US" sz="1100" dirty="0">
                <a:solidFill>
                  <a:srgbClr val="272525"/>
                </a:solidFill>
                <a:latin typeface="Inter" pitchFamily="34" charset="0"/>
                <a:ea typeface="Inter" pitchFamily="34" charset="-122"/>
                <a:cs typeface="Inter" pitchFamily="34" charset="-120"/>
              </a:rPr>
              <a:t> VIT Online Learning Program</a:t>
            </a:r>
            <a:endParaRPr lang="en-US" sz="1100" dirty="0"/>
          </a:p>
          <a:p>
            <a:pPr algn="l" indent="0" marL="0">
              <a:lnSpc>
                <a:spcPct val="133000"/>
              </a:lnSpc>
              <a:buNone/>
            </a:pPr>
            <a:r>
              <a:rPr lang="en-US" sz="1100" b="1" dirty="0">
                <a:solidFill>
                  <a:srgbClr val="272525"/>
                </a:solidFill>
                <a:latin typeface="Inter Bold" pitchFamily="34" charset="0"/>
                <a:ea typeface="Inter Bold" pitchFamily="34" charset="-122"/>
                <a:cs typeface="Inter Bold" pitchFamily="34" charset="-120"/>
              </a:rPr>
              <a:t>Submission Date:</a:t>
            </a:r>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 10 June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798091"/>
            <a:ext cx="8151763" cy="354360"/>
          </a:xfrm>
          <a:prstGeom prst="rect">
            <a:avLst/>
          </a:prstGeom>
          <a:noFill/>
          <a:ln/>
        </p:spPr>
        <p:txBody>
          <a:bodyPr wrap="none" lIns="0" tIns="0" rIns="0" bIns="0" rtlCol="0" anchor="t"/>
          <a:lstStyle/>
          <a:p>
            <a:pPr algn="l" indent="0" marL="0">
              <a:lnSpc>
                <a:spcPct val="104000"/>
              </a:lnSpc>
              <a:buNone/>
            </a:pPr>
            <a:r>
              <a:rPr lang="en-US" sz="2200" b="1" dirty="0">
                <a:solidFill>
                  <a:srgbClr val="000000"/>
                </a:solidFill>
                <a:latin typeface="Inter Bold" pitchFamily="34" charset="0"/>
                <a:ea typeface="Inter Bold" pitchFamily="34" charset="-122"/>
                <a:cs typeface="Inter Bold" pitchFamily="34" charset="-120"/>
              </a:rPr>
              <a:t>Abstract</a:t>
            </a:r>
            <a:endParaRPr lang="en-US" sz="2200" dirty="0"/>
          </a:p>
        </p:txBody>
      </p:sp>
      <p:sp>
        <p:nvSpPr>
          <p:cNvPr id="3" name="Text 1"/>
          <p:cNvSpPr/>
          <p:nvPr/>
        </p:nvSpPr>
        <p:spPr>
          <a:xfrm>
            <a:off x="496119" y="1365052"/>
            <a:ext cx="8151763" cy="1973982"/>
          </a:xfrm>
          <a:prstGeom prst="rect">
            <a:avLst/>
          </a:prstGeom>
          <a:noFill/>
          <a:ln/>
        </p:spPr>
        <p:txBody>
          <a:bodyPr wrap="square" lIns="0" tIns="0" rIns="0" bIns="0" rtlCol="0" anchor="t">
            <a:normAutofit/>
          </a:bodyPr>
          <a:lstStyle/>
          <a:p>
            <a:pPr algn="l" indent="0" marL="0">
              <a:lnSpc>
                <a:spcPct val="133000"/>
              </a:lnSpc>
              <a:spcAft>
                <a:spcPts val="1250"/>
              </a:spcAft>
              <a:buNone/>
            </a:pPr>
            <a:r>
              <a:rPr lang="en-US" sz="1100" dirty="0">
                <a:solidFill>
                  <a:srgbClr val="272525"/>
                </a:solidFill>
                <a:latin typeface="Inter" pitchFamily="34" charset="0"/>
                <a:ea typeface="Inter" pitchFamily="34" charset="-122"/>
                <a:cs typeface="Inter" pitchFamily="34" charset="-120"/>
              </a:rPr>
              <a:t>This project presents an AI-based Mutual Fund Analyzer and Recommender System designed to help investors explore, compare, and select suitable mutual fund schemes using data-driven insights. The platform processes large-scale NAV data from Indian mutual funds to generate financial features such as returns, volatility, risk measures, momentum indicators, and trend signals.</a:t>
            </a:r>
            <a:endParaRPr lang="en-US" sz="1100" dirty="0"/>
          </a:p>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The solution includes a RESTful FastAPI backend, an interactive Streamlit dashboard, and automated data pipelines for ingestion, preprocessing, feature engineering, ranking, and clustering. By combining financial analytics with machine learning techniques, the project reduces the complexity of mutual fund selection for retail investors, demonstrating how data science can build a practical, scalable, and user-friendly investment analysis tool.</a:t>
            </a:r>
            <a:endParaRPr lang="en-US" sz="1100" dirty="0"/>
          </a:p>
        </p:txBody>
      </p:sp>
      <p:sp>
        <p:nvSpPr>
          <p:cNvPr id="4" name="Text 2"/>
          <p:cNvSpPr/>
          <p:nvPr/>
        </p:nvSpPr>
        <p:spPr>
          <a:xfrm>
            <a:off x="496119" y="3551634"/>
            <a:ext cx="8151763" cy="354360"/>
          </a:xfrm>
          <a:prstGeom prst="rect">
            <a:avLst/>
          </a:prstGeom>
          <a:noFill/>
          <a:ln/>
        </p:spPr>
        <p:txBody>
          <a:bodyPr wrap="none" lIns="0" tIns="0" rIns="0" bIns="0" rtlCol="0" anchor="t"/>
          <a:lstStyle/>
          <a:p>
            <a:pPr algn="l" indent="0" marL="0">
              <a:lnSpc>
                <a:spcPct val="104000"/>
              </a:lnSpc>
              <a:buNone/>
            </a:pPr>
            <a:r>
              <a:rPr lang="en-US" sz="2200" b="1" dirty="0">
                <a:solidFill>
                  <a:srgbClr val="000000"/>
                </a:solidFill>
                <a:latin typeface="Inter Bold" pitchFamily="34" charset="0"/>
                <a:ea typeface="Inter Bold" pitchFamily="34" charset="-122"/>
                <a:cs typeface="Inter Bold" pitchFamily="34" charset="-120"/>
              </a:rPr>
              <a:t>Keywords</a:t>
            </a:r>
            <a:endParaRPr lang="en-US" sz="2200" dirty="0"/>
          </a:p>
        </p:txBody>
      </p:sp>
      <p:sp>
        <p:nvSpPr>
          <p:cNvPr id="5" name="Text 3"/>
          <p:cNvSpPr/>
          <p:nvPr/>
        </p:nvSpPr>
        <p:spPr>
          <a:xfrm>
            <a:off x="496119" y="4118595"/>
            <a:ext cx="8608963" cy="226814"/>
          </a:xfrm>
          <a:prstGeom prst="rect">
            <a:avLst/>
          </a:prstGeom>
          <a:noFill/>
          <a:ln/>
        </p:spPr>
        <p:txBody>
          <a:bodyPr wrap="none" lIns="0" tIns="0" rIns="0" bIns="0" rtlCol="0" anchor="t"/>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Mutual Fund Analysis, Financial Analytics, Machine Learning, Risk Assessment, FastAPI, Streamlit, Airflow, Python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713929"/>
            <a:ext cx="4722763" cy="354360"/>
          </a:xfrm>
          <a:prstGeom prst="rect">
            <a:avLst/>
          </a:prstGeom>
          <a:noFill/>
          <a:ln/>
        </p:spPr>
        <p:txBody>
          <a:bodyPr wrap="none" lIns="0" tIns="0" rIns="0" bIns="0" rtlCol="0" anchor="t"/>
          <a:lstStyle/>
          <a:p>
            <a:pPr algn="l" indent="0" marL="0">
              <a:lnSpc>
                <a:spcPct val="104000"/>
              </a:lnSpc>
              <a:buNone/>
            </a:pPr>
            <a:r>
              <a:rPr lang="en-US" sz="2200" b="1" dirty="0">
                <a:solidFill>
                  <a:srgbClr val="000000"/>
                </a:solidFill>
                <a:latin typeface="Inter Bold" pitchFamily="34" charset="0"/>
                <a:ea typeface="Inter Bold" pitchFamily="34" charset="-122"/>
                <a:cs typeface="Inter Bold" pitchFamily="34" charset="-120"/>
              </a:rPr>
              <a:t>Problem Statement &amp; Motivation</a:t>
            </a:r>
            <a:endParaRPr lang="en-US" sz="2200" dirty="0"/>
          </a:p>
        </p:txBody>
      </p:sp>
      <p:sp>
        <p:nvSpPr>
          <p:cNvPr id="4" name="Text 1"/>
          <p:cNvSpPr/>
          <p:nvPr/>
        </p:nvSpPr>
        <p:spPr>
          <a:xfrm>
            <a:off x="496119" y="1422648"/>
            <a:ext cx="2188443" cy="221456"/>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The Challenge</a:t>
            </a:r>
            <a:endParaRPr lang="en-US" sz="1350" dirty="0"/>
          </a:p>
        </p:txBody>
      </p:sp>
      <p:sp>
        <p:nvSpPr>
          <p:cNvPr id="5" name="Text 2"/>
          <p:cNvSpPr/>
          <p:nvPr/>
        </p:nvSpPr>
        <p:spPr>
          <a:xfrm>
            <a:off x="496119" y="1785863"/>
            <a:ext cx="2188443" cy="2594074"/>
          </a:xfrm>
          <a:prstGeom prst="rect">
            <a:avLst/>
          </a:prstGeom>
          <a:noFill/>
          <a:ln/>
        </p:spPr>
        <p:txBody>
          <a:bodyPr wrap="square" lIns="0" tIns="0" rIns="0" bIns="0" rtlCol="0" anchor="t">
            <a:normAutofit/>
          </a:bodyPr>
          <a:lstStyle/>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India has </a:t>
            </a:r>
            <a:pPr algn="l" marL="223520" indent="-223520">
              <a:lnSpc>
                <a:spcPct val="133000"/>
              </a:lnSpc>
              <a:buSzPct val="100000"/>
              <a:buChar char="•"/>
            </a:pPr>
            <a:r>
              <a:rPr lang="en-US" sz="1100" b="1" dirty="0">
                <a:solidFill>
                  <a:srgbClr val="272525"/>
                </a:solidFill>
                <a:latin typeface="Inter Bold" pitchFamily="34" charset="0"/>
                <a:ea typeface="Inter Bold" pitchFamily="34" charset="-122"/>
                <a:cs typeface="Inter Bold" pitchFamily="34" charset="-120"/>
              </a:rPr>
              <a:t>14,341+ mutual fund schemes</a:t>
            </a:r>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 across 51 fund houses really impossible to manually evaluate</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Investors lack objective tools to compare risk versus return across funds</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There is a gap between raw AMFI data and actionable investment insights</a:t>
            </a:r>
            <a:endParaRPr lang="en-US" sz="1100" dirty="0"/>
          </a:p>
        </p:txBody>
      </p:sp>
      <p:sp>
        <p:nvSpPr>
          <p:cNvPr id="6" name="Text 3"/>
          <p:cNvSpPr/>
          <p:nvPr/>
        </p:nvSpPr>
        <p:spPr>
          <a:xfrm>
            <a:off x="3035201" y="1422648"/>
            <a:ext cx="2188443" cy="221456"/>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The Solution</a:t>
            </a:r>
            <a:endParaRPr lang="en-US" sz="1350" dirty="0"/>
          </a:p>
        </p:txBody>
      </p:sp>
      <p:sp>
        <p:nvSpPr>
          <p:cNvPr id="7" name="Text 4"/>
          <p:cNvSpPr/>
          <p:nvPr/>
        </p:nvSpPr>
        <p:spPr>
          <a:xfrm>
            <a:off x="3035201" y="1785863"/>
            <a:ext cx="2188443" cy="1814513"/>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An </a:t>
            </a:r>
            <a:pPr algn="l" indent="0" marL="0">
              <a:lnSpc>
                <a:spcPct val="133000"/>
              </a:lnSpc>
              <a:buNone/>
            </a:pPr>
            <a:r>
              <a:rPr lang="en-US" sz="1100" b="1" dirty="0">
                <a:solidFill>
                  <a:srgbClr val="272525"/>
                </a:solidFill>
                <a:latin typeface="Inter Bold" pitchFamily="34" charset="0"/>
                <a:ea typeface="Inter Bold" pitchFamily="34" charset="-122"/>
                <a:cs typeface="Inter Bold" pitchFamily="34" charset="-120"/>
              </a:rPr>
              <a:t>end-to-end  platform</a:t>
            </a:r>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 that transforms raw AMFI data (mutual fund) into actionable recommendations through automated data pipelines, intelligent ranking algorithms, and personalized recommendations.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389855"/>
            <a:ext cx="8151763" cy="221456"/>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Research Design &amp; Project Plan</a:t>
            </a:r>
            <a:endParaRPr lang="en-US" sz="1350" dirty="0"/>
          </a:p>
        </p:txBody>
      </p:sp>
      <p:sp>
        <p:nvSpPr>
          <p:cNvPr id="3" name="Text 1"/>
          <p:cNvSpPr/>
          <p:nvPr/>
        </p:nvSpPr>
        <p:spPr>
          <a:xfrm>
            <a:off x="496119" y="625450"/>
            <a:ext cx="8151763" cy="177180"/>
          </a:xfrm>
          <a:prstGeom prst="rect">
            <a:avLst/>
          </a:prstGeom>
          <a:noFill/>
          <a:ln/>
        </p:spPr>
        <p:txBody>
          <a:bodyPr wrap="none" lIns="0" tIns="0" rIns="0" bIns="0" rtlCol="0" anchor="t"/>
          <a:lstStyle/>
          <a:p>
            <a:pPr algn="l" indent="0" marL="0">
              <a:lnSpc>
                <a:spcPct val="104000"/>
              </a:lnSpc>
              <a:buNone/>
            </a:pPr>
            <a:r>
              <a:rPr lang="en-US" sz="1100" b="1" dirty="0">
                <a:solidFill>
                  <a:srgbClr val="000000"/>
                </a:solidFill>
                <a:latin typeface="Inter Bold" pitchFamily="34" charset="0"/>
                <a:ea typeface="Inter Bold" pitchFamily="34" charset="-122"/>
                <a:cs typeface="Inter Bold" pitchFamily="34" charset="-120"/>
              </a:rPr>
              <a:t>1. Research Objective</a:t>
            </a:r>
            <a:endParaRPr lang="en-US" sz="1100" dirty="0"/>
          </a:p>
        </p:txBody>
      </p:sp>
      <p:sp>
        <p:nvSpPr>
          <p:cNvPr id="4" name="Text 2"/>
          <p:cNvSpPr/>
          <p:nvPr/>
        </p:nvSpPr>
        <p:spPr>
          <a:xfrm>
            <a:off x="496119" y="855762"/>
            <a:ext cx="8151763" cy="182463"/>
          </a:xfrm>
          <a:prstGeom prst="rect">
            <a:avLst/>
          </a:prstGeom>
          <a:noFill/>
          <a:ln/>
        </p:spPr>
        <p:txBody>
          <a:bodyPr wrap="square" lIns="0" tIns="0" rIns="0" bIns="0" rtlCol="0" anchor="t">
            <a:normAutofit/>
          </a:bodyPr>
          <a:lstStyle/>
          <a:p>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Build a comprehensive mutual fund analysis platform that downloads NAV data, cleans it, engineers financial features, and exposes results through API and interactive dashboard.</a:t>
            </a:r>
            <a:endParaRPr lang="en-US" sz="550" dirty="0"/>
          </a:p>
          <a:p>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Enable data-driven decision support for Indian mutual fund investors.</a:t>
            </a:r>
            <a:endParaRPr lang="en-US" sz="550" dirty="0"/>
          </a:p>
        </p:txBody>
      </p:sp>
      <p:sp>
        <p:nvSpPr>
          <p:cNvPr id="5" name="Text 3"/>
          <p:cNvSpPr/>
          <p:nvPr/>
        </p:nvSpPr>
        <p:spPr>
          <a:xfrm>
            <a:off x="496119" y="1091357"/>
            <a:ext cx="8151763" cy="177180"/>
          </a:xfrm>
          <a:prstGeom prst="rect">
            <a:avLst/>
          </a:prstGeom>
          <a:noFill/>
          <a:ln/>
        </p:spPr>
        <p:txBody>
          <a:bodyPr wrap="none" lIns="0" tIns="0" rIns="0" bIns="0" rtlCol="0" anchor="t"/>
          <a:lstStyle/>
          <a:p>
            <a:pPr algn="l" indent="0" marL="0">
              <a:lnSpc>
                <a:spcPct val="104000"/>
              </a:lnSpc>
              <a:buNone/>
            </a:pPr>
            <a:r>
              <a:rPr lang="en-US" sz="1100" b="1" dirty="0">
                <a:solidFill>
                  <a:srgbClr val="000000"/>
                </a:solidFill>
                <a:latin typeface="Inter Bold" pitchFamily="34" charset="0"/>
                <a:ea typeface="Inter Bold" pitchFamily="34" charset="-122"/>
                <a:cs typeface="Inter Bold" pitchFamily="34" charset="-120"/>
              </a:rPr>
              <a:t>2. Sampling Plan</a:t>
            </a:r>
            <a:endParaRPr lang="en-US" sz="1100" dirty="0"/>
          </a:p>
        </p:txBody>
      </p:sp>
      <p:sp>
        <p:nvSpPr>
          <p:cNvPr id="6" name="Text 4"/>
          <p:cNvSpPr/>
          <p:nvPr/>
        </p:nvSpPr>
        <p:spPr>
          <a:xfrm>
            <a:off x="496119" y="1321668"/>
            <a:ext cx="8151763" cy="572095"/>
          </a:xfrm>
          <a:prstGeom prst="rect">
            <a:avLst/>
          </a:prstGeom>
          <a:noFill/>
          <a:ln/>
        </p:spPr>
        <p:txBody>
          <a:bodyPr wrap="square" lIns="0" tIns="0" rIns="0" bIns="0" rtlCol="0" anchor="t">
            <a:normAutofit/>
          </a:bodyPr>
          <a:lstStyle/>
          <a:p>
            <a:pPr algn="l" marL="111760" indent="-111760">
              <a:lnSpc>
                <a:spcPct val="100000"/>
              </a:lnSpc>
              <a:buSzPct val="100000"/>
              <a:buChar char="•"/>
            </a:pPr>
            <a:r>
              <a:rPr lang="en-US" sz="550" b="1" dirty="0">
                <a:solidFill>
                  <a:srgbClr val="272525"/>
                </a:solidFill>
                <a:latin typeface="Inter Bold" pitchFamily="34" charset="0"/>
                <a:ea typeface="Inter Bold" pitchFamily="34" charset="-122"/>
                <a:cs typeface="Inter Bold" pitchFamily="34" charset="-120"/>
              </a:rPr>
              <a:t>Population:</a:t>
            </a:r>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 Indian mutual fund schemes available in AMFI NAV data.</a:t>
            </a:r>
            <a:endParaRPr lang="en-US" sz="550" dirty="0"/>
          </a:p>
          <a:p>
            <a:pPr algn="l" marL="111760" indent="-111760">
              <a:lnSpc>
                <a:spcPct val="100000"/>
              </a:lnSpc>
              <a:buSzPct val="100000"/>
              <a:buChar char="•"/>
            </a:pPr>
            <a:r>
              <a:rPr lang="en-US" sz="550" b="1" dirty="0">
                <a:solidFill>
                  <a:srgbClr val="272525"/>
                </a:solidFill>
                <a:latin typeface="Inter Bold" pitchFamily="34" charset="0"/>
                <a:ea typeface="Inter Bold" pitchFamily="34" charset="-122"/>
                <a:cs typeface="Inter Bold" pitchFamily="34" charset="-120"/>
              </a:rPr>
              <a:t>Data Source:</a:t>
            </a:r>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 AMFI NAV file (NAVAll.txt) - official regulatory source.</a:t>
            </a:r>
            <a:endParaRPr lang="en-US" sz="550" dirty="0"/>
          </a:p>
          <a:p>
            <a:pPr algn="l" marL="111760" indent="-111760">
              <a:lnSpc>
                <a:spcPct val="100000"/>
              </a:lnSpc>
              <a:buSzPct val="100000"/>
              <a:buChar char="•"/>
            </a:pPr>
            <a:r>
              <a:rPr lang="en-US" sz="550" b="1" dirty="0">
                <a:solidFill>
                  <a:srgbClr val="272525"/>
                </a:solidFill>
                <a:latin typeface="Inter Bold" pitchFamily="34" charset="0"/>
                <a:ea typeface="Inter Bold" pitchFamily="34" charset="-122"/>
                <a:cs typeface="Inter Bold" pitchFamily="34" charset="-120"/>
              </a:rPr>
              <a:t>Raw Sample Size:</a:t>
            </a:r>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 14,341 schemes across 51 fund houses.</a:t>
            </a:r>
            <a:endParaRPr lang="en-US" sz="550" dirty="0"/>
          </a:p>
          <a:p>
            <a:pPr algn="l" marL="111760" indent="-111760">
              <a:lnSpc>
                <a:spcPct val="100000"/>
              </a:lnSpc>
              <a:buSzPct val="100000"/>
              <a:buChar char="•"/>
            </a:pPr>
            <a:r>
              <a:rPr lang="en-US" sz="550" b="1" dirty="0">
                <a:solidFill>
                  <a:srgbClr val="272525"/>
                </a:solidFill>
                <a:latin typeface="Inter Bold" pitchFamily="34" charset="0"/>
                <a:ea typeface="Inter Bold" pitchFamily="34" charset="-122"/>
                <a:cs typeface="Inter Bold" pitchFamily="34" charset="-120"/>
              </a:rPr>
              <a:t>Cleaned Sample Size:</a:t>
            </a:r>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 11,506 schemes (19.77% removed due to data quality issues).</a:t>
            </a:r>
            <a:endParaRPr lang="en-US" sz="550" dirty="0"/>
          </a:p>
          <a:p>
            <a:pPr algn="l" marL="111760" indent="-111760">
              <a:lnSpc>
                <a:spcPct val="100000"/>
              </a:lnSpc>
              <a:buSzPct val="100000"/>
              <a:buChar char="•"/>
            </a:pPr>
            <a:r>
              <a:rPr lang="en-US" sz="550" b="1" dirty="0">
                <a:solidFill>
                  <a:srgbClr val="272525"/>
                </a:solidFill>
                <a:latin typeface="Inter Bold" pitchFamily="34" charset="0"/>
                <a:ea typeface="Inter Bold" pitchFamily="34" charset="-122"/>
                <a:cs typeface="Inter Bold" pitchFamily="34" charset="-120"/>
              </a:rPr>
              <a:t>Featured Sample Size:</a:t>
            </a:r>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 1,874 schemes with complete engineered metrics.</a:t>
            </a:r>
            <a:endParaRPr lang="en-US" sz="550" dirty="0"/>
          </a:p>
          <a:p>
            <a:pPr algn="l" marL="111760" indent="-111760">
              <a:lnSpc>
                <a:spcPct val="100000"/>
              </a:lnSpc>
              <a:buSzPct val="100000"/>
              <a:buChar char="•"/>
            </a:pPr>
            <a:r>
              <a:rPr lang="en-US" sz="550" b="1" dirty="0">
                <a:solidFill>
                  <a:srgbClr val="272525"/>
                </a:solidFill>
                <a:latin typeface="Inter Bold" pitchFamily="34" charset="0"/>
                <a:ea typeface="Inter Bold" pitchFamily="34" charset="-122"/>
                <a:cs typeface="Inter Bold" pitchFamily="34" charset="-120"/>
              </a:rPr>
              <a:t>Sampling Strategy:</a:t>
            </a:r>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 Census approach (all available schemes) rather than random sampling.</a:t>
            </a:r>
            <a:endParaRPr lang="en-US" sz="550" dirty="0"/>
          </a:p>
        </p:txBody>
      </p:sp>
      <p:sp>
        <p:nvSpPr>
          <p:cNvPr id="7" name="Text 5"/>
          <p:cNvSpPr/>
          <p:nvPr/>
        </p:nvSpPr>
        <p:spPr>
          <a:xfrm>
            <a:off x="496119" y="1946895"/>
            <a:ext cx="8151763" cy="177180"/>
          </a:xfrm>
          <a:prstGeom prst="rect">
            <a:avLst/>
          </a:prstGeom>
          <a:noFill/>
          <a:ln/>
        </p:spPr>
        <p:txBody>
          <a:bodyPr wrap="none" lIns="0" tIns="0" rIns="0" bIns="0" rtlCol="0" anchor="t"/>
          <a:lstStyle/>
          <a:p>
            <a:pPr algn="l" indent="0" marL="0">
              <a:lnSpc>
                <a:spcPct val="104000"/>
              </a:lnSpc>
              <a:buNone/>
            </a:pPr>
            <a:r>
              <a:rPr lang="en-US" sz="1100" b="1" dirty="0">
                <a:solidFill>
                  <a:srgbClr val="000000"/>
                </a:solidFill>
                <a:latin typeface="Inter Bold" pitchFamily="34" charset="0"/>
                <a:ea typeface="Inter Bold" pitchFamily="34" charset="-122"/>
                <a:cs typeface="Inter Bold" pitchFamily="34" charset="-120"/>
              </a:rPr>
              <a:t>3. Tools &amp; Technologies Identified</a:t>
            </a:r>
            <a:endParaRPr lang="en-US" sz="1100" dirty="0"/>
          </a:p>
        </p:txBody>
      </p:sp>
      <p:sp>
        <p:nvSpPr>
          <p:cNvPr id="8" name="Shape 6"/>
          <p:cNvSpPr/>
          <p:nvPr/>
        </p:nvSpPr>
        <p:spPr>
          <a:xfrm>
            <a:off x="496119" y="2177207"/>
            <a:ext cx="8151763" cy="1989386"/>
          </a:xfrm>
          <a:prstGeom prst="roundRect">
            <a:avLst>
              <a:gd name="adj" fmla="val 1496"/>
            </a:avLst>
          </a:prstGeom>
          <a:noFill/>
          <a:ln w="4763">
            <a:solidFill>
              <a:srgbClr val="000000">
                <a:alpha val="8000"/>
              </a:srgbClr>
            </a:solidFill>
            <a:prstDash val="solid"/>
          </a:ln>
        </p:spPr>
      </p:sp>
      <p:sp>
        <p:nvSpPr>
          <p:cNvPr id="9" name="Shape 7"/>
          <p:cNvSpPr/>
          <p:nvPr/>
        </p:nvSpPr>
        <p:spPr>
          <a:xfrm>
            <a:off x="496119" y="2321347"/>
            <a:ext cx="8151763" cy="4763"/>
          </a:xfrm>
          <a:prstGeom prst="rect">
            <a:avLst/>
          </a:prstGeom>
          <a:solidFill>
            <a:srgbClr val="000000">
              <a:alpha val="8000"/>
            </a:srgbClr>
          </a:solidFill>
          <a:ln/>
        </p:spPr>
      </p:sp>
      <p:sp>
        <p:nvSpPr>
          <p:cNvPr id="10" name="Shape 8"/>
          <p:cNvSpPr/>
          <p:nvPr/>
        </p:nvSpPr>
        <p:spPr>
          <a:xfrm>
            <a:off x="496119" y="2548161"/>
            <a:ext cx="8151763" cy="4763"/>
          </a:xfrm>
          <a:prstGeom prst="rect">
            <a:avLst/>
          </a:prstGeom>
          <a:solidFill>
            <a:srgbClr val="000000">
              <a:alpha val="8000"/>
            </a:srgbClr>
          </a:solidFill>
          <a:ln/>
        </p:spPr>
      </p:sp>
      <p:sp>
        <p:nvSpPr>
          <p:cNvPr id="11" name="Shape 9"/>
          <p:cNvSpPr/>
          <p:nvPr/>
        </p:nvSpPr>
        <p:spPr>
          <a:xfrm>
            <a:off x="496119" y="2774975"/>
            <a:ext cx="8151763" cy="4763"/>
          </a:xfrm>
          <a:prstGeom prst="rect">
            <a:avLst/>
          </a:prstGeom>
          <a:solidFill>
            <a:srgbClr val="000000">
              <a:alpha val="8000"/>
            </a:srgbClr>
          </a:solidFill>
          <a:ln/>
        </p:spPr>
      </p:sp>
      <p:sp>
        <p:nvSpPr>
          <p:cNvPr id="12" name="Shape 10"/>
          <p:cNvSpPr/>
          <p:nvPr/>
        </p:nvSpPr>
        <p:spPr>
          <a:xfrm>
            <a:off x="496119" y="3001789"/>
            <a:ext cx="8151763" cy="4763"/>
          </a:xfrm>
          <a:prstGeom prst="rect">
            <a:avLst/>
          </a:prstGeom>
          <a:solidFill>
            <a:srgbClr val="000000">
              <a:alpha val="8000"/>
            </a:srgbClr>
          </a:solidFill>
          <a:ln/>
        </p:spPr>
      </p:sp>
      <p:sp>
        <p:nvSpPr>
          <p:cNvPr id="13" name="Shape 11"/>
          <p:cNvSpPr/>
          <p:nvPr/>
        </p:nvSpPr>
        <p:spPr>
          <a:xfrm>
            <a:off x="496119" y="3228603"/>
            <a:ext cx="8151763" cy="4763"/>
          </a:xfrm>
          <a:prstGeom prst="rect">
            <a:avLst/>
          </a:prstGeom>
          <a:solidFill>
            <a:srgbClr val="000000">
              <a:alpha val="8000"/>
            </a:srgbClr>
          </a:solidFill>
          <a:ln/>
        </p:spPr>
      </p:sp>
      <p:sp>
        <p:nvSpPr>
          <p:cNvPr id="14" name="Shape 12"/>
          <p:cNvSpPr/>
          <p:nvPr/>
        </p:nvSpPr>
        <p:spPr>
          <a:xfrm>
            <a:off x="496119" y="3455417"/>
            <a:ext cx="8151763" cy="4763"/>
          </a:xfrm>
          <a:prstGeom prst="rect">
            <a:avLst/>
          </a:prstGeom>
          <a:solidFill>
            <a:srgbClr val="000000">
              <a:alpha val="8000"/>
            </a:srgbClr>
          </a:solidFill>
          <a:ln/>
        </p:spPr>
      </p:sp>
      <p:sp>
        <p:nvSpPr>
          <p:cNvPr id="15" name="Shape 13"/>
          <p:cNvSpPr/>
          <p:nvPr/>
        </p:nvSpPr>
        <p:spPr>
          <a:xfrm>
            <a:off x="496119" y="3597176"/>
            <a:ext cx="8151763" cy="4763"/>
          </a:xfrm>
          <a:prstGeom prst="rect">
            <a:avLst/>
          </a:prstGeom>
          <a:solidFill>
            <a:srgbClr val="000000">
              <a:alpha val="8000"/>
            </a:srgbClr>
          </a:solidFill>
          <a:ln/>
        </p:spPr>
      </p:sp>
      <p:sp>
        <p:nvSpPr>
          <p:cNvPr id="16" name="Shape 14"/>
          <p:cNvSpPr/>
          <p:nvPr/>
        </p:nvSpPr>
        <p:spPr>
          <a:xfrm>
            <a:off x="496119" y="3738935"/>
            <a:ext cx="8151763" cy="4763"/>
          </a:xfrm>
          <a:prstGeom prst="rect">
            <a:avLst/>
          </a:prstGeom>
          <a:solidFill>
            <a:srgbClr val="000000">
              <a:alpha val="8000"/>
            </a:srgbClr>
          </a:solidFill>
          <a:ln/>
        </p:spPr>
      </p:sp>
      <p:sp>
        <p:nvSpPr>
          <p:cNvPr id="17" name="Shape 15"/>
          <p:cNvSpPr/>
          <p:nvPr/>
        </p:nvSpPr>
        <p:spPr>
          <a:xfrm>
            <a:off x="496119" y="3880693"/>
            <a:ext cx="8151763" cy="4763"/>
          </a:xfrm>
          <a:prstGeom prst="rect">
            <a:avLst/>
          </a:prstGeom>
          <a:solidFill>
            <a:srgbClr val="000000">
              <a:alpha val="8000"/>
            </a:srgbClr>
          </a:solidFill>
          <a:ln/>
        </p:spPr>
      </p:sp>
      <p:sp>
        <p:nvSpPr>
          <p:cNvPr id="18" name="Shape 16"/>
          <p:cNvSpPr/>
          <p:nvPr/>
        </p:nvSpPr>
        <p:spPr>
          <a:xfrm>
            <a:off x="496119" y="4022452"/>
            <a:ext cx="8151763" cy="4763"/>
          </a:xfrm>
          <a:prstGeom prst="rect">
            <a:avLst/>
          </a:prstGeom>
          <a:solidFill>
            <a:srgbClr val="000000">
              <a:alpha val="8000"/>
            </a:srgbClr>
          </a:solidFill>
          <a:ln/>
        </p:spPr>
      </p:sp>
      <p:sp>
        <p:nvSpPr>
          <p:cNvPr id="19" name="Shape 17"/>
          <p:cNvSpPr/>
          <p:nvPr/>
        </p:nvSpPr>
        <p:spPr>
          <a:xfrm>
            <a:off x="1966615" y="2177207"/>
            <a:ext cx="4763" cy="1989386"/>
          </a:xfrm>
          <a:prstGeom prst="rect">
            <a:avLst/>
          </a:prstGeom>
          <a:solidFill>
            <a:srgbClr val="000000">
              <a:alpha val="8000"/>
            </a:srgbClr>
          </a:solidFill>
          <a:ln/>
        </p:spPr>
      </p:sp>
      <p:sp>
        <p:nvSpPr>
          <p:cNvPr id="20" name="Shape 18"/>
          <p:cNvSpPr/>
          <p:nvPr/>
        </p:nvSpPr>
        <p:spPr>
          <a:xfrm>
            <a:off x="3757836" y="2177207"/>
            <a:ext cx="4763" cy="1989386"/>
          </a:xfrm>
          <a:prstGeom prst="rect">
            <a:avLst/>
          </a:prstGeom>
          <a:solidFill>
            <a:srgbClr val="000000">
              <a:alpha val="8000"/>
            </a:srgbClr>
          </a:solidFill>
          <a:ln/>
        </p:spPr>
      </p:sp>
      <p:sp>
        <p:nvSpPr>
          <p:cNvPr id="21" name="Text 19"/>
          <p:cNvSpPr/>
          <p:nvPr/>
        </p:nvSpPr>
        <p:spPr>
          <a:xfrm>
            <a:off x="571872" y="2207940"/>
            <a:ext cx="1778719" cy="85055"/>
          </a:xfrm>
          <a:prstGeom prst="rect">
            <a:avLst/>
          </a:prstGeom>
          <a:noFill/>
          <a:ln/>
        </p:spPr>
        <p:txBody>
          <a:bodyPr wrap="none" lIns="0" tIns="0" rIns="0" bIns="0" rtlCol="0" anchor="t"/>
          <a:lstStyle/>
          <a:p>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Library / Tool</a:t>
            </a:r>
            <a:endParaRPr lang="en-US" sz="550" dirty="0"/>
          </a:p>
        </p:txBody>
      </p:sp>
      <p:sp>
        <p:nvSpPr>
          <p:cNvPr id="22" name="Text 20"/>
          <p:cNvSpPr/>
          <p:nvPr/>
        </p:nvSpPr>
        <p:spPr>
          <a:xfrm>
            <a:off x="2039838" y="2207940"/>
            <a:ext cx="2101974" cy="85055"/>
          </a:xfrm>
          <a:prstGeom prst="rect">
            <a:avLst/>
          </a:prstGeom>
          <a:noFill/>
          <a:ln/>
        </p:spPr>
        <p:txBody>
          <a:bodyPr wrap="none" lIns="0" tIns="0" rIns="0" bIns="0" rtlCol="0" anchor="t"/>
          <a:lstStyle/>
          <a:p>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Purpose</a:t>
            </a:r>
            <a:endParaRPr lang="en-US" sz="550" dirty="0"/>
          </a:p>
        </p:txBody>
      </p:sp>
      <p:sp>
        <p:nvSpPr>
          <p:cNvPr id="23" name="Text 21"/>
          <p:cNvSpPr/>
          <p:nvPr/>
        </p:nvSpPr>
        <p:spPr>
          <a:xfrm>
            <a:off x="3831059" y="2207940"/>
            <a:ext cx="5198418" cy="85055"/>
          </a:xfrm>
          <a:prstGeom prst="rect">
            <a:avLst/>
          </a:prstGeom>
          <a:noFill/>
          <a:ln/>
        </p:spPr>
        <p:txBody>
          <a:bodyPr wrap="none" lIns="0" tIns="0" rIns="0" bIns="0" rtlCol="0" anchor="t"/>
          <a:lstStyle/>
          <a:p>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Specific Use in Project</a:t>
            </a:r>
            <a:endParaRPr lang="en-US" sz="550" dirty="0"/>
          </a:p>
        </p:txBody>
      </p:sp>
      <p:sp>
        <p:nvSpPr>
          <p:cNvPr id="24" name="Text 22"/>
          <p:cNvSpPr/>
          <p:nvPr/>
        </p:nvSpPr>
        <p:spPr>
          <a:xfrm>
            <a:off x="571872" y="2349698"/>
            <a:ext cx="1778719"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Pandas</a:t>
            </a:r>
            <a:endParaRPr lang="en-US" sz="550" dirty="0"/>
          </a:p>
        </p:txBody>
      </p:sp>
      <p:sp>
        <p:nvSpPr>
          <p:cNvPr id="25" name="Text 23"/>
          <p:cNvSpPr/>
          <p:nvPr/>
        </p:nvSpPr>
        <p:spPr>
          <a:xfrm>
            <a:off x="2039838" y="2349698"/>
            <a:ext cx="2101974"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Data manipulation and cleaning</a:t>
            </a:r>
            <a:endParaRPr lang="en-US" sz="550" dirty="0"/>
          </a:p>
        </p:txBody>
      </p:sp>
      <p:sp>
        <p:nvSpPr>
          <p:cNvPr id="26" name="Text 24"/>
          <p:cNvSpPr/>
          <p:nvPr/>
        </p:nvSpPr>
        <p:spPr>
          <a:xfrm>
            <a:off x="3831059" y="2349698"/>
            <a:ext cx="4741218" cy="170111"/>
          </a:xfrm>
          <a:prstGeom prst="rect">
            <a:avLst/>
          </a:prstGeom>
          <a:noFill/>
          <a:ln/>
        </p:spPr>
        <p:txBody>
          <a:bodyPr wrap="square" lIns="0" tIns="0" rIns="0" bIns="0" rtlCol="0" anchor="t">
            <a:normAutofit/>
          </a:bodyPr>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Used throughout for reading CSVs, cleaning data, building DataFrames, handling missing values, and performing data transformations. Implemented in </a:t>
            </a:r>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main.py</a:t>
            </a:r>
            <a:pPr algn="l" indent="0" marL="0">
              <a:lnSpc>
                <a:spcPct val="100000"/>
              </a:lnSpc>
              <a:buNone/>
            </a:pPr>
            <a:r>
              <a:rPr lang="en-US" sz="550" dirty="0">
                <a:solidFill>
                  <a:srgbClr val="272525"/>
                </a:solidFill>
                <a:latin typeface="Inter" pitchFamily="34" charset="0"/>
                <a:ea typeface="Inter" pitchFamily="34" charset="-122"/>
                <a:cs typeface="Inter" pitchFamily="34" charset="-120"/>
              </a:rPr>
              <a:t>, </a:t>
            </a:r>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data_cleaning.py</a:t>
            </a:r>
            <a:pPr algn="l" indent="0" marL="0">
              <a:lnSpc>
                <a:spcPct val="100000"/>
              </a:lnSpc>
              <a:buNone/>
            </a:pPr>
            <a:r>
              <a:rPr lang="en-US" sz="550" dirty="0">
                <a:solidFill>
                  <a:srgbClr val="272525"/>
                </a:solidFill>
                <a:latin typeface="Inter" pitchFamily="34" charset="0"/>
                <a:ea typeface="Inter" pitchFamily="34" charset="-122"/>
                <a:cs typeface="Inter" pitchFamily="34" charset="-120"/>
              </a:rPr>
              <a:t>, and </a:t>
            </a:r>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utils.py</a:t>
            </a:r>
            <a:pPr algn="l" indent="0" marL="0">
              <a:lnSpc>
                <a:spcPct val="100000"/>
              </a:lnSpc>
              <a:buNone/>
            </a:pPr>
            <a:r>
              <a:rPr lang="en-US" sz="550" dirty="0">
                <a:solidFill>
                  <a:srgbClr val="272525"/>
                </a:solidFill>
                <a:latin typeface="Inter" pitchFamily="34" charset="0"/>
                <a:ea typeface="Inter" pitchFamily="34" charset="-122"/>
                <a:cs typeface="Inter" pitchFamily="34" charset="-120"/>
              </a:rPr>
              <a:t>.</a:t>
            </a:r>
            <a:endParaRPr lang="en-US" sz="550" dirty="0"/>
          </a:p>
        </p:txBody>
      </p:sp>
      <p:sp>
        <p:nvSpPr>
          <p:cNvPr id="27" name="Text 25"/>
          <p:cNvSpPr/>
          <p:nvPr/>
        </p:nvSpPr>
        <p:spPr>
          <a:xfrm>
            <a:off x="571872" y="2576513"/>
            <a:ext cx="1778719"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NumPy</a:t>
            </a:r>
            <a:endParaRPr lang="en-US" sz="550" dirty="0"/>
          </a:p>
        </p:txBody>
      </p:sp>
      <p:sp>
        <p:nvSpPr>
          <p:cNvPr id="28" name="Text 26"/>
          <p:cNvSpPr/>
          <p:nvPr/>
        </p:nvSpPr>
        <p:spPr>
          <a:xfrm>
            <a:off x="2039838" y="2576513"/>
            <a:ext cx="2101974"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Numerical computing</a:t>
            </a:r>
            <a:endParaRPr lang="en-US" sz="550" dirty="0"/>
          </a:p>
        </p:txBody>
      </p:sp>
      <p:sp>
        <p:nvSpPr>
          <p:cNvPr id="29" name="Text 27"/>
          <p:cNvSpPr/>
          <p:nvPr/>
        </p:nvSpPr>
        <p:spPr>
          <a:xfrm>
            <a:off x="3831059" y="2576513"/>
            <a:ext cx="4741218" cy="170111"/>
          </a:xfrm>
          <a:prstGeom prst="rect">
            <a:avLst/>
          </a:prstGeom>
          <a:noFill/>
          <a:ln/>
        </p:spPr>
        <p:txBody>
          <a:bodyPr wrap="square" lIns="0" tIns="0" rIns="0" bIns="0" rtlCol="0" anchor="t">
            <a:normAutofit/>
          </a:bodyPr>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Used for numeric operations, NaN handling, scaling helpers, array operations, and feature calculations. Implemented in </a:t>
            </a:r>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feature_engineering.py</a:t>
            </a:r>
            <a:pPr algn="l" indent="0" marL="0">
              <a:lnSpc>
                <a:spcPct val="100000"/>
              </a:lnSpc>
              <a:buNone/>
            </a:pPr>
            <a:r>
              <a:rPr lang="en-US" sz="550" dirty="0">
                <a:solidFill>
                  <a:srgbClr val="272525"/>
                </a:solidFill>
                <a:latin typeface="Inter" pitchFamily="34" charset="0"/>
                <a:ea typeface="Inter" pitchFamily="34" charset="-122"/>
                <a:cs typeface="Inter" pitchFamily="34" charset="-120"/>
              </a:rPr>
              <a:t>, </a:t>
            </a:r>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main.py</a:t>
            </a:r>
            <a:pPr algn="l" indent="0" marL="0">
              <a:lnSpc>
                <a:spcPct val="100000"/>
              </a:lnSpc>
              <a:buNone/>
            </a:pPr>
            <a:r>
              <a:rPr lang="en-US" sz="550" dirty="0">
                <a:solidFill>
                  <a:srgbClr val="272525"/>
                </a:solidFill>
                <a:latin typeface="Inter" pitchFamily="34" charset="0"/>
                <a:ea typeface="Inter" pitchFamily="34" charset="-122"/>
                <a:cs typeface="Inter" pitchFamily="34" charset="-120"/>
              </a:rPr>
              <a:t>, and </a:t>
            </a:r>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recommendation.py</a:t>
            </a:r>
            <a:pPr algn="l" indent="0" marL="0">
              <a:lnSpc>
                <a:spcPct val="100000"/>
              </a:lnSpc>
              <a:buNone/>
            </a:pPr>
            <a:r>
              <a:rPr lang="en-US" sz="550" dirty="0">
                <a:solidFill>
                  <a:srgbClr val="272525"/>
                </a:solidFill>
                <a:latin typeface="Inter" pitchFamily="34" charset="0"/>
                <a:ea typeface="Inter" pitchFamily="34" charset="-122"/>
                <a:cs typeface="Inter" pitchFamily="34" charset="-120"/>
              </a:rPr>
              <a:t>.</a:t>
            </a:r>
            <a:endParaRPr lang="en-US" sz="550" dirty="0"/>
          </a:p>
        </p:txBody>
      </p:sp>
      <p:sp>
        <p:nvSpPr>
          <p:cNvPr id="30" name="Text 28"/>
          <p:cNvSpPr/>
          <p:nvPr/>
        </p:nvSpPr>
        <p:spPr>
          <a:xfrm>
            <a:off x="571872" y="2803327"/>
            <a:ext cx="1778719"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SciPy</a:t>
            </a:r>
            <a:endParaRPr lang="en-US" sz="550" dirty="0"/>
          </a:p>
        </p:txBody>
      </p:sp>
      <p:sp>
        <p:nvSpPr>
          <p:cNvPr id="31" name="Text 29"/>
          <p:cNvSpPr/>
          <p:nvPr/>
        </p:nvSpPr>
        <p:spPr>
          <a:xfrm>
            <a:off x="2039838" y="2803327"/>
            <a:ext cx="2101974"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Scientific computing</a:t>
            </a:r>
            <a:endParaRPr lang="en-US" sz="550" dirty="0"/>
          </a:p>
        </p:txBody>
      </p:sp>
      <p:sp>
        <p:nvSpPr>
          <p:cNvPr id="32" name="Text 30"/>
          <p:cNvSpPr/>
          <p:nvPr/>
        </p:nvSpPr>
        <p:spPr>
          <a:xfrm>
            <a:off x="3831059" y="2803327"/>
            <a:ext cx="4741218" cy="170111"/>
          </a:xfrm>
          <a:prstGeom prst="rect">
            <a:avLst/>
          </a:prstGeom>
          <a:noFill/>
          <a:ln/>
        </p:spPr>
        <p:txBody>
          <a:bodyPr wrap="square" lIns="0" tIns="0" rIns="0" bIns="0" rtlCol="0" anchor="t">
            <a:normAutofit/>
          </a:bodyPr>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Listed as a dependency for advanced statistical operations and mathematical functions. Not actively used in the current implementation, but available for future enhancements.</a:t>
            </a:r>
            <a:endParaRPr lang="en-US" sz="550" dirty="0"/>
          </a:p>
        </p:txBody>
      </p:sp>
      <p:sp>
        <p:nvSpPr>
          <p:cNvPr id="33" name="Text 31"/>
          <p:cNvSpPr/>
          <p:nvPr/>
        </p:nvSpPr>
        <p:spPr>
          <a:xfrm>
            <a:off x="571872" y="3030141"/>
            <a:ext cx="1778719"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Scikit-Learn</a:t>
            </a:r>
            <a:endParaRPr lang="en-US" sz="550" dirty="0"/>
          </a:p>
        </p:txBody>
      </p:sp>
      <p:sp>
        <p:nvSpPr>
          <p:cNvPr id="34" name="Text 32"/>
          <p:cNvSpPr/>
          <p:nvPr/>
        </p:nvSpPr>
        <p:spPr>
          <a:xfrm>
            <a:off x="2039838" y="3030141"/>
            <a:ext cx="2101974"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Machine learning library</a:t>
            </a:r>
            <a:endParaRPr lang="en-US" sz="550" dirty="0"/>
          </a:p>
        </p:txBody>
      </p:sp>
      <p:sp>
        <p:nvSpPr>
          <p:cNvPr id="35" name="Text 33"/>
          <p:cNvSpPr/>
          <p:nvPr/>
        </p:nvSpPr>
        <p:spPr>
          <a:xfrm>
            <a:off x="3831059" y="3030141"/>
            <a:ext cx="4741218" cy="170111"/>
          </a:xfrm>
          <a:prstGeom prst="rect">
            <a:avLst/>
          </a:prstGeom>
          <a:noFill/>
          <a:ln/>
        </p:spPr>
        <p:txBody>
          <a:bodyPr wrap="square" lIns="0" tIns="0" rIns="0" bIns="0" rtlCol="0" anchor="t">
            <a:normAutofit/>
          </a:bodyPr>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Used for </a:t>
            </a:r>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K-Means clustering</a:t>
            </a:r>
            <a:pPr algn="l" indent="0" marL="0">
              <a:lnSpc>
                <a:spcPct val="100000"/>
              </a:lnSpc>
              <a:buNone/>
            </a:pPr>
            <a:r>
              <a:rPr lang="en-US" sz="550" dirty="0">
                <a:solidFill>
                  <a:srgbClr val="272525"/>
                </a:solidFill>
                <a:latin typeface="Inter" pitchFamily="34" charset="0"/>
                <a:ea typeface="Inter" pitchFamily="34" charset="-122"/>
                <a:cs typeface="Inter" pitchFamily="34" charset="-120"/>
              </a:rPr>
              <a:t>, </a:t>
            </a:r>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StandardScaler</a:t>
            </a:r>
            <a:pPr algn="l" indent="0" marL="0">
              <a:lnSpc>
                <a:spcPct val="100000"/>
              </a:lnSpc>
              <a:buNone/>
            </a:pPr>
            <a:r>
              <a:rPr lang="en-US" sz="550" dirty="0">
                <a:solidFill>
                  <a:srgbClr val="272525"/>
                </a:solidFill>
                <a:latin typeface="Inter" pitchFamily="34" charset="0"/>
                <a:ea typeface="Inter" pitchFamily="34" charset="-122"/>
                <a:cs typeface="Inter" pitchFamily="34" charset="-120"/>
              </a:rPr>
              <a:t> normalization, and the </a:t>
            </a:r>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NearestNeighbors</a:t>
            </a:r>
            <a:pPr algn="l" indent="0" marL="0">
              <a:lnSpc>
                <a:spcPct val="100000"/>
              </a:lnSpc>
              <a:buNone/>
            </a:pPr>
            <a:r>
              <a:rPr lang="en-US" sz="550" dirty="0">
                <a:solidFill>
                  <a:srgbClr val="272525"/>
                </a:solidFill>
                <a:latin typeface="Inter" pitchFamily="34" charset="0"/>
                <a:ea typeface="Inter" pitchFamily="34" charset="-122"/>
                <a:cs typeface="Inter" pitchFamily="34" charset="-120"/>
              </a:rPr>
              <a:t> recommendation engine. Implemented in </a:t>
            </a:r>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clustering.py</a:t>
            </a:r>
            <a:pPr algn="l" indent="0" marL="0">
              <a:lnSpc>
                <a:spcPct val="100000"/>
              </a:lnSpc>
              <a:buNone/>
            </a:pPr>
            <a:r>
              <a:rPr lang="en-US" sz="550" dirty="0">
                <a:solidFill>
                  <a:srgbClr val="272525"/>
                </a:solidFill>
                <a:latin typeface="Inter" pitchFamily="34" charset="0"/>
                <a:ea typeface="Inter" pitchFamily="34" charset="-122"/>
                <a:cs typeface="Inter" pitchFamily="34" charset="-120"/>
              </a:rPr>
              <a:t> and </a:t>
            </a:r>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recommendation.py</a:t>
            </a:r>
            <a:pPr algn="l" indent="0" marL="0">
              <a:lnSpc>
                <a:spcPct val="100000"/>
              </a:lnSpc>
              <a:buNone/>
            </a:pPr>
            <a:r>
              <a:rPr lang="en-US" sz="550" dirty="0">
                <a:solidFill>
                  <a:srgbClr val="272525"/>
                </a:solidFill>
                <a:latin typeface="Inter" pitchFamily="34" charset="0"/>
                <a:ea typeface="Inter" pitchFamily="34" charset="-122"/>
                <a:cs typeface="Inter" pitchFamily="34" charset="-120"/>
              </a:rPr>
              <a:t>.</a:t>
            </a:r>
            <a:endParaRPr lang="en-US" sz="550" dirty="0"/>
          </a:p>
        </p:txBody>
      </p:sp>
      <p:sp>
        <p:nvSpPr>
          <p:cNvPr id="36" name="Text 34"/>
          <p:cNvSpPr/>
          <p:nvPr/>
        </p:nvSpPr>
        <p:spPr>
          <a:xfrm>
            <a:off x="571872" y="3256955"/>
            <a:ext cx="1778719"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Plotly</a:t>
            </a:r>
            <a:endParaRPr lang="en-US" sz="550" dirty="0"/>
          </a:p>
        </p:txBody>
      </p:sp>
      <p:sp>
        <p:nvSpPr>
          <p:cNvPr id="37" name="Text 35"/>
          <p:cNvSpPr/>
          <p:nvPr/>
        </p:nvSpPr>
        <p:spPr>
          <a:xfrm>
            <a:off x="2039838" y="3256955"/>
            <a:ext cx="2101974"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Interactive visualizations</a:t>
            </a:r>
            <a:endParaRPr lang="en-US" sz="550" dirty="0"/>
          </a:p>
        </p:txBody>
      </p:sp>
      <p:sp>
        <p:nvSpPr>
          <p:cNvPr id="38" name="Text 36"/>
          <p:cNvSpPr/>
          <p:nvPr/>
        </p:nvSpPr>
        <p:spPr>
          <a:xfrm>
            <a:off x="3831059" y="3256955"/>
            <a:ext cx="4741218" cy="170111"/>
          </a:xfrm>
          <a:prstGeom prst="rect">
            <a:avLst/>
          </a:prstGeom>
          <a:noFill/>
          <a:ln/>
        </p:spPr>
        <p:txBody>
          <a:bodyPr wrap="square" lIns="0" tIns="0" rIns="0" bIns="0" rtlCol="0" anchor="t">
            <a:normAutofit/>
          </a:bodyPr>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Used heavily for interactive charts, 3D scatter plots, and financial visualizations in the Streamlit dashboard. Implemented in </a:t>
            </a:r>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app.py</a:t>
            </a:r>
            <a:pPr algn="l" indent="0" marL="0">
              <a:lnSpc>
                <a:spcPct val="100000"/>
              </a:lnSpc>
              <a:buNone/>
            </a:pPr>
            <a:r>
              <a:rPr lang="en-US" sz="550" dirty="0">
                <a:solidFill>
                  <a:srgbClr val="272525"/>
                </a:solidFill>
                <a:latin typeface="Inter" pitchFamily="34" charset="0"/>
                <a:ea typeface="Inter" pitchFamily="34" charset="-122"/>
                <a:cs typeface="Inter" pitchFamily="34" charset="-120"/>
              </a:rPr>
              <a:t>, </a:t>
            </a:r>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Scheme_Search.py</a:t>
            </a:r>
            <a:pPr algn="l" indent="0" marL="0">
              <a:lnSpc>
                <a:spcPct val="100000"/>
              </a:lnSpc>
              <a:buNone/>
            </a:pPr>
            <a:r>
              <a:rPr lang="en-US" sz="550" dirty="0">
                <a:solidFill>
                  <a:srgbClr val="272525"/>
                </a:solidFill>
                <a:latin typeface="Inter" pitchFamily="34" charset="0"/>
                <a:ea typeface="Inter" pitchFamily="34" charset="-122"/>
                <a:cs typeface="Inter" pitchFamily="34" charset="-120"/>
              </a:rPr>
              <a:t>, and </a:t>
            </a:r>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ML_Clusters.py</a:t>
            </a:r>
            <a:pPr algn="l" indent="0" marL="0">
              <a:lnSpc>
                <a:spcPct val="100000"/>
              </a:lnSpc>
              <a:buNone/>
            </a:pPr>
            <a:r>
              <a:rPr lang="en-US" sz="550" dirty="0">
                <a:solidFill>
                  <a:srgbClr val="272525"/>
                </a:solidFill>
                <a:latin typeface="Inter" pitchFamily="34" charset="0"/>
                <a:ea typeface="Inter" pitchFamily="34" charset="-122"/>
                <a:cs typeface="Inter" pitchFamily="34" charset="-120"/>
              </a:rPr>
              <a:t>.</a:t>
            </a:r>
            <a:endParaRPr lang="en-US" sz="550" dirty="0"/>
          </a:p>
        </p:txBody>
      </p:sp>
      <p:sp>
        <p:nvSpPr>
          <p:cNvPr id="39" name="Text 37"/>
          <p:cNvSpPr/>
          <p:nvPr/>
        </p:nvSpPr>
        <p:spPr>
          <a:xfrm>
            <a:off x="571872" y="3483769"/>
            <a:ext cx="1778719"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FastAPI</a:t>
            </a:r>
            <a:endParaRPr lang="en-US" sz="550" dirty="0"/>
          </a:p>
        </p:txBody>
      </p:sp>
      <p:sp>
        <p:nvSpPr>
          <p:cNvPr id="40" name="Text 38"/>
          <p:cNvSpPr/>
          <p:nvPr/>
        </p:nvSpPr>
        <p:spPr>
          <a:xfrm>
            <a:off x="2039838" y="3483769"/>
            <a:ext cx="2101974"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API development framework</a:t>
            </a:r>
            <a:endParaRPr lang="en-US" sz="550" dirty="0"/>
          </a:p>
        </p:txBody>
      </p:sp>
      <p:sp>
        <p:nvSpPr>
          <p:cNvPr id="41" name="Text 39"/>
          <p:cNvSpPr/>
          <p:nvPr/>
        </p:nvSpPr>
        <p:spPr>
          <a:xfrm>
            <a:off x="3831059" y="3483769"/>
            <a:ext cx="5198418"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Used to build REST endpoints for scheme data access, recommendations, and analytics services.</a:t>
            </a:r>
            <a:endParaRPr lang="en-US" sz="550" dirty="0"/>
          </a:p>
        </p:txBody>
      </p:sp>
      <p:sp>
        <p:nvSpPr>
          <p:cNvPr id="42" name="Text 40"/>
          <p:cNvSpPr/>
          <p:nvPr/>
        </p:nvSpPr>
        <p:spPr>
          <a:xfrm>
            <a:off x="571872" y="3625528"/>
            <a:ext cx="1778719"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Streamlit</a:t>
            </a:r>
            <a:endParaRPr lang="en-US" sz="550" dirty="0"/>
          </a:p>
        </p:txBody>
      </p:sp>
      <p:sp>
        <p:nvSpPr>
          <p:cNvPr id="43" name="Text 41"/>
          <p:cNvSpPr/>
          <p:nvPr/>
        </p:nvSpPr>
        <p:spPr>
          <a:xfrm>
            <a:off x="2039838" y="3625528"/>
            <a:ext cx="2101974"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Interactive dashboard framework</a:t>
            </a:r>
            <a:endParaRPr lang="en-US" sz="550" dirty="0"/>
          </a:p>
        </p:txBody>
      </p:sp>
      <p:sp>
        <p:nvSpPr>
          <p:cNvPr id="44" name="Text 42"/>
          <p:cNvSpPr/>
          <p:nvPr/>
        </p:nvSpPr>
        <p:spPr>
          <a:xfrm>
            <a:off x="3831059" y="3625528"/>
            <a:ext cx="5198418"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Used to create the user-facing dashboard for exploring mutual fund insights and model outputs.</a:t>
            </a:r>
            <a:endParaRPr lang="en-US" sz="550" dirty="0"/>
          </a:p>
        </p:txBody>
      </p:sp>
      <p:sp>
        <p:nvSpPr>
          <p:cNvPr id="45" name="Text 43"/>
          <p:cNvSpPr/>
          <p:nvPr/>
        </p:nvSpPr>
        <p:spPr>
          <a:xfrm>
            <a:off x="571872" y="3767286"/>
            <a:ext cx="1778719"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Apache Airflow</a:t>
            </a:r>
            <a:endParaRPr lang="en-US" sz="550" dirty="0"/>
          </a:p>
        </p:txBody>
      </p:sp>
      <p:sp>
        <p:nvSpPr>
          <p:cNvPr id="46" name="Text 44"/>
          <p:cNvSpPr/>
          <p:nvPr/>
        </p:nvSpPr>
        <p:spPr>
          <a:xfrm>
            <a:off x="2039838" y="3767286"/>
            <a:ext cx="2101974"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Workflow orchestration</a:t>
            </a:r>
            <a:endParaRPr lang="en-US" sz="550" dirty="0"/>
          </a:p>
        </p:txBody>
      </p:sp>
      <p:sp>
        <p:nvSpPr>
          <p:cNvPr id="47" name="Text 45"/>
          <p:cNvSpPr/>
          <p:nvPr/>
        </p:nvSpPr>
        <p:spPr>
          <a:xfrm>
            <a:off x="3831059" y="3767286"/>
            <a:ext cx="5198418"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Used to schedule and automate data pipelines through DAGs.</a:t>
            </a:r>
            <a:endParaRPr lang="en-US" sz="550" dirty="0"/>
          </a:p>
        </p:txBody>
      </p:sp>
      <p:sp>
        <p:nvSpPr>
          <p:cNvPr id="48" name="Text 46"/>
          <p:cNvSpPr/>
          <p:nvPr/>
        </p:nvSpPr>
        <p:spPr>
          <a:xfrm>
            <a:off x="571872" y="3909045"/>
            <a:ext cx="1778719"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Docker</a:t>
            </a:r>
            <a:endParaRPr lang="en-US" sz="550" dirty="0"/>
          </a:p>
        </p:txBody>
      </p:sp>
      <p:sp>
        <p:nvSpPr>
          <p:cNvPr id="49" name="Text 47"/>
          <p:cNvSpPr/>
          <p:nvPr/>
        </p:nvSpPr>
        <p:spPr>
          <a:xfrm>
            <a:off x="2039838" y="3909045"/>
            <a:ext cx="2101974"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Containerization</a:t>
            </a:r>
            <a:endParaRPr lang="en-US" sz="550" dirty="0"/>
          </a:p>
        </p:txBody>
      </p:sp>
      <p:sp>
        <p:nvSpPr>
          <p:cNvPr id="50" name="Text 48"/>
          <p:cNvSpPr/>
          <p:nvPr/>
        </p:nvSpPr>
        <p:spPr>
          <a:xfrm>
            <a:off x="3831059" y="3909045"/>
            <a:ext cx="5198418"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Used to package the application for deployment in a consistent runtime environment.</a:t>
            </a:r>
            <a:endParaRPr lang="en-US" sz="550" dirty="0"/>
          </a:p>
        </p:txBody>
      </p:sp>
      <p:sp>
        <p:nvSpPr>
          <p:cNvPr id="51" name="Text 49"/>
          <p:cNvSpPr/>
          <p:nvPr/>
        </p:nvSpPr>
        <p:spPr>
          <a:xfrm>
            <a:off x="571872" y="4050804"/>
            <a:ext cx="1778719"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PostgreSQL 15 [Future Enhancement ]</a:t>
            </a:r>
            <a:endParaRPr lang="en-US" sz="550" dirty="0"/>
          </a:p>
        </p:txBody>
      </p:sp>
      <p:sp>
        <p:nvSpPr>
          <p:cNvPr id="52" name="Text 50"/>
          <p:cNvSpPr/>
          <p:nvPr/>
        </p:nvSpPr>
        <p:spPr>
          <a:xfrm>
            <a:off x="2039838" y="4050804"/>
            <a:ext cx="2101974"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Relational database</a:t>
            </a:r>
            <a:endParaRPr lang="en-US" sz="550" dirty="0"/>
          </a:p>
        </p:txBody>
      </p:sp>
      <p:sp>
        <p:nvSpPr>
          <p:cNvPr id="53" name="Text 51"/>
          <p:cNvSpPr/>
          <p:nvPr/>
        </p:nvSpPr>
        <p:spPr>
          <a:xfrm>
            <a:off x="3831059" y="4050804"/>
            <a:ext cx="5198418"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Used for storage of cleaned scheme data and engineered outputs.</a:t>
            </a:r>
            <a:endParaRPr lang="en-US" sz="550" dirty="0"/>
          </a:p>
        </p:txBody>
      </p:sp>
      <p:sp>
        <p:nvSpPr>
          <p:cNvPr id="54" name="Text 52"/>
          <p:cNvSpPr/>
          <p:nvPr/>
        </p:nvSpPr>
        <p:spPr>
          <a:xfrm>
            <a:off x="496119" y="4219724"/>
            <a:ext cx="8151763" cy="177180"/>
          </a:xfrm>
          <a:prstGeom prst="rect">
            <a:avLst/>
          </a:prstGeom>
          <a:noFill/>
          <a:ln/>
        </p:spPr>
        <p:txBody>
          <a:bodyPr wrap="none" lIns="0" tIns="0" rIns="0" bIns="0" rtlCol="0" anchor="t"/>
          <a:lstStyle/>
          <a:p>
            <a:pPr algn="l" indent="0" marL="0">
              <a:lnSpc>
                <a:spcPct val="104000"/>
              </a:lnSpc>
              <a:buNone/>
            </a:pPr>
            <a:r>
              <a:rPr lang="en-US" sz="1100" b="1" dirty="0">
                <a:solidFill>
                  <a:srgbClr val="000000"/>
                </a:solidFill>
                <a:latin typeface="Inter Bold" pitchFamily="34" charset="0"/>
                <a:ea typeface="Inter Bold" pitchFamily="34" charset="-122"/>
                <a:cs typeface="Inter Bold" pitchFamily="34" charset="-120"/>
              </a:rPr>
              <a:t>4. Project Milestones &amp; Timeline</a:t>
            </a:r>
            <a:endParaRPr lang="en-US" sz="1100" dirty="0"/>
          </a:p>
        </p:txBody>
      </p:sp>
      <p:sp>
        <p:nvSpPr>
          <p:cNvPr id="55" name="Shape 53"/>
          <p:cNvSpPr/>
          <p:nvPr/>
        </p:nvSpPr>
        <p:spPr>
          <a:xfrm>
            <a:off x="496119" y="4450035"/>
            <a:ext cx="8151763" cy="968499"/>
          </a:xfrm>
          <a:prstGeom prst="roundRect">
            <a:avLst>
              <a:gd name="adj" fmla="val 3074"/>
            </a:avLst>
          </a:prstGeom>
          <a:noFill/>
          <a:ln w="4763">
            <a:solidFill>
              <a:srgbClr val="000000">
                <a:alpha val="8000"/>
              </a:srgbClr>
            </a:solidFill>
            <a:prstDash val="solid"/>
          </a:ln>
        </p:spPr>
      </p:sp>
      <p:sp>
        <p:nvSpPr>
          <p:cNvPr id="56" name="Shape 54"/>
          <p:cNvSpPr/>
          <p:nvPr/>
        </p:nvSpPr>
        <p:spPr>
          <a:xfrm>
            <a:off x="500881" y="4454798"/>
            <a:ext cx="8141419" cy="136996"/>
          </a:xfrm>
          <a:prstGeom prst="rect">
            <a:avLst/>
          </a:prstGeom>
          <a:solidFill>
            <a:srgbClr val="FFFFFF">
              <a:alpha val="4000"/>
            </a:srgbClr>
          </a:solidFill>
          <a:ln/>
        </p:spPr>
      </p:sp>
      <p:sp>
        <p:nvSpPr>
          <p:cNvPr id="57" name="Text 55"/>
          <p:cNvSpPr/>
          <p:nvPr/>
        </p:nvSpPr>
        <p:spPr>
          <a:xfrm>
            <a:off x="572616" y="4480768"/>
            <a:ext cx="3026643" cy="85055"/>
          </a:xfrm>
          <a:prstGeom prst="rect">
            <a:avLst/>
          </a:prstGeom>
          <a:noFill/>
          <a:ln/>
        </p:spPr>
        <p:txBody>
          <a:bodyPr wrap="none" lIns="0" tIns="0" rIns="0" bIns="0" rtlCol="0" anchor="t"/>
          <a:lstStyle/>
          <a:p>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Week</a:t>
            </a:r>
            <a:endParaRPr lang="en-US" sz="550" dirty="0"/>
          </a:p>
        </p:txBody>
      </p:sp>
      <p:sp>
        <p:nvSpPr>
          <p:cNvPr id="58" name="Text 56"/>
          <p:cNvSpPr/>
          <p:nvPr/>
        </p:nvSpPr>
        <p:spPr>
          <a:xfrm>
            <a:off x="3288506" y="4480768"/>
            <a:ext cx="3024262" cy="85055"/>
          </a:xfrm>
          <a:prstGeom prst="rect">
            <a:avLst/>
          </a:prstGeom>
          <a:noFill/>
          <a:ln/>
        </p:spPr>
        <p:txBody>
          <a:bodyPr wrap="none" lIns="0" tIns="0" rIns="0" bIns="0" rtlCol="0" anchor="t"/>
          <a:lstStyle/>
          <a:p>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Milestone</a:t>
            </a:r>
            <a:endParaRPr lang="en-US" sz="550" dirty="0"/>
          </a:p>
        </p:txBody>
      </p:sp>
      <p:sp>
        <p:nvSpPr>
          <p:cNvPr id="59" name="Text 57"/>
          <p:cNvSpPr/>
          <p:nvPr/>
        </p:nvSpPr>
        <p:spPr>
          <a:xfrm>
            <a:off x="6002015" y="4480768"/>
            <a:ext cx="3026643" cy="85055"/>
          </a:xfrm>
          <a:prstGeom prst="rect">
            <a:avLst/>
          </a:prstGeom>
          <a:noFill/>
          <a:ln/>
        </p:spPr>
        <p:txBody>
          <a:bodyPr wrap="none" lIns="0" tIns="0" rIns="0" bIns="0" rtlCol="0" anchor="t"/>
          <a:lstStyle/>
          <a:p>
            <a:pPr algn="l" indent="0" marL="0">
              <a:lnSpc>
                <a:spcPct val="100000"/>
              </a:lnSpc>
              <a:buNone/>
            </a:pPr>
            <a:r>
              <a:rPr lang="en-US" sz="550" b="1" dirty="0">
                <a:solidFill>
                  <a:srgbClr val="272525"/>
                </a:solidFill>
                <a:latin typeface="Inter Bold" pitchFamily="34" charset="0"/>
                <a:ea typeface="Inter Bold" pitchFamily="34" charset="-122"/>
                <a:cs typeface="Inter Bold" pitchFamily="34" charset="-120"/>
              </a:rPr>
              <a:t>Description</a:t>
            </a:r>
            <a:endParaRPr lang="en-US" sz="550" dirty="0"/>
          </a:p>
        </p:txBody>
      </p:sp>
      <p:sp>
        <p:nvSpPr>
          <p:cNvPr id="60" name="Shape 58"/>
          <p:cNvSpPr/>
          <p:nvPr/>
        </p:nvSpPr>
        <p:spPr>
          <a:xfrm>
            <a:off x="500881" y="4591794"/>
            <a:ext cx="8141419" cy="136996"/>
          </a:xfrm>
          <a:prstGeom prst="rect">
            <a:avLst/>
          </a:prstGeom>
          <a:solidFill>
            <a:srgbClr val="000000">
              <a:alpha val="4000"/>
            </a:srgbClr>
          </a:solidFill>
          <a:ln/>
        </p:spPr>
      </p:sp>
      <p:sp>
        <p:nvSpPr>
          <p:cNvPr id="61" name="Text 59"/>
          <p:cNvSpPr/>
          <p:nvPr/>
        </p:nvSpPr>
        <p:spPr>
          <a:xfrm>
            <a:off x="572616" y="4617765"/>
            <a:ext cx="3026643"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Week 1</a:t>
            </a:r>
            <a:endParaRPr lang="en-US" sz="550" dirty="0"/>
          </a:p>
        </p:txBody>
      </p:sp>
      <p:sp>
        <p:nvSpPr>
          <p:cNvPr id="62" name="Text 60"/>
          <p:cNvSpPr/>
          <p:nvPr/>
        </p:nvSpPr>
        <p:spPr>
          <a:xfrm>
            <a:off x="3288506" y="4617765"/>
            <a:ext cx="3024262"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Data Collection &amp; Ingestion</a:t>
            </a:r>
            <a:endParaRPr lang="en-US" sz="550" dirty="0"/>
          </a:p>
        </p:txBody>
      </p:sp>
      <p:sp>
        <p:nvSpPr>
          <p:cNvPr id="63" name="Text 61"/>
          <p:cNvSpPr/>
          <p:nvPr/>
        </p:nvSpPr>
        <p:spPr>
          <a:xfrm>
            <a:off x="6002015" y="4617765"/>
            <a:ext cx="3026643"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AMFI NAV download, parsing, initial validation</a:t>
            </a:r>
            <a:endParaRPr lang="en-US" sz="550" dirty="0"/>
          </a:p>
        </p:txBody>
      </p:sp>
      <p:sp>
        <p:nvSpPr>
          <p:cNvPr id="64" name="Shape 62"/>
          <p:cNvSpPr/>
          <p:nvPr/>
        </p:nvSpPr>
        <p:spPr>
          <a:xfrm>
            <a:off x="500881" y="4728790"/>
            <a:ext cx="8141419" cy="136996"/>
          </a:xfrm>
          <a:prstGeom prst="rect">
            <a:avLst/>
          </a:prstGeom>
          <a:solidFill>
            <a:srgbClr val="FFFFFF">
              <a:alpha val="4000"/>
            </a:srgbClr>
          </a:solidFill>
          <a:ln/>
        </p:spPr>
      </p:sp>
      <p:sp>
        <p:nvSpPr>
          <p:cNvPr id="65" name="Text 63"/>
          <p:cNvSpPr/>
          <p:nvPr/>
        </p:nvSpPr>
        <p:spPr>
          <a:xfrm>
            <a:off x="572616" y="4754761"/>
            <a:ext cx="3026643"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Week 2</a:t>
            </a:r>
            <a:endParaRPr lang="en-US" sz="550" dirty="0"/>
          </a:p>
        </p:txBody>
      </p:sp>
      <p:sp>
        <p:nvSpPr>
          <p:cNvPr id="66" name="Text 64"/>
          <p:cNvSpPr/>
          <p:nvPr/>
        </p:nvSpPr>
        <p:spPr>
          <a:xfrm>
            <a:off x="3288506" y="4754761"/>
            <a:ext cx="3024262"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Data Cleaning &amp; Validation</a:t>
            </a:r>
            <a:endParaRPr lang="en-US" sz="550" dirty="0"/>
          </a:p>
        </p:txBody>
      </p:sp>
      <p:sp>
        <p:nvSpPr>
          <p:cNvPr id="67" name="Text 65"/>
          <p:cNvSpPr/>
          <p:nvPr/>
        </p:nvSpPr>
        <p:spPr>
          <a:xfrm>
            <a:off x="6002015" y="4754761"/>
            <a:ext cx="3026643"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Outlier removal, IQR filtering, date validation</a:t>
            </a:r>
            <a:endParaRPr lang="en-US" sz="550" dirty="0"/>
          </a:p>
        </p:txBody>
      </p:sp>
      <p:sp>
        <p:nvSpPr>
          <p:cNvPr id="68" name="Shape 66"/>
          <p:cNvSpPr/>
          <p:nvPr/>
        </p:nvSpPr>
        <p:spPr>
          <a:xfrm>
            <a:off x="500881" y="4865787"/>
            <a:ext cx="8141419" cy="136996"/>
          </a:xfrm>
          <a:prstGeom prst="rect">
            <a:avLst/>
          </a:prstGeom>
          <a:solidFill>
            <a:srgbClr val="000000">
              <a:alpha val="4000"/>
            </a:srgbClr>
          </a:solidFill>
          <a:ln/>
        </p:spPr>
      </p:sp>
      <p:sp>
        <p:nvSpPr>
          <p:cNvPr id="69" name="Text 67"/>
          <p:cNvSpPr/>
          <p:nvPr/>
        </p:nvSpPr>
        <p:spPr>
          <a:xfrm>
            <a:off x="572616" y="4891757"/>
            <a:ext cx="3026643"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Week 3</a:t>
            </a:r>
            <a:endParaRPr lang="en-US" sz="550" dirty="0"/>
          </a:p>
        </p:txBody>
      </p:sp>
      <p:sp>
        <p:nvSpPr>
          <p:cNvPr id="70" name="Text 68"/>
          <p:cNvSpPr/>
          <p:nvPr/>
        </p:nvSpPr>
        <p:spPr>
          <a:xfrm>
            <a:off x="3288506" y="4891757"/>
            <a:ext cx="3024262"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Feature Engineering</a:t>
            </a:r>
            <a:endParaRPr lang="en-US" sz="550" dirty="0"/>
          </a:p>
        </p:txBody>
      </p:sp>
      <p:sp>
        <p:nvSpPr>
          <p:cNvPr id="71" name="Text 69"/>
          <p:cNvSpPr/>
          <p:nvPr/>
        </p:nvSpPr>
        <p:spPr>
          <a:xfrm>
            <a:off x="6002015" y="4891757"/>
            <a:ext cx="3026643"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17 financial metrics computation, data normalization</a:t>
            </a:r>
            <a:endParaRPr lang="en-US" sz="550" dirty="0"/>
          </a:p>
        </p:txBody>
      </p:sp>
      <p:sp>
        <p:nvSpPr>
          <p:cNvPr id="72" name="Shape 70"/>
          <p:cNvSpPr/>
          <p:nvPr/>
        </p:nvSpPr>
        <p:spPr>
          <a:xfrm>
            <a:off x="500881" y="5002783"/>
            <a:ext cx="8141419" cy="136996"/>
          </a:xfrm>
          <a:prstGeom prst="rect">
            <a:avLst/>
          </a:prstGeom>
          <a:solidFill>
            <a:srgbClr val="FFFFFF">
              <a:alpha val="4000"/>
            </a:srgbClr>
          </a:solidFill>
          <a:ln/>
        </p:spPr>
      </p:sp>
      <p:sp>
        <p:nvSpPr>
          <p:cNvPr id="73" name="Text 71"/>
          <p:cNvSpPr/>
          <p:nvPr/>
        </p:nvSpPr>
        <p:spPr>
          <a:xfrm>
            <a:off x="572616" y="5028754"/>
            <a:ext cx="3026643"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Week 4</a:t>
            </a:r>
            <a:endParaRPr lang="en-US" sz="550" dirty="0"/>
          </a:p>
        </p:txBody>
      </p:sp>
      <p:sp>
        <p:nvSpPr>
          <p:cNvPr id="74" name="Text 72"/>
          <p:cNvSpPr/>
          <p:nvPr/>
        </p:nvSpPr>
        <p:spPr>
          <a:xfrm>
            <a:off x="3288506" y="5028754"/>
            <a:ext cx="3024262"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API Development</a:t>
            </a:r>
            <a:endParaRPr lang="en-US" sz="550" dirty="0"/>
          </a:p>
        </p:txBody>
      </p:sp>
      <p:sp>
        <p:nvSpPr>
          <p:cNvPr id="75" name="Text 73"/>
          <p:cNvSpPr/>
          <p:nvPr/>
        </p:nvSpPr>
        <p:spPr>
          <a:xfrm>
            <a:off x="6002015" y="5028754"/>
            <a:ext cx="3026643"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FastAPI endpoints, testing, documentation</a:t>
            </a:r>
            <a:endParaRPr lang="en-US" sz="550" dirty="0"/>
          </a:p>
        </p:txBody>
      </p:sp>
      <p:sp>
        <p:nvSpPr>
          <p:cNvPr id="76" name="Shape 74"/>
          <p:cNvSpPr/>
          <p:nvPr/>
        </p:nvSpPr>
        <p:spPr>
          <a:xfrm>
            <a:off x="500881" y="5139779"/>
            <a:ext cx="8141419" cy="136996"/>
          </a:xfrm>
          <a:prstGeom prst="rect">
            <a:avLst/>
          </a:prstGeom>
          <a:solidFill>
            <a:srgbClr val="000000">
              <a:alpha val="4000"/>
            </a:srgbClr>
          </a:solidFill>
          <a:ln/>
        </p:spPr>
      </p:sp>
      <p:sp>
        <p:nvSpPr>
          <p:cNvPr id="77" name="Text 75"/>
          <p:cNvSpPr/>
          <p:nvPr/>
        </p:nvSpPr>
        <p:spPr>
          <a:xfrm>
            <a:off x="572616" y="5165750"/>
            <a:ext cx="3026643"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Week 5</a:t>
            </a:r>
            <a:endParaRPr lang="en-US" sz="550" dirty="0"/>
          </a:p>
        </p:txBody>
      </p:sp>
      <p:sp>
        <p:nvSpPr>
          <p:cNvPr id="78" name="Text 76"/>
          <p:cNvSpPr/>
          <p:nvPr/>
        </p:nvSpPr>
        <p:spPr>
          <a:xfrm>
            <a:off x="3288506" y="5165750"/>
            <a:ext cx="3024262"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Dashboard &amp; Workflow Automation</a:t>
            </a:r>
            <a:endParaRPr lang="en-US" sz="550" dirty="0"/>
          </a:p>
        </p:txBody>
      </p:sp>
      <p:sp>
        <p:nvSpPr>
          <p:cNvPr id="79" name="Text 77"/>
          <p:cNvSpPr/>
          <p:nvPr/>
        </p:nvSpPr>
        <p:spPr>
          <a:xfrm>
            <a:off x="6002015" y="5165750"/>
            <a:ext cx="3026643"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Streamlit UI, Airflow DAGs, integration</a:t>
            </a:r>
            <a:endParaRPr lang="en-US" sz="550" dirty="0"/>
          </a:p>
        </p:txBody>
      </p:sp>
      <p:sp>
        <p:nvSpPr>
          <p:cNvPr id="80" name="Shape 78"/>
          <p:cNvSpPr/>
          <p:nvPr/>
        </p:nvSpPr>
        <p:spPr>
          <a:xfrm>
            <a:off x="500881" y="5276776"/>
            <a:ext cx="8141419" cy="136996"/>
          </a:xfrm>
          <a:prstGeom prst="rect">
            <a:avLst/>
          </a:prstGeom>
          <a:solidFill>
            <a:srgbClr val="FFFFFF">
              <a:alpha val="4000"/>
            </a:srgbClr>
          </a:solidFill>
          <a:ln/>
        </p:spPr>
      </p:sp>
      <p:sp>
        <p:nvSpPr>
          <p:cNvPr id="81" name="Text 79"/>
          <p:cNvSpPr/>
          <p:nvPr/>
        </p:nvSpPr>
        <p:spPr>
          <a:xfrm>
            <a:off x="572616" y="5302746"/>
            <a:ext cx="3026643"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Week 6</a:t>
            </a:r>
            <a:endParaRPr lang="en-US" sz="550" dirty="0"/>
          </a:p>
        </p:txBody>
      </p:sp>
      <p:sp>
        <p:nvSpPr>
          <p:cNvPr id="82" name="Text 80"/>
          <p:cNvSpPr/>
          <p:nvPr/>
        </p:nvSpPr>
        <p:spPr>
          <a:xfrm>
            <a:off x="3288506" y="5302746"/>
            <a:ext cx="3024262"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Testing, Deployment &amp; Documentation</a:t>
            </a:r>
            <a:endParaRPr lang="en-US" sz="550" dirty="0"/>
          </a:p>
        </p:txBody>
      </p:sp>
      <p:sp>
        <p:nvSpPr>
          <p:cNvPr id="83" name="Text 81"/>
          <p:cNvSpPr/>
          <p:nvPr/>
        </p:nvSpPr>
        <p:spPr>
          <a:xfrm>
            <a:off x="6002015" y="5302746"/>
            <a:ext cx="3026643"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End-to-end testing, Docker deployment, final documentation</a:t>
            </a:r>
            <a:endParaRPr lang="en-US" sz="550" dirty="0"/>
          </a:p>
        </p:txBody>
      </p:sp>
      <p:sp>
        <p:nvSpPr>
          <p:cNvPr id="84" name="Text 82"/>
          <p:cNvSpPr/>
          <p:nvPr/>
        </p:nvSpPr>
        <p:spPr>
          <a:xfrm>
            <a:off x="496119" y="5471666"/>
            <a:ext cx="8151763" cy="177180"/>
          </a:xfrm>
          <a:prstGeom prst="rect">
            <a:avLst/>
          </a:prstGeom>
          <a:noFill/>
          <a:ln/>
        </p:spPr>
        <p:txBody>
          <a:bodyPr wrap="none" lIns="0" tIns="0" rIns="0" bIns="0" rtlCol="0" anchor="t"/>
          <a:lstStyle/>
          <a:p>
            <a:pPr algn="l" indent="0" marL="0">
              <a:lnSpc>
                <a:spcPct val="104000"/>
              </a:lnSpc>
              <a:buNone/>
            </a:pP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89855"/>
            <a:ext cx="8151763" cy="325338"/>
          </a:xfrm>
          <a:prstGeom prst="rect">
            <a:avLst/>
          </a:prstGeom>
          <a:noFill/>
          <a:ln/>
        </p:spPr>
        <p:txBody>
          <a:bodyPr wrap="none" lIns="0" tIns="0" rIns="0" bIns="0" rtlCol="0" anchor="t"/>
          <a:lstStyle/>
          <a:p>
            <a:pPr algn="l" indent="0" marL="0">
              <a:lnSpc>
                <a:spcPct val="104000"/>
              </a:lnSpc>
              <a:buNone/>
            </a:pPr>
            <a:r>
              <a:rPr lang="en-US" sz="2000" b="1" dirty="0">
                <a:solidFill>
                  <a:srgbClr val="000000"/>
                </a:solidFill>
                <a:latin typeface="Inter Bold" pitchFamily="34" charset="0"/>
                <a:ea typeface="Inter Bold" pitchFamily="34" charset="-122"/>
                <a:cs typeface="Inter Bold" pitchFamily="34" charset="-120"/>
              </a:rPr>
              <a:t>Literature Review &amp; Theoretical Background</a:t>
            </a:r>
            <a:endParaRPr lang="en-US" sz="2000" dirty="0"/>
          </a:p>
        </p:txBody>
      </p:sp>
      <p:sp>
        <p:nvSpPr>
          <p:cNvPr id="3" name="Text 1"/>
          <p:cNvSpPr/>
          <p:nvPr/>
        </p:nvSpPr>
        <p:spPr>
          <a:xfrm>
            <a:off x="496119" y="829866"/>
            <a:ext cx="8608963" cy="144438"/>
          </a:xfrm>
          <a:prstGeom prst="rect">
            <a:avLst/>
          </a:prstGeom>
          <a:noFill/>
          <a:ln/>
        </p:spPr>
        <p:txBody>
          <a:bodyPr wrap="none" lIns="0" tIns="0" rIns="0" bIns="0" rtlCol="0" anchor="t"/>
          <a:lstStyle/>
          <a:p>
            <a:pPr algn="l" indent="0" marL="0">
              <a:lnSpc>
                <a:spcPct val="116000"/>
              </a:lnSpc>
              <a:buNone/>
            </a:pPr>
            <a:r>
              <a:rPr lang="en-US" sz="800" dirty="0">
                <a:solidFill>
                  <a:srgbClr val="272525"/>
                </a:solidFill>
                <a:latin typeface="Inter" pitchFamily="34" charset="0"/>
                <a:ea typeface="Inter" pitchFamily="34" charset="-122"/>
                <a:cs typeface="Inter" pitchFamily="34" charset="-120"/>
              </a:rPr>
              <a:t>A concise overview of the key literature and financial theories informing our mutual fund analysis and recommendation system.</a:t>
            </a:r>
            <a:endParaRPr lang="en-US" sz="800" dirty="0"/>
          </a:p>
        </p:txBody>
      </p:sp>
      <p:sp>
        <p:nvSpPr>
          <p:cNvPr id="4" name="Text 2"/>
          <p:cNvSpPr/>
          <p:nvPr/>
        </p:nvSpPr>
        <p:spPr>
          <a:xfrm>
            <a:off x="496119" y="1088975"/>
            <a:ext cx="8151763" cy="260226"/>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Inter Bold" pitchFamily="34" charset="0"/>
                <a:ea typeface="Inter Bold" pitchFamily="34" charset="-122"/>
                <a:cs typeface="Inter Bold" pitchFamily="34" charset="-120"/>
              </a:rPr>
              <a:t>2.1 Mutual Fund Performance Evaluation</a:t>
            </a:r>
            <a:endParaRPr lang="en-US" sz="1600" dirty="0"/>
          </a:p>
        </p:txBody>
      </p:sp>
      <p:sp>
        <p:nvSpPr>
          <p:cNvPr id="5" name="Text 3"/>
          <p:cNvSpPr/>
          <p:nvPr/>
        </p:nvSpPr>
        <p:spPr>
          <a:xfrm>
            <a:off x="496119" y="1463873"/>
            <a:ext cx="8151763" cy="486742"/>
          </a:xfrm>
          <a:prstGeom prst="rect">
            <a:avLst/>
          </a:prstGeom>
          <a:noFill/>
          <a:ln/>
        </p:spPr>
        <p:txBody>
          <a:bodyPr wrap="square" lIns="0" tIns="0" rIns="0" bIns="0" rtlCol="0" anchor="t">
            <a:normAutofit/>
          </a:bodyPr>
          <a:lstStyle/>
          <a:p>
            <a:pPr algn="l" marL="162560" indent="-162560">
              <a:lnSpc>
                <a:spcPct val="116000"/>
              </a:lnSpc>
              <a:buSzPct val="100000"/>
              <a:buChar char="•"/>
            </a:pPr>
            <a:r>
              <a:rPr lang="en-US" sz="800" b="1" dirty="0">
                <a:solidFill>
                  <a:srgbClr val="272525"/>
                </a:solidFill>
                <a:latin typeface="Inter Bold" pitchFamily="34" charset="0"/>
                <a:ea typeface="Inter Bold" pitchFamily="34" charset="-122"/>
                <a:cs typeface="Inter Bold" pitchFamily="34" charset="-120"/>
              </a:rPr>
              <a:t>Markowitz Modern Portfolio Theory:</a:t>
            </a:r>
            <a:pPr algn="l" marL="162560" indent="-162560">
              <a:lnSpc>
                <a:spcPct val="116000"/>
              </a:lnSpc>
              <a:buSzPct val="100000"/>
              <a:buChar char="•"/>
            </a:pPr>
            <a:r>
              <a:rPr lang="en-US" sz="800" dirty="0">
                <a:solidFill>
                  <a:srgbClr val="272525"/>
                </a:solidFill>
                <a:latin typeface="Inter" pitchFamily="34" charset="0"/>
                <a:ea typeface="Inter" pitchFamily="34" charset="-122"/>
                <a:cs typeface="Inter" pitchFamily="34" charset="-120"/>
              </a:rPr>
              <a:t> establishes the risk-return tradeoff as the foundation for portfolio evaluation.</a:t>
            </a:r>
            <a:endParaRPr lang="en-US" sz="800" dirty="0"/>
          </a:p>
          <a:p>
            <a:pPr algn="l" marL="162560" indent="-162560">
              <a:lnSpc>
                <a:spcPct val="116000"/>
              </a:lnSpc>
              <a:buSzPct val="100000"/>
              <a:buChar char="•"/>
            </a:pPr>
            <a:r>
              <a:rPr lang="en-US" sz="800" b="1" dirty="0">
                <a:solidFill>
                  <a:srgbClr val="272525"/>
                </a:solidFill>
                <a:latin typeface="Inter Bold" pitchFamily="34" charset="0"/>
                <a:ea typeface="Inter Bold" pitchFamily="34" charset="-122"/>
                <a:cs typeface="Inter Bold" pitchFamily="34" charset="-120"/>
              </a:rPr>
              <a:t>Sharpe Ratio:</a:t>
            </a:r>
            <a:pPr algn="l" marL="162560" indent="-162560">
              <a:lnSpc>
                <a:spcPct val="116000"/>
              </a:lnSpc>
              <a:buSzPct val="100000"/>
              <a:buChar char="•"/>
            </a:pPr>
            <a:r>
              <a:rPr lang="en-US" sz="800" dirty="0">
                <a:solidFill>
                  <a:srgbClr val="272525"/>
                </a:solidFill>
                <a:latin typeface="Inter" pitchFamily="34" charset="0"/>
                <a:ea typeface="Inter" pitchFamily="34" charset="-122"/>
                <a:cs typeface="Inter" pitchFamily="34" charset="-120"/>
              </a:rPr>
              <a:t> measures excess return per unit of total volatility.</a:t>
            </a:r>
            <a:endParaRPr lang="en-US" sz="800" dirty="0"/>
          </a:p>
          <a:p>
            <a:pPr algn="l" marL="162560" indent="-162560">
              <a:lnSpc>
                <a:spcPct val="116000"/>
              </a:lnSpc>
              <a:buSzPct val="100000"/>
              <a:buChar char="•"/>
            </a:pPr>
            <a:r>
              <a:rPr lang="en-US" sz="800" b="1" dirty="0">
                <a:solidFill>
                  <a:srgbClr val="272525"/>
                </a:solidFill>
                <a:latin typeface="Inter Bold" pitchFamily="34" charset="0"/>
                <a:ea typeface="Inter Bold" pitchFamily="34" charset="-122"/>
                <a:cs typeface="Inter Bold" pitchFamily="34" charset="-120"/>
              </a:rPr>
              <a:t>Sortino Ratio:</a:t>
            </a:r>
            <a:pPr algn="l" marL="162560" indent="-162560">
              <a:lnSpc>
                <a:spcPct val="116000"/>
              </a:lnSpc>
              <a:buSzPct val="100000"/>
              <a:buChar char="•"/>
            </a:pPr>
            <a:r>
              <a:rPr lang="en-US" sz="800" dirty="0">
                <a:solidFill>
                  <a:srgbClr val="272525"/>
                </a:solidFill>
                <a:latin typeface="Inter" pitchFamily="34" charset="0"/>
                <a:ea typeface="Inter" pitchFamily="34" charset="-122"/>
                <a:cs typeface="Inter" pitchFamily="34" charset="-120"/>
              </a:rPr>
              <a:t> focuses on downside deviation and penalizes harmful risk more directly.</a:t>
            </a:r>
            <a:endParaRPr lang="en-US" sz="800" dirty="0"/>
          </a:p>
        </p:txBody>
      </p:sp>
      <p:sp>
        <p:nvSpPr>
          <p:cNvPr id="6" name="Text 4"/>
          <p:cNvSpPr/>
          <p:nvPr/>
        </p:nvSpPr>
        <p:spPr>
          <a:xfrm>
            <a:off x="496119" y="2065288"/>
            <a:ext cx="8151763" cy="260226"/>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Inter Bold" pitchFamily="34" charset="0"/>
                <a:ea typeface="Inter Bold" pitchFamily="34" charset="-122"/>
                <a:cs typeface="Inter Bold" pitchFamily="34" charset="-120"/>
              </a:rPr>
              <a:t>2.2 Financial Data Engineering</a:t>
            </a:r>
            <a:endParaRPr lang="en-US" sz="1600" dirty="0"/>
          </a:p>
        </p:txBody>
      </p:sp>
      <p:sp>
        <p:nvSpPr>
          <p:cNvPr id="7" name="Text 5"/>
          <p:cNvSpPr/>
          <p:nvPr/>
        </p:nvSpPr>
        <p:spPr>
          <a:xfrm>
            <a:off x="496119" y="2440186"/>
            <a:ext cx="8151763" cy="486742"/>
          </a:xfrm>
          <a:prstGeom prst="rect">
            <a:avLst/>
          </a:prstGeom>
          <a:noFill/>
          <a:ln/>
        </p:spPr>
        <p:txBody>
          <a:bodyPr wrap="square" lIns="0" tIns="0" rIns="0" bIns="0" rtlCol="0" anchor="t">
            <a:normAutofit/>
          </a:bodyPr>
          <a:lstStyle/>
          <a:p>
            <a:pPr algn="l" marL="162560" indent="-162560">
              <a:lnSpc>
                <a:spcPct val="116000"/>
              </a:lnSpc>
              <a:buSzPct val="100000"/>
              <a:buChar char="•"/>
            </a:pPr>
            <a:r>
              <a:rPr lang="en-US" sz="800" b="1" dirty="0">
                <a:solidFill>
                  <a:srgbClr val="272525"/>
                </a:solidFill>
                <a:latin typeface="Inter Bold" pitchFamily="34" charset="0"/>
                <a:ea typeface="Inter Bold" pitchFamily="34" charset="-122"/>
                <a:cs typeface="Inter Bold" pitchFamily="34" charset="-120"/>
              </a:rPr>
              <a:t>AMFI data quality:</a:t>
            </a:r>
            <a:pPr algn="l" marL="162560" indent="-162560">
              <a:lnSpc>
                <a:spcPct val="116000"/>
              </a:lnSpc>
              <a:buSzPct val="100000"/>
              <a:buChar char="•"/>
            </a:pPr>
            <a:r>
              <a:rPr lang="en-US" sz="800" dirty="0">
                <a:solidFill>
                  <a:srgbClr val="272525"/>
                </a:solidFill>
                <a:latin typeface="Inter" pitchFamily="34" charset="0"/>
                <a:ea typeface="Inter" pitchFamily="34" charset="-122"/>
                <a:cs typeface="Inter" pitchFamily="34" charset="-120"/>
              </a:rPr>
              <a:t> NAVAll.txt requires cleaning for missing values, date consistency, and scheme-level validation.</a:t>
            </a:r>
            <a:endParaRPr lang="en-US" sz="800" dirty="0"/>
          </a:p>
          <a:p>
            <a:pPr algn="l" marL="162560" indent="-162560">
              <a:lnSpc>
                <a:spcPct val="116000"/>
              </a:lnSpc>
              <a:buSzPct val="100000"/>
              <a:buChar char="•"/>
            </a:pPr>
            <a:r>
              <a:rPr lang="en-US" sz="800" b="1" dirty="0">
                <a:solidFill>
                  <a:srgbClr val="272525"/>
                </a:solidFill>
                <a:latin typeface="Inter Bold" pitchFamily="34" charset="0"/>
                <a:ea typeface="Inter Bold" pitchFamily="34" charset="-122"/>
                <a:cs typeface="Inter Bold" pitchFamily="34" charset="-120"/>
              </a:rPr>
              <a:t>Feature extraction:</a:t>
            </a:r>
            <a:pPr algn="l" marL="162560" indent="-162560">
              <a:lnSpc>
                <a:spcPct val="116000"/>
              </a:lnSpc>
              <a:buSzPct val="100000"/>
              <a:buChar char="•"/>
            </a:pPr>
            <a:r>
              <a:rPr lang="en-US" sz="800" dirty="0">
                <a:solidFill>
                  <a:srgbClr val="272525"/>
                </a:solidFill>
                <a:latin typeface="Inter" pitchFamily="34" charset="0"/>
                <a:ea typeface="Inter" pitchFamily="34" charset="-122"/>
                <a:cs typeface="Inter" pitchFamily="34" charset="-120"/>
              </a:rPr>
              <a:t> transforms raw NAV histories into usable indicators for analysis and recommendation.</a:t>
            </a:r>
            <a:endParaRPr lang="en-US" sz="800" dirty="0"/>
          </a:p>
          <a:p>
            <a:pPr algn="l" marL="162560" indent="-162560">
              <a:lnSpc>
                <a:spcPct val="116000"/>
              </a:lnSpc>
              <a:buSzPct val="100000"/>
              <a:buChar char="•"/>
            </a:pPr>
            <a:r>
              <a:rPr lang="en-US" sz="800" b="1" dirty="0">
                <a:solidFill>
                  <a:srgbClr val="272525"/>
                </a:solidFill>
                <a:latin typeface="Inter Bold" pitchFamily="34" charset="0"/>
                <a:ea typeface="Inter Bold" pitchFamily="34" charset="-122"/>
                <a:cs typeface="Inter Bold" pitchFamily="34" charset="-120"/>
              </a:rPr>
              <a:t>Technical indicators:</a:t>
            </a:r>
            <a:pPr algn="l" marL="162560" indent="-162560">
              <a:lnSpc>
                <a:spcPct val="116000"/>
              </a:lnSpc>
              <a:buSzPct val="100000"/>
              <a:buChar char="•"/>
            </a:pPr>
            <a:r>
              <a:rPr lang="en-US" sz="800" dirty="0">
                <a:solidFill>
                  <a:srgbClr val="272525"/>
                </a:solidFill>
                <a:latin typeface="Inter" pitchFamily="34" charset="0"/>
                <a:ea typeface="Inter" pitchFamily="34" charset="-122"/>
                <a:cs typeface="Inter" pitchFamily="34" charset="-120"/>
              </a:rPr>
              <a:t> moving averages, RSI, volatility, and crossover signals support structured financial analytics.</a:t>
            </a:r>
            <a:endParaRPr lang="en-US" sz="800" dirty="0"/>
          </a:p>
        </p:txBody>
      </p:sp>
      <p:sp>
        <p:nvSpPr>
          <p:cNvPr id="8" name="Text 6"/>
          <p:cNvSpPr/>
          <p:nvPr/>
        </p:nvSpPr>
        <p:spPr>
          <a:xfrm>
            <a:off x="496119" y="3041600"/>
            <a:ext cx="8151763" cy="260226"/>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Inter Bold" pitchFamily="34" charset="0"/>
                <a:ea typeface="Inter Bold" pitchFamily="34" charset="-122"/>
                <a:cs typeface="Inter Bold" pitchFamily="34" charset="-120"/>
              </a:rPr>
              <a:t>2.3 Machine Learning Applications</a:t>
            </a:r>
            <a:endParaRPr lang="en-US" sz="1600" dirty="0"/>
          </a:p>
        </p:txBody>
      </p:sp>
      <p:sp>
        <p:nvSpPr>
          <p:cNvPr id="9" name="Text 7"/>
          <p:cNvSpPr/>
          <p:nvPr/>
        </p:nvSpPr>
        <p:spPr>
          <a:xfrm>
            <a:off x="496119" y="3416498"/>
            <a:ext cx="8151763" cy="315590"/>
          </a:xfrm>
          <a:prstGeom prst="rect">
            <a:avLst/>
          </a:prstGeom>
          <a:noFill/>
          <a:ln/>
        </p:spPr>
        <p:txBody>
          <a:bodyPr wrap="square" lIns="0" tIns="0" rIns="0" bIns="0" rtlCol="0" anchor="t">
            <a:normAutofit/>
          </a:bodyPr>
          <a:lstStyle/>
          <a:p>
            <a:pPr algn="l" marL="162560" indent="-162560">
              <a:lnSpc>
                <a:spcPct val="116000"/>
              </a:lnSpc>
              <a:buSzPct val="100000"/>
              <a:buChar char="•"/>
            </a:pPr>
            <a:r>
              <a:rPr lang="en-US" sz="800" b="1" dirty="0">
                <a:solidFill>
                  <a:srgbClr val="272525"/>
                </a:solidFill>
                <a:latin typeface="Inter Bold" pitchFamily="34" charset="0"/>
                <a:ea typeface="Inter Bold" pitchFamily="34" charset="-122"/>
                <a:cs typeface="Inter Bold" pitchFamily="34" charset="-120"/>
              </a:rPr>
              <a:t>K-Means clustering:</a:t>
            </a:r>
            <a:pPr algn="l" marL="162560" indent="-162560">
              <a:lnSpc>
                <a:spcPct val="116000"/>
              </a:lnSpc>
              <a:buSzPct val="100000"/>
              <a:buChar char="•"/>
            </a:pPr>
            <a:r>
              <a:rPr lang="en-US" sz="800" dirty="0">
                <a:solidFill>
                  <a:srgbClr val="272525"/>
                </a:solidFill>
                <a:latin typeface="Inter" pitchFamily="34" charset="0"/>
                <a:ea typeface="Inter" pitchFamily="34" charset="-122"/>
                <a:cs typeface="Inter" pitchFamily="34" charset="-120"/>
              </a:rPr>
              <a:t> groups mutual funds into performance-based segments for comparison and screening..</a:t>
            </a:r>
            <a:endParaRPr lang="en-US" sz="800" dirty="0"/>
          </a:p>
          <a:p>
            <a:pPr algn="l" marL="162560" indent="-162560">
              <a:lnSpc>
                <a:spcPct val="116000"/>
              </a:lnSpc>
              <a:buSzPct val="100000"/>
              <a:buChar char="•"/>
            </a:pPr>
            <a:r>
              <a:rPr lang="en-US" sz="800" b="1" dirty="0">
                <a:solidFill>
                  <a:srgbClr val="272525"/>
                </a:solidFill>
                <a:latin typeface="Inter Bold" pitchFamily="34" charset="0"/>
                <a:ea typeface="Inter Bold" pitchFamily="34" charset="-122"/>
                <a:cs typeface="Inter Bold" pitchFamily="34" charset="-120"/>
              </a:rPr>
              <a:t>Decision support:</a:t>
            </a:r>
            <a:pPr algn="l" marL="162560" indent="-162560">
              <a:lnSpc>
                <a:spcPct val="116000"/>
              </a:lnSpc>
              <a:buSzPct val="100000"/>
              <a:buChar char="•"/>
            </a:pPr>
            <a:r>
              <a:rPr lang="en-US" sz="800" dirty="0">
                <a:solidFill>
                  <a:srgbClr val="272525"/>
                </a:solidFill>
                <a:latin typeface="Inter" pitchFamily="34" charset="0"/>
                <a:ea typeface="Inter" pitchFamily="34" charset="-122"/>
                <a:cs typeface="Inter" pitchFamily="34" charset="-120"/>
              </a:rPr>
              <a:t> combines statistical features and learned patterns to improve fund selection.</a:t>
            </a:r>
            <a:endParaRPr lang="en-US" sz="800" dirty="0"/>
          </a:p>
        </p:txBody>
      </p:sp>
      <p:sp>
        <p:nvSpPr>
          <p:cNvPr id="10" name="Text 8"/>
          <p:cNvSpPr/>
          <p:nvPr/>
        </p:nvSpPr>
        <p:spPr>
          <a:xfrm>
            <a:off x="496119" y="3846761"/>
            <a:ext cx="8151763" cy="260226"/>
          </a:xfrm>
          <a:prstGeom prst="rect">
            <a:avLst/>
          </a:prstGeom>
          <a:noFill/>
          <a:ln/>
        </p:spPr>
        <p:txBody>
          <a:bodyPr wrap="none" lIns="0" tIns="0" rIns="0" bIns="0" rtlCol="0" anchor="t"/>
          <a:lstStyle/>
          <a:p>
            <a:pPr algn="l" indent="0" marL="0">
              <a:lnSpc>
                <a:spcPct val="104000"/>
              </a:lnSpc>
              <a:buNone/>
            </a:pPr>
            <a:r>
              <a:rPr lang="en-US" sz="1600" b="1" dirty="0">
                <a:solidFill>
                  <a:srgbClr val="000000"/>
                </a:solidFill>
                <a:latin typeface="Inter Bold" pitchFamily="34" charset="0"/>
                <a:ea typeface="Inter Bold" pitchFamily="34" charset="-122"/>
                <a:cs typeface="Inter Bold" pitchFamily="34" charset="-120"/>
              </a:rPr>
              <a:t>2.4 Interactive Financial Frameworks</a:t>
            </a:r>
            <a:endParaRPr lang="en-US" sz="1600" dirty="0"/>
          </a:p>
        </p:txBody>
      </p:sp>
      <p:sp>
        <p:nvSpPr>
          <p:cNvPr id="11" name="Text 9"/>
          <p:cNvSpPr/>
          <p:nvPr/>
        </p:nvSpPr>
        <p:spPr>
          <a:xfrm>
            <a:off x="496119" y="4221659"/>
            <a:ext cx="8151763" cy="486742"/>
          </a:xfrm>
          <a:prstGeom prst="rect">
            <a:avLst/>
          </a:prstGeom>
          <a:noFill/>
          <a:ln/>
        </p:spPr>
        <p:txBody>
          <a:bodyPr wrap="square" lIns="0" tIns="0" rIns="0" bIns="0" rtlCol="0" anchor="t">
            <a:normAutofit/>
          </a:bodyPr>
          <a:lstStyle/>
          <a:p>
            <a:pPr algn="l" marL="162560" indent="-162560">
              <a:lnSpc>
                <a:spcPct val="116000"/>
              </a:lnSpc>
              <a:buSzPct val="100000"/>
              <a:buChar char="•"/>
            </a:pPr>
            <a:r>
              <a:rPr lang="en-US" sz="800" b="1" dirty="0">
                <a:solidFill>
                  <a:srgbClr val="272525"/>
                </a:solidFill>
                <a:latin typeface="Inter Bold" pitchFamily="34" charset="0"/>
                <a:ea typeface="Inter Bold" pitchFamily="34" charset="-122"/>
                <a:cs typeface="Inter Bold" pitchFamily="34" charset="-120"/>
              </a:rPr>
              <a:t>FastAPI:</a:t>
            </a:r>
            <a:pPr algn="l" marL="162560" indent="-162560">
              <a:lnSpc>
                <a:spcPct val="116000"/>
              </a:lnSpc>
              <a:buSzPct val="100000"/>
              <a:buChar char="•"/>
            </a:pPr>
            <a:r>
              <a:rPr lang="en-US" sz="800" dirty="0">
                <a:solidFill>
                  <a:srgbClr val="272525"/>
                </a:solidFill>
                <a:latin typeface="Inter" pitchFamily="34" charset="0"/>
                <a:ea typeface="Inter" pitchFamily="34" charset="-122"/>
                <a:cs typeface="Inter" pitchFamily="34" charset="-120"/>
              </a:rPr>
              <a:t> provides a fast, scalable backend for serving analytics and recommendations.</a:t>
            </a:r>
            <a:endParaRPr lang="en-US" sz="800" dirty="0"/>
          </a:p>
          <a:p>
            <a:pPr algn="l" marL="162560" indent="-162560">
              <a:lnSpc>
                <a:spcPct val="116000"/>
              </a:lnSpc>
              <a:buSzPct val="100000"/>
              <a:buChar char="•"/>
            </a:pPr>
            <a:r>
              <a:rPr lang="en-US" sz="800" b="1" dirty="0">
                <a:solidFill>
                  <a:srgbClr val="272525"/>
                </a:solidFill>
                <a:latin typeface="Inter Bold" pitchFamily="34" charset="0"/>
                <a:ea typeface="Inter Bold" pitchFamily="34" charset="-122"/>
                <a:cs typeface="Inter Bold" pitchFamily="34" charset="-120"/>
              </a:rPr>
              <a:t>Streamlit:</a:t>
            </a:r>
            <a:pPr algn="l" marL="162560" indent="-162560">
              <a:lnSpc>
                <a:spcPct val="116000"/>
              </a:lnSpc>
              <a:buSzPct val="100000"/>
              <a:buChar char="•"/>
            </a:pPr>
            <a:r>
              <a:rPr lang="en-US" sz="800" dirty="0">
                <a:solidFill>
                  <a:srgbClr val="272525"/>
                </a:solidFill>
                <a:latin typeface="Inter" pitchFamily="34" charset="0"/>
                <a:ea typeface="Inter" pitchFamily="34" charset="-122"/>
                <a:cs typeface="Inter" pitchFamily="34" charset="-120"/>
              </a:rPr>
              <a:t> enables an accessible interactive dashboard for exploration and comparison.</a:t>
            </a:r>
            <a:endParaRPr lang="en-US" sz="800" dirty="0"/>
          </a:p>
          <a:p>
            <a:pPr algn="l" marL="162560" indent="-162560">
              <a:lnSpc>
                <a:spcPct val="116000"/>
              </a:lnSpc>
              <a:buSzPct val="100000"/>
              <a:buChar char="•"/>
            </a:pPr>
            <a:r>
              <a:rPr lang="en-US" sz="800" b="1" dirty="0">
                <a:solidFill>
                  <a:srgbClr val="272525"/>
                </a:solidFill>
                <a:latin typeface="Inter Bold" pitchFamily="34" charset="0"/>
                <a:ea typeface="Inter Bold" pitchFamily="34" charset="-122"/>
                <a:cs typeface="Inter Bold" pitchFamily="34" charset="-120"/>
              </a:rPr>
              <a:t>Democratization:</a:t>
            </a:r>
            <a:pPr algn="l" marL="162560" indent="-162560">
              <a:lnSpc>
                <a:spcPct val="116000"/>
              </a:lnSpc>
              <a:buSzPct val="100000"/>
              <a:buChar char="•"/>
            </a:pPr>
            <a:r>
              <a:rPr lang="en-US" sz="800" dirty="0">
                <a:solidFill>
                  <a:srgbClr val="272525"/>
                </a:solidFill>
                <a:latin typeface="Inter" pitchFamily="34" charset="0"/>
                <a:ea typeface="Inter" pitchFamily="34" charset="-122"/>
                <a:cs typeface="Inter" pitchFamily="34" charset="-120"/>
              </a:rPr>
              <a:t> turns complex mutual fund analytics into a practical tool for everyday investors and researchers.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389855"/>
            <a:ext cx="8151763" cy="221456"/>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System Architecture</a:t>
            </a:r>
            <a:endParaRPr lang="en-US" sz="1350" dirty="0"/>
          </a:p>
        </p:txBody>
      </p:sp>
      <p:sp>
        <p:nvSpPr>
          <p:cNvPr id="3" name="Shape 1"/>
          <p:cNvSpPr/>
          <p:nvPr/>
        </p:nvSpPr>
        <p:spPr>
          <a:xfrm>
            <a:off x="602382" y="965597"/>
            <a:ext cx="2587303" cy="70842"/>
          </a:xfrm>
          <a:prstGeom prst="roundRect">
            <a:avLst>
              <a:gd name="adj" fmla="val 42025"/>
            </a:avLst>
          </a:prstGeom>
          <a:solidFill>
            <a:srgbClr val="DADBF1"/>
          </a:solidFill>
          <a:ln w="4763">
            <a:solidFill>
              <a:srgbClr val="C0C1D7"/>
            </a:solidFill>
            <a:prstDash val="solid"/>
          </a:ln>
        </p:spPr>
      </p:sp>
      <p:sp>
        <p:nvSpPr>
          <p:cNvPr id="4" name="Shape 2"/>
          <p:cNvSpPr/>
          <p:nvPr/>
        </p:nvSpPr>
        <p:spPr>
          <a:xfrm>
            <a:off x="496119" y="894717"/>
            <a:ext cx="212601" cy="212601"/>
          </a:xfrm>
          <a:prstGeom prst="ellipse">
            <a:avLst/>
          </a:prstGeom>
          <a:solidFill>
            <a:srgbClr val="DADBF1"/>
          </a:solidFill>
          <a:ln w="4763">
            <a:solidFill>
              <a:srgbClr val="C0C1D7"/>
            </a:solidFill>
            <a:prstDash val="solid"/>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9250" y="947924"/>
            <a:ext cx="106263" cy="106263"/>
          </a:xfrm>
          <a:prstGeom prst="rect">
            <a:avLst/>
          </a:prstGeom>
        </p:spPr>
      </p:pic>
      <p:sp>
        <p:nvSpPr>
          <p:cNvPr id="6" name="Text 3"/>
          <p:cNvSpPr/>
          <p:nvPr/>
        </p:nvSpPr>
        <p:spPr>
          <a:xfrm>
            <a:off x="566961" y="1142777"/>
            <a:ext cx="2551956" cy="110728"/>
          </a:xfrm>
          <a:prstGeom prst="rect">
            <a:avLst/>
          </a:prstGeom>
          <a:noFill/>
          <a:ln/>
        </p:spPr>
        <p:txBody>
          <a:bodyPr wrap="none" lIns="0" tIns="0" rIns="0" bIns="0" rtlCol="0" anchor="t"/>
          <a:lstStyle/>
          <a:p>
            <a:pPr algn="l" indent="0" marL="0">
              <a:lnSpc>
                <a:spcPct val="104000"/>
              </a:lnSpc>
              <a:buNone/>
            </a:pPr>
            <a:r>
              <a:rPr lang="en-US" sz="650" b="1" dirty="0">
                <a:solidFill>
                  <a:srgbClr val="272525"/>
                </a:solidFill>
                <a:latin typeface="Inter Bold" pitchFamily="34" charset="0"/>
                <a:ea typeface="Inter Bold" pitchFamily="34" charset="-122"/>
                <a:cs typeface="Inter Bold" pitchFamily="34" charset="-120"/>
              </a:rPr>
              <a:t>Data Source Layer</a:t>
            </a:r>
            <a:endParaRPr lang="en-US" sz="650" dirty="0"/>
          </a:p>
        </p:txBody>
      </p:sp>
      <p:sp>
        <p:nvSpPr>
          <p:cNvPr id="7" name="Text 4"/>
          <p:cNvSpPr/>
          <p:nvPr/>
        </p:nvSpPr>
        <p:spPr>
          <a:xfrm>
            <a:off x="566961" y="1274713"/>
            <a:ext cx="2551956"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AMFI NAVAll.txt | 14,341 schemes</a:t>
            </a:r>
            <a:endParaRPr lang="en-US" sz="550" dirty="0"/>
          </a:p>
        </p:txBody>
      </p:sp>
      <p:sp>
        <p:nvSpPr>
          <p:cNvPr id="8" name="Shape 5"/>
          <p:cNvSpPr/>
          <p:nvPr/>
        </p:nvSpPr>
        <p:spPr>
          <a:xfrm>
            <a:off x="3331443" y="859259"/>
            <a:ext cx="2587303" cy="70842"/>
          </a:xfrm>
          <a:prstGeom prst="roundRect">
            <a:avLst>
              <a:gd name="adj" fmla="val 42025"/>
            </a:avLst>
          </a:prstGeom>
          <a:solidFill>
            <a:srgbClr val="DADBF1"/>
          </a:solidFill>
          <a:ln w="4763">
            <a:solidFill>
              <a:srgbClr val="C0C1D7"/>
            </a:solidFill>
            <a:prstDash val="solid"/>
          </a:ln>
        </p:spPr>
      </p:sp>
      <p:sp>
        <p:nvSpPr>
          <p:cNvPr id="9" name="Shape 6"/>
          <p:cNvSpPr/>
          <p:nvPr/>
        </p:nvSpPr>
        <p:spPr>
          <a:xfrm>
            <a:off x="3225180" y="788380"/>
            <a:ext cx="212601" cy="212601"/>
          </a:xfrm>
          <a:prstGeom prst="ellipse">
            <a:avLst/>
          </a:prstGeom>
          <a:solidFill>
            <a:srgbClr val="DADBF1"/>
          </a:solidFill>
          <a:ln w="4763">
            <a:solidFill>
              <a:srgbClr val="C0C1D7"/>
            </a:solidFill>
            <a:prstDash val="solid"/>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78312" y="841586"/>
            <a:ext cx="106263" cy="106263"/>
          </a:xfrm>
          <a:prstGeom prst="rect">
            <a:avLst/>
          </a:prstGeom>
        </p:spPr>
      </p:pic>
      <p:sp>
        <p:nvSpPr>
          <p:cNvPr id="11" name="Text 7"/>
          <p:cNvSpPr/>
          <p:nvPr/>
        </p:nvSpPr>
        <p:spPr>
          <a:xfrm>
            <a:off x="3296022" y="1036439"/>
            <a:ext cx="2551956" cy="110728"/>
          </a:xfrm>
          <a:prstGeom prst="rect">
            <a:avLst/>
          </a:prstGeom>
          <a:noFill/>
          <a:ln/>
        </p:spPr>
        <p:txBody>
          <a:bodyPr wrap="none" lIns="0" tIns="0" rIns="0" bIns="0" rtlCol="0" anchor="t"/>
          <a:lstStyle/>
          <a:p>
            <a:pPr algn="l" indent="0" marL="0">
              <a:lnSpc>
                <a:spcPct val="104000"/>
              </a:lnSpc>
              <a:buNone/>
            </a:pPr>
            <a:r>
              <a:rPr lang="en-US" sz="650" b="1" dirty="0">
                <a:solidFill>
                  <a:srgbClr val="272525"/>
                </a:solidFill>
                <a:latin typeface="Inter Bold" pitchFamily="34" charset="0"/>
                <a:ea typeface="Inter Bold" pitchFamily="34" charset="-122"/>
                <a:cs typeface="Inter Bold" pitchFamily="34" charset="-120"/>
              </a:rPr>
              <a:t>ETL Pipeline Layer</a:t>
            </a:r>
            <a:endParaRPr lang="en-US" sz="650" dirty="0"/>
          </a:p>
        </p:txBody>
      </p:sp>
      <p:sp>
        <p:nvSpPr>
          <p:cNvPr id="12" name="Text 8"/>
          <p:cNvSpPr/>
          <p:nvPr/>
        </p:nvSpPr>
        <p:spPr>
          <a:xfrm>
            <a:off x="3296022" y="1168375"/>
            <a:ext cx="2551956"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Ingestion, Cleaning, Feature Engineering</a:t>
            </a:r>
            <a:endParaRPr lang="en-US" sz="550" dirty="0"/>
          </a:p>
        </p:txBody>
      </p:sp>
      <p:sp>
        <p:nvSpPr>
          <p:cNvPr id="13" name="Shape 9"/>
          <p:cNvSpPr/>
          <p:nvPr/>
        </p:nvSpPr>
        <p:spPr>
          <a:xfrm>
            <a:off x="6060504" y="752996"/>
            <a:ext cx="2587303" cy="70842"/>
          </a:xfrm>
          <a:prstGeom prst="roundRect">
            <a:avLst>
              <a:gd name="adj" fmla="val 42025"/>
            </a:avLst>
          </a:prstGeom>
          <a:solidFill>
            <a:srgbClr val="DADBF1"/>
          </a:solidFill>
          <a:ln w="4763">
            <a:solidFill>
              <a:srgbClr val="C0C1D7"/>
            </a:solidFill>
            <a:prstDash val="solid"/>
          </a:ln>
        </p:spPr>
      </p:sp>
      <p:sp>
        <p:nvSpPr>
          <p:cNvPr id="14" name="Shape 10"/>
          <p:cNvSpPr/>
          <p:nvPr/>
        </p:nvSpPr>
        <p:spPr>
          <a:xfrm>
            <a:off x="5954241" y="682117"/>
            <a:ext cx="212601" cy="212601"/>
          </a:xfrm>
          <a:prstGeom prst="ellipse">
            <a:avLst/>
          </a:prstGeom>
          <a:solidFill>
            <a:srgbClr val="DADBF1"/>
          </a:solidFill>
          <a:ln w="4763">
            <a:solidFill>
              <a:srgbClr val="C0C1D7"/>
            </a:solidFill>
            <a:prstDash val="solid"/>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07373" y="735323"/>
            <a:ext cx="106263" cy="106263"/>
          </a:xfrm>
          <a:prstGeom prst="rect">
            <a:avLst/>
          </a:prstGeom>
        </p:spPr>
      </p:pic>
      <p:sp>
        <p:nvSpPr>
          <p:cNvPr id="16" name="Text 11"/>
          <p:cNvSpPr/>
          <p:nvPr/>
        </p:nvSpPr>
        <p:spPr>
          <a:xfrm>
            <a:off x="6025083" y="930176"/>
            <a:ext cx="2551956" cy="110728"/>
          </a:xfrm>
          <a:prstGeom prst="rect">
            <a:avLst/>
          </a:prstGeom>
          <a:noFill/>
          <a:ln/>
        </p:spPr>
        <p:txBody>
          <a:bodyPr wrap="none" lIns="0" tIns="0" rIns="0" bIns="0" rtlCol="0" anchor="t"/>
          <a:lstStyle/>
          <a:p>
            <a:pPr algn="l" indent="0" marL="0">
              <a:lnSpc>
                <a:spcPct val="104000"/>
              </a:lnSpc>
              <a:buNone/>
            </a:pPr>
            <a:r>
              <a:rPr lang="en-US" sz="650" b="1" dirty="0">
                <a:solidFill>
                  <a:srgbClr val="272525"/>
                </a:solidFill>
                <a:latin typeface="Inter Bold" pitchFamily="34" charset="0"/>
                <a:ea typeface="Inter Bold" pitchFamily="34" charset="-122"/>
                <a:cs typeface="Inter Bold" pitchFamily="34" charset="-120"/>
              </a:rPr>
              <a:t>Storage &amp; Context Layer</a:t>
            </a:r>
            <a:endParaRPr lang="en-US" sz="650" dirty="0"/>
          </a:p>
        </p:txBody>
      </p:sp>
      <p:sp>
        <p:nvSpPr>
          <p:cNvPr id="17" name="Text 12"/>
          <p:cNvSpPr/>
          <p:nvPr/>
        </p:nvSpPr>
        <p:spPr>
          <a:xfrm>
            <a:off x="6025083" y="1062112"/>
            <a:ext cx="2551956"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PostgreSQL 15 | In-Memory Cache (NOW)</a:t>
            </a:r>
            <a:endParaRPr lang="en-US" sz="550" dirty="0"/>
          </a:p>
        </p:txBody>
      </p:sp>
      <p:sp>
        <p:nvSpPr>
          <p:cNvPr id="18" name="Shape 13"/>
          <p:cNvSpPr/>
          <p:nvPr/>
        </p:nvSpPr>
        <p:spPr>
          <a:xfrm>
            <a:off x="602382" y="1749475"/>
            <a:ext cx="2587303" cy="70842"/>
          </a:xfrm>
          <a:prstGeom prst="roundRect">
            <a:avLst>
              <a:gd name="adj" fmla="val 42025"/>
            </a:avLst>
          </a:prstGeom>
          <a:solidFill>
            <a:srgbClr val="DADBF1"/>
          </a:solidFill>
          <a:ln w="4763">
            <a:solidFill>
              <a:srgbClr val="C0C1D7"/>
            </a:solidFill>
            <a:prstDash val="solid"/>
          </a:ln>
        </p:spPr>
      </p:sp>
      <p:sp>
        <p:nvSpPr>
          <p:cNvPr id="19" name="Shape 14"/>
          <p:cNvSpPr/>
          <p:nvPr/>
        </p:nvSpPr>
        <p:spPr>
          <a:xfrm>
            <a:off x="496119" y="1678595"/>
            <a:ext cx="212601" cy="212601"/>
          </a:xfrm>
          <a:prstGeom prst="ellipse">
            <a:avLst/>
          </a:prstGeom>
          <a:solidFill>
            <a:srgbClr val="DADBF1"/>
          </a:solidFill>
          <a:ln w="4763">
            <a:solidFill>
              <a:srgbClr val="C0C1D7"/>
            </a:solidFill>
            <a:prstDash val="solid"/>
          </a:ln>
        </p:spPr>
      </p:sp>
      <p:pic>
        <p:nvPicPr>
          <p:cNvPr id="2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9250" y="1731801"/>
            <a:ext cx="106263" cy="106263"/>
          </a:xfrm>
          <a:prstGeom prst="rect">
            <a:avLst/>
          </a:prstGeom>
        </p:spPr>
      </p:pic>
      <p:sp>
        <p:nvSpPr>
          <p:cNvPr id="21" name="Text 15"/>
          <p:cNvSpPr/>
          <p:nvPr/>
        </p:nvSpPr>
        <p:spPr>
          <a:xfrm>
            <a:off x="566961" y="1926654"/>
            <a:ext cx="2551956" cy="110728"/>
          </a:xfrm>
          <a:prstGeom prst="rect">
            <a:avLst/>
          </a:prstGeom>
          <a:noFill/>
          <a:ln/>
        </p:spPr>
        <p:txBody>
          <a:bodyPr wrap="none" lIns="0" tIns="0" rIns="0" bIns="0" rtlCol="0" anchor="t"/>
          <a:lstStyle/>
          <a:p>
            <a:pPr algn="l" indent="0" marL="0">
              <a:lnSpc>
                <a:spcPct val="104000"/>
              </a:lnSpc>
              <a:buNone/>
            </a:pPr>
            <a:r>
              <a:rPr lang="en-US" sz="650" b="1" dirty="0">
                <a:solidFill>
                  <a:srgbClr val="272525"/>
                </a:solidFill>
                <a:latin typeface="Inter Bold" pitchFamily="34" charset="0"/>
                <a:ea typeface="Inter Bold" pitchFamily="34" charset="-122"/>
                <a:cs typeface="Inter Bold" pitchFamily="34" charset="-120"/>
              </a:rPr>
              <a:t>Machine Learning Engine</a:t>
            </a:r>
            <a:endParaRPr lang="en-US" sz="650" dirty="0"/>
          </a:p>
        </p:txBody>
      </p:sp>
      <p:sp>
        <p:nvSpPr>
          <p:cNvPr id="22" name="Text 16"/>
          <p:cNvSpPr/>
          <p:nvPr/>
        </p:nvSpPr>
        <p:spPr>
          <a:xfrm>
            <a:off x="566961" y="2058591"/>
            <a:ext cx="2551956"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K-Means (K=4), Multi-Factor Ranking, Personalized Recommendation</a:t>
            </a:r>
            <a:endParaRPr lang="en-US" sz="550" dirty="0"/>
          </a:p>
        </p:txBody>
      </p:sp>
      <p:sp>
        <p:nvSpPr>
          <p:cNvPr id="23" name="Shape 17"/>
          <p:cNvSpPr/>
          <p:nvPr/>
        </p:nvSpPr>
        <p:spPr>
          <a:xfrm>
            <a:off x="3331443" y="1643137"/>
            <a:ext cx="2587303" cy="70842"/>
          </a:xfrm>
          <a:prstGeom prst="roundRect">
            <a:avLst>
              <a:gd name="adj" fmla="val 42025"/>
            </a:avLst>
          </a:prstGeom>
          <a:solidFill>
            <a:srgbClr val="DADBF1"/>
          </a:solidFill>
          <a:ln w="4763">
            <a:solidFill>
              <a:srgbClr val="C0C1D7"/>
            </a:solidFill>
            <a:prstDash val="solid"/>
          </a:ln>
        </p:spPr>
      </p:sp>
      <p:sp>
        <p:nvSpPr>
          <p:cNvPr id="24" name="Shape 18"/>
          <p:cNvSpPr/>
          <p:nvPr/>
        </p:nvSpPr>
        <p:spPr>
          <a:xfrm>
            <a:off x="3225180" y="1572258"/>
            <a:ext cx="212601" cy="212601"/>
          </a:xfrm>
          <a:prstGeom prst="ellipse">
            <a:avLst/>
          </a:prstGeom>
          <a:solidFill>
            <a:srgbClr val="DADBF1"/>
          </a:solidFill>
          <a:ln w="4763">
            <a:solidFill>
              <a:srgbClr val="C0C1D7"/>
            </a:solidFill>
            <a:prstDash val="solid"/>
          </a:ln>
        </p:spPr>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278312" y="1625464"/>
            <a:ext cx="106263" cy="106263"/>
          </a:xfrm>
          <a:prstGeom prst="rect">
            <a:avLst/>
          </a:prstGeom>
        </p:spPr>
      </p:pic>
      <p:sp>
        <p:nvSpPr>
          <p:cNvPr id="26" name="Text 19"/>
          <p:cNvSpPr/>
          <p:nvPr/>
        </p:nvSpPr>
        <p:spPr>
          <a:xfrm>
            <a:off x="3296022" y="1820317"/>
            <a:ext cx="2551956" cy="110728"/>
          </a:xfrm>
          <a:prstGeom prst="rect">
            <a:avLst/>
          </a:prstGeom>
          <a:noFill/>
          <a:ln/>
        </p:spPr>
        <p:txBody>
          <a:bodyPr wrap="none" lIns="0" tIns="0" rIns="0" bIns="0" rtlCol="0" anchor="t"/>
          <a:lstStyle/>
          <a:p>
            <a:pPr algn="l" indent="0" marL="0">
              <a:lnSpc>
                <a:spcPct val="104000"/>
              </a:lnSpc>
              <a:buNone/>
            </a:pPr>
            <a:r>
              <a:rPr lang="en-US" sz="650" b="1" dirty="0">
                <a:solidFill>
                  <a:srgbClr val="272525"/>
                </a:solidFill>
                <a:latin typeface="Inter Bold" pitchFamily="34" charset="0"/>
                <a:ea typeface="Inter Bold" pitchFamily="34" charset="-122"/>
                <a:cs typeface="Inter Bold" pitchFamily="34" charset="-120"/>
              </a:rPr>
              <a:t>API Service Layer</a:t>
            </a:r>
            <a:endParaRPr lang="en-US" sz="650" dirty="0"/>
          </a:p>
        </p:txBody>
      </p:sp>
      <p:sp>
        <p:nvSpPr>
          <p:cNvPr id="27" name="Text 20"/>
          <p:cNvSpPr/>
          <p:nvPr/>
        </p:nvSpPr>
        <p:spPr>
          <a:xfrm>
            <a:off x="3296022" y="1952253"/>
            <a:ext cx="2551956"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FastAPI | REST endpoints</a:t>
            </a:r>
            <a:endParaRPr lang="en-US" sz="550" dirty="0"/>
          </a:p>
        </p:txBody>
      </p:sp>
      <p:sp>
        <p:nvSpPr>
          <p:cNvPr id="28" name="Shape 21"/>
          <p:cNvSpPr/>
          <p:nvPr/>
        </p:nvSpPr>
        <p:spPr>
          <a:xfrm>
            <a:off x="6060504" y="1536874"/>
            <a:ext cx="2587303" cy="70842"/>
          </a:xfrm>
          <a:prstGeom prst="roundRect">
            <a:avLst>
              <a:gd name="adj" fmla="val 42025"/>
            </a:avLst>
          </a:prstGeom>
          <a:solidFill>
            <a:srgbClr val="DADBF1"/>
          </a:solidFill>
          <a:ln w="4763">
            <a:solidFill>
              <a:srgbClr val="C0C1D7"/>
            </a:solidFill>
            <a:prstDash val="solid"/>
          </a:ln>
        </p:spPr>
      </p:sp>
      <p:sp>
        <p:nvSpPr>
          <p:cNvPr id="29" name="Shape 22"/>
          <p:cNvSpPr/>
          <p:nvPr/>
        </p:nvSpPr>
        <p:spPr>
          <a:xfrm>
            <a:off x="5954241" y="1465994"/>
            <a:ext cx="212601" cy="212601"/>
          </a:xfrm>
          <a:prstGeom prst="ellipse">
            <a:avLst/>
          </a:prstGeom>
          <a:solidFill>
            <a:srgbClr val="DADBF1"/>
          </a:solidFill>
          <a:ln w="4763">
            <a:solidFill>
              <a:srgbClr val="C0C1D7"/>
            </a:solidFill>
            <a:prstDash val="solid"/>
          </a:ln>
        </p:spPr>
      </p:sp>
      <p:pic>
        <p:nvPicPr>
          <p:cNvPr id="30"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007373" y="1519200"/>
            <a:ext cx="106263" cy="106263"/>
          </a:xfrm>
          <a:prstGeom prst="rect">
            <a:avLst/>
          </a:prstGeom>
        </p:spPr>
      </p:pic>
      <p:sp>
        <p:nvSpPr>
          <p:cNvPr id="31" name="Text 23"/>
          <p:cNvSpPr/>
          <p:nvPr/>
        </p:nvSpPr>
        <p:spPr>
          <a:xfrm>
            <a:off x="6025083" y="1714054"/>
            <a:ext cx="2551956" cy="110728"/>
          </a:xfrm>
          <a:prstGeom prst="rect">
            <a:avLst/>
          </a:prstGeom>
          <a:noFill/>
          <a:ln/>
        </p:spPr>
        <p:txBody>
          <a:bodyPr wrap="none" lIns="0" tIns="0" rIns="0" bIns="0" rtlCol="0" anchor="t"/>
          <a:lstStyle/>
          <a:p>
            <a:pPr algn="l" indent="0" marL="0">
              <a:lnSpc>
                <a:spcPct val="104000"/>
              </a:lnSpc>
              <a:buNone/>
            </a:pPr>
            <a:r>
              <a:rPr lang="en-US" sz="650" b="1" dirty="0">
                <a:solidFill>
                  <a:srgbClr val="272525"/>
                </a:solidFill>
                <a:latin typeface="Inter Bold" pitchFamily="34" charset="0"/>
                <a:ea typeface="Inter Bold" pitchFamily="34" charset="-122"/>
                <a:cs typeface="Inter Bold" pitchFamily="34" charset="-120"/>
              </a:rPr>
              <a:t>UI Layer</a:t>
            </a:r>
            <a:endParaRPr lang="en-US" sz="650" dirty="0"/>
          </a:p>
        </p:txBody>
      </p:sp>
      <p:sp>
        <p:nvSpPr>
          <p:cNvPr id="32" name="Text 24"/>
          <p:cNvSpPr/>
          <p:nvPr/>
        </p:nvSpPr>
        <p:spPr>
          <a:xfrm>
            <a:off x="6025083" y="1845990"/>
            <a:ext cx="2551956"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Streamlit |  dashboard</a:t>
            </a:r>
            <a:endParaRPr lang="en-US" sz="550" dirty="0"/>
          </a:p>
        </p:txBody>
      </p:sp>
      <p:pic>
        <p:nvPicPr>
          <p:cNvPr id="33" name="Image 6" descr="preencoded.png">    </p:cNvPr>
          <p:cNvPicPr>
            <a:picLocks noChangeAspect="1"/>
          </p:cNvPicPr>
          <p:nvPr/>
        </p:nvPicPr>
        <p:blipFill>
          <a:blip r:embed="rId13"/>
          <a:stretch>
            <a:fillRect/>
          </a:stretch>
        </p:blipFill>
        <p:spPr>
          <a:xfrm>
            <a:off x="496119" y="2254300"/>
            <a:ext cx="8151763" cy="3730600"/>
          </a:xfrm>
          <a:prstGeom prst="rect">
            <a:avLst/>
          </a:prstGeom>
        </p:spPr>
      </p:pic>
      <p:sp>
        <p:nvSpPr>
          <p:cNvPr id="34" name="Text 25"/>
          <p:cNvSpPr/>
          <p:nvPr/>
        </p:nvSpPr>
        <p:spPr>
          <a:xfrm>
            <a:off x="6467310" y="2704590"/>
            <a:ext cx="1803246" cy="225406"/>
          </a:xfrm>
          <a:prstGeom prst="rect">
            <a:avLst/>
          </a:prstGeom>
          <a:noFill/>
          <a:ln/>
        </p:spPr>
        <p:txBody>
          <a:bodyPr wrap="none" lIns="0" tIns="0" rIns="0" bIns="0" rtlCol="0" anchor="t"/>
          <a:lstStyle/>
          <a:p>
            <a:pPr algn="l" indent="0" marL="0">
              <a:lnSpc>
                <a:spcPct val="104000"/>
              </a:lnSpc>
              <a:buNone/>
            </a:pPr>
            <a:r>
              <a:rPr lang="en-US" sz="1400" b="1" dirty="0">
                <a:solidFill>
                  <a:srgbClr val="272525"/>
                </a:solidFill>
                <a:latin typeface="Inter Bold" pitchFamily="34" charset="0"/>
                <a:ea typeface="Inter Bold" pitchFamily="34" charset="-122"/>
                <a:cs typeface="Inter Bold" pitchFamily="34" charset="-120"/>
              </a:rPr>
              <a:t>ML, API &amp; UI</a:t>
            </a:r>
            <a:endParaRPr lang="en-US" sz="1400" dirty="0"/>
          </a:p>
        </p:txBody>
      </p:sp>
      <p:sp>
        <p:nvSpPr>
          <p:cNvPr id="35" name="Text 26"/>
          <p:cNvSpPr/>
          <p:nvPr/>
        </p:nvSpPr>
        <p:spPr>
          <a:xfrm>
            <a:off x="6467310" y="2994111"/>
            <a:ext cx="1987578" cy="405730"/>
          </a:xfrm>
          <a:prstGeom prst="rect">
            <a:avLst/>
          </a:prstGeom>
          <a:noFill/>
          <a:ln/>
        </p:spPr>
        <p:txBody>
          <a:bodyPr wrap="square" lIns="0" tIns="0" rIns="0" bIns="0" rtlCol="0" anchor="t">
            <a:normAutofit/>
          </a:bodyPr>
          <a:lstStyle/>
          <a:p>
            <a:pPr algn="l" indent="0" marL="0">
              <a:lnSpc>
                <a:spcPct val="78000"/>
              </a:lnSpc>
              <a:buNone/>
            </a:pPr>
            <a:r>
              <a:rPr lang="en-US" sz="1100" dirty="0">
                <a:solidFill>
                  <a:srgbClr val="272525"/>
                </a:solidFill>
                <a:latin typeface="Inter" pitchFamily="34" charset="0"/>
                <a:ea typeface="Inter" pitchFamily="34" charset="-122"/>
                <a:cs typeface="Inter" pitchFamily="34" charset="-120"/>
              </a:rPr>
              <a:t>K-Means K=4, ranking; FastAPI endpoints; Streamlit dashboard</a:t>
            </a:r>
            <a:endParaRPr lang="en-US" sz="1100" dirty="0"/>
          </a:p>
        </p:txBody>
      </p:sp>
      <p:sp>
        <p:nvSpPr>
          <p:cNvPr id="36" name="Text 27"/>
          <p:cNvSpPr/>
          <p:nvPr/>
        </p:nvSpPr>
        <p:spPr>
          <a:xfrm>
            <a:off x="712951" y="3930798"/>
            <a:ext cx="1803247" cy="225406"/>
          </a:xfrm>
          <a:prstGeom prst="rect">
            <a:avLst/>
          </a:prstGeom>
          <a:noFill/>
          <a:ln/>
        </p:spPr>
        <p:txBody>
          <a:bodyPr wrap="none" lIns="0" tIns="0" rIns="0" bIns="0" rtlCol="0" anchor="t"/>
          <a:lstStyle/>
          <a:p>
            <a:pPr algn="r" indent="0" marL="0">
              <a:lnSpc>
                <a:spcPct val="104000"/>
              </a:lnSpc>
              <a:buNone/>
            </a:pPr>
            <a:r>
              <a:rPr lang="en-US" sz="1400" b="1" dirty="0">
                <a:solidFill>
                  <a:srgbClr val="272525"/>
                </a:solidFill>
                <a:latin typeface="Inter Bold" pitchFamily="34" charset="0"/>
                <a:ea typeface="Inter Bold" pitchFamily="34" charset="-122"/>
                <a:cs typeface="Inter Bold" pitchFamily="34" charset="-120"/>
              </a:rPr>
              <a:t>ETL &amp; Storage</a:t>
            </a:r>
            <a:endParaRPr lang="en-US" sz="1400" dirty="0"/>
          </a:p>
        </p:txBody>
      </p:sp>
      <p:sp>
        <p:nvSpPr>
          <p:cNvPr id="37" name="Text 28"/>
          <p:cNvSpPr/>
          <p:nvPr/>
        </p:nvSpPr>
        <p:spPr>
          <a:xfrm>
            <a:off x="688908" y="4220319"/>
            <a:ext cx="1827290" cy="405730"/>
          </a:xfrm>
          <a:prstGeom prst="rect">
            <a:avLst/>
          </a:prstGeom>
          <a:noFill/>
          <a:ln/>
        </p:spPr>
        <p:txBody>
          <a:bodyPr wrap="square" lIns="0" tIns="0" rIns="0" bIns="0" rtlCol="0" anchor="t">
            <a:normAutofit/>
          </a:bodyPr>
          <a:lstStyle/>
          <a:p>
            <a:pPr algn="r" indent="0" marL="0">
              <a:lnSpc>
                <a:spcPct val="78000"/>
              </a:lnSpc>
              <a:buNone/>
            </a:pPr>
            <a:r>
              <a:rPr lang="en-US" sz="1100" dirty="0">
                <a:solidFill>
                  <a:srgbClr val="272525"/>
                </a:solidFill>
                <a:latin typeface="Inter" pitchFamily="34" charset="0"/>
                <a:ea typeface="Inter" pitchFamily="34" charset="-122"/>
                <a:cs typeface="Inter" pitchFamily="34" charset="-120"/>
              </a:rPr>
              <a:t>Ingestion, cleaning, feature engineering; PostgreSQL 15 &amp; cache</a:t>
            </a:r>
            <a:endParaRPr lang="en-US" sz="1100" dirty="0"/>
          </a:p>
        </p:txBody>
      </p:sp>
      <p:sp>
        <p:nvSpPr>
          <p:cNvPr id="38" name="Text 29"/>
          <p:cNvSpPr/>
          <p:nvPr/>
        </p:nvSpPr>
        <p:spPr>
          <a:xfrm>
            <a:off x="6467310" y="4631559"/>
            <a:ext cx="1803246" cy="225406"/>
          </a:xfrm>
          <a:prstGeom prst="rect">
            <a:avLst/>
          </a:prstGeom>
          <a:noFill/>
          <a:ln/>
        </p:spPr>
        <p:txBody>
          <a:bodyPr wrap="none" lIns="0" tIns="0" rIns="0" bIns="0" rtlCol="0" anchor="t"/>
          <a:lstStyle/>
          <a:p>
            <a:pPr algn="l" indent="0" marL="0">
              <a:lnSpc>
                <a:spcPct val="104000"/>
              </a:lnSpc>
              <a:buNone/>
            </a:pPr>
            <a:r>
              <a:rPr lang="en-US" sz="1400" b="1" dirty="0">
                <a:solidFill>
                  <a:srgbClr val="272525"/>
                </a:solidFill>
                <a:latin typeface="Inter Bold" pitchFamily="34" charset="0"/>
                <a:ea typeface="Inter Bold" pitchFamily="34" charset="-122"/>
                <a:cs typeface="Inter Bold" pitchFamily="34" charset="-120"/>
              </a:rPr>
              <a:t>Data Source</a:t>
            </a:r>
            <a:endParaRPr lang="en-US" sz="1400" dirty="0"/>
          </a:p>
        </p:txBody>
      </p:sp>
      <p:sp>
        <p:nvSpPr>
          <p:cNvPr id="39" name="Text 30"/>
          <p:cNvSpPr/>
          <p:nvPr/>
        </p:nvSpPr>
        <p:spPr>
          <a:xfrm>
            <a:off x="6467310" y="4921081"/>
            <a:ext cx="1987578" cy="270486"/>
          </a:xfrm>
          <a:prstGeom prst="rect">
            <a:avLst/>
          </a:prstGeom>
          <a:noFill/>
          <a:ln/>
        </p:spPr>
        <p:txBody>
          <a:bodyPr wrap="square" lIns="0" tIns="0" rIns="0" bIns="0" rtlCol="0" anchor="t">
            <a:normAutofit/>
          </a:bodyPr>
          <a:lstStyle/>
          <a:p>
            <a:pPr algn="l" indent="0" marL="0">
              <a:lnSpc>
                <a:spcPct val="78000"/>
              </a:lnSpc>
              <a:buNone/>
            </a:pPr>
            <a:r>
              <a:rPr lang="en-US" sz="1100" dirty="0">
                <a:solidFill>
                  <a:srgbClr val="272525"/>
                </a:solidFill>
                <a:latin typeface="Inter" pitchFamily="34" charset="0"/>
                <a:ea typeface="Inter" pitchFamily="34" charset="-122"/>
                <a:cs typeface="Inter" pitchFamily="34" charset="-120"/>
              </a:rPr>
              <a:t>AMFI NAVAll.txt — 14,341 schemes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396925"/>
            <a:ext cx="8151763" cy="366861"/>
          </a:xfrm>
          <a:prstGeom prst="rect">
            <a:avLst/>
          </a:prstGeom>
          <a:noFill/>
          <a:ln/>
        </p:spPr>
        <p:txBody>
          <a:bodyPr wrap="none" lIns="0" tIns="0" rIns="0" bIns="0" rtlCol="0" anchor="t"/>
          <a:lstStyle/>
          <a:p>
            <a:pPr algn="l" indent="0" marL="0">
              <a:lnSpc>
                <a:spcPct val="104000"/>
              </a:lnSpc>
              <a:buNone/>
            </a:pPr>
            <a:r>
              <a:rPr lang="en-US" sz="2300" b="1" dirty="0">
                <a:solidFill>
                  <a:srgbClr val="000000"/>
                </a:solidFill>
                <a:latin typeface="Inter Bold" pitchFamily="34" charset="0"/>
                <a:ea typeface="Inter Bold" pitchFamily="34" charset="-122"/>
                <a:cs typeface="Inter Bold" pitchFamily="34" charset="-120"/>
              </a:rPr>
              <a:t>Machine Learning Overview</a:t>
            </a:r>
            <a:endParaRPr lang="en-US" sz="2300" dirty="0"/>
          </a:p>
        </p:txBody>
      </p:sp>
      <p:sp>
        <p:nvSpPr>
          <p:cNvPr id="3" name="Text 1"/>
          <p:cNvSpPr/>
          <p:nvPr/>
        </p:nvSpPr>
        <p:spPr>
          <a:xfrm>
            <a:off x="496119" y="958230"/>
            <a:ext cx="8151763" cy="515020"/>
          </a:xfrm>
          <a:prstGeom prst="rect">
            <a:avLst/>
          </a:prstGeom>
          <a:noFill/>
          <a:ln/>
        </p:spPr>
        <p:txBody>
          <a:bodyPr wrap="square" lIns="0" tIns="0" rIns="0" bIns="0" rtlCol="0" anchor="t">
            <a:normAutofit/>
          </a:bodyPr>
          <a:lstStyle/>
          <a:p>
            <a:pPr algn="l" indent="0" marL="0">
              <a:lnSpc>
                <a:spcPct val="122000"/>
              </a:lnSpc>
              <a:buNone/>
            </a:pPr>
            <a:r>
              <a:rPr lang="en-US" sz="900" dirty="0">
                <a:solidFill>
                  <a:srgbClr val="272525"/>
                </a:solidFill>
                <a:latin typeface="Inter" pitchFamily="34" charset="0"/>
                <a:ea typeface="Inter" pitchFamily="34" charset="-122"/>
                <a:cs typeface="Inter" pitchFamily="34" charset="-120"/>
              </a:rPr>
              <a:t>The machine learning component of this project is designed as an interpretable, calculation-driven pipeline for mutual fund analysis. It transforms raw NAV time-series data into structured financial signals, groups similar schemes, and produces transparent recommendations aligned with investor risk profiles.</a:t>
            </a:r>
            <a:endParaRPr lang="en-US" sz="900" dirty="0"/>
          </a:p>
        </p:txBody>
      </p:sp>
      <p:sp>
        <p:nvSpPr>
          <p:cNvPr id="4" name="Text 2"/>
          <p:cNvSpPr/>
          <p:nvPr/>
        </p:nvSpPr>
        <p:spPr>
          <a:xfrm>
            <a:off x="496119" y="1619027"/>
            <a:ext cx="8151763" cy="183431"/>
          </a:xfrm>
          <a:prstGeom prst="rect">
            <a:avLst/>
          </a:prstGeom>
          <a:noFill/>
          <a:ln/>
        </p:spPr>
        <p:txBody>
          <a:bodyPr wrap="none" lIns="0" tIns="0" rIns="0" bIns="0" rtlCol="0" anchor="t"/>
          <a:lstStyle/>
          <a:p>
            <a:pPr algn="l" indent="0" marL="0">
              <a:lnSpc>
                <a:spcPct val="104000"/>
              </a:lnSpc>
              <a:buNone/>
            </a:pPr>
            <a:r>
              <a:rPr lang="en-US" sz="1150" b="1" dirty="0">
                <a:solidFill>
                  <a:srgbClr val="000000"/>
                </a:solidFill>
                <a:latin typeface="Inter Bold" pitchFamily="34" charset="0"/>
                <a:ea typeface="Inter Bold" pitchFamily="34" charset="-122"/>
                <a:cs typeface="Inter Bold" pitchFamily="34" charset="-120"/>
              </a:rPr>
              <a:t>Stage 1: Deterministic Feature Engineering</a:t>
            </a:r>
            <a:endParaRPr lang="en-US" sz="1150" dirty="0"/>
          </a:p>
        </p:txBody>
      </p:sp>
      <p:sp>
        <p:nvSpPr>
          <p:cNvPr id="5" name="Text 3"/>
          <p:cNvSpPr/>
          <p:nvPr/>
        </p:nvSpPr>
        <p:spPr>
          <a:xfrm>
            <a:off x="496119" y="1948235"/>
            <a:ext cx="8151763" cy="343346"/>
          </a:xfrm>
          <a:prstGeom prst="rect">
            <a:avLst/>
          </a:prstGeom>
          <a:noFill/>
          <a:ln/>
        </p:spPr>
        <p:txBody>
          <a:bodyPr wrap="square" lIns="0" tIns="0" rIns="0" bIns="0" rtlCol="0" anchor="t">
            <a:normAutofit/>
          </a:bodyPr>
          <a:lstStyle/>
          <a:p>
            <a:pPr algn="l" indent="0" marL="0">
              <a:lnSpc>
                <a:spcPct val="122000"/>
              </a:lnSpc>
              <a:buNone/>
            </a:pPr>
            <a:r>
              <a:rPr lang="en-US" sz="900" dirty="0">
                <a:solidFill>
                  <a:srgbClr val="272525"/>
                </a:solidFill>
                <a:latin typeface="Inter" pitchFamily="34" charset="0"/>
                <a:ea typeface="Inter" pitchFamily="34" charset="-122"/>
                <a:cs typeface="Inter" pitchFamily="34" charset="-120"/>
              </a:rPr>
              <a:t>Raw NAV data is converted into financial indicators such as moving averages, volatility, Sharpe ratio, maximum drawdown, RSI, and trend strength. These engineered metrics form a structured feature space that represents each fund in a consistent, auditable way.</a:t>
            </a:r>
            <a:endParaRPr lang="en-US" sz="900" dirty="0"/>
          </a:p>
        </p:txBody>
      </p:sp>
      <p:sp>
        <p:nvSpPr>
          <p:cNvPr id="6" name="Text 4"/>
          <p:cNvSpPr/>
          <p:nvPr/>
        </p:nvSpPr>
        <p:spPr>
          <a:xfrm>
            <a:off x="496119" y="2437358"/>
            <a:ext cx="8151763" cy="183431"/>
          </a:xfrm>
          <a:prstGeom prst="rect">
            <a:avLst/>
          </a:prstGeom>
          <a:noFill/>
          <a:ln/>
        </p:spPr>
        <p:txBody>
          <a:bodyPr wrap="none" lIns="0" tIns="0" rIns="0" bIns="0" rtlCol="0" anchor="t"/>
          <a:lstStyle/>
          <a:p>
            <a:pPr algn="l" indent="0" marL="0">
              <a:lnSpc>
                <a:spcPct val="104000"/>
              </a:lnSpc>
              <a:buNone/>
            </a:pPr>
            <a:r>
              <a:rPr lang="en-US" sz="1150" b="1" dirty="0">
                <a:solidFill>
                  <a:srgbClr val="000000"/>
                </a:solidFill>
                <a:latin typeface="Inter Bold" pitchFamily="34" charset="0"/>
                <a:ea typeface="Inter Bold" pitchFamily="34" charset="-122"/>
                <a:cs typeface="Inter Bold" pitchFamily="34" charset="-120"/>
              </a:rPr>
              <a:t>Stage 2: K-Means Clustering</a:t>
            </a:r>
            <a:endParaRPr lang="en-US" sz="1150" dirty="0"/>
          </a:p>
        </p:txBody>
      </p:sp>
      <p:sp>
        <p:nvSpPr>
          <p:cNvPr id="7" name="Text 5"/>
          <p:cNvSpPr/>
          <p:nvPr/>
        </p:nvSpPr>
        <p:spPr>
          <a:xfrm>
            <a:off x="496119" y="2766566"/>
            <a:ext cx="8151763" cy="343346"/>
          </a:xfrm>
          <a:prstGeom prst="rect">
            <a:avLst/>
          </a:prstGeom>
          <a:noFill/>
          <a:ln/>
        </p:spPr>
        <p:txBody>
          <a:bodyPr wrap="square" lIns="0" tIns="0" rIns="0" bIns="0" rtlCol="0" anchor="t">
            <a:normAutofit/>
          </a:bodyPr>
          <a:lstStyle/>
          <a:p>
            <a:pPr algn="l" indent="0" marL="0">
              <a:lnSpc>
                <a:spcPct val="122000"/>
              </a:lnSpc>
              <a:buNone/>
            </a:pPr>
            <a:r>
              <a:rPr lang="en-US" sz="900" dirty="0">
                <a:solidFill>
                  <a:srgbClr val="272525"/>
                </a:solidFill>
                <a:latin typeface="Inter" pitchFamily="34" charset="0"/>
                <a:ea typeface="Inter" pitchFamily="34" charset="-122"/>
                <a:cs typeface="Inter" pitchFamily="34" charset="-120"/>
              </a:rPr>
              <a:t>The system applies K-Means clustering with </a:t>
            </a:r>
            <a:pPr algn="l" indent="0" marL="0">
              <a:lnSpc>
                <a:spcPct val="122000"/>
              </a:lnSpc>
              <a:buNone/>
            </a:pPr>
            <a:r>
              <a:rPr lang="en-US" sz="900" b="1" dirty="0">
                <a:solidFill>
                  <a:srgbClr val="272525"/>
                </a:solidFill>
                <a:latin typeface="Inter Bold" pitchFamily="34" charset="0"/>
                <a:ea typeface="Inter Bold" pitchFamily="34" charset="-122"/>
                <a:cs typeface="Inter Bold" pitchFamily="34" charset="-120"/>
              </a:rPr>
              <a:t>K = 4</a:t>
            </a:r>
            <a:pPr algn="l" indent="0" marL="0">
              <a:lnSpc>
                <a:spcPct val="122000"/>
              </a:lnSpc>
              <a:buNone/>
            </a:pPr>
            <a:r>
              <a:rPr lang="en-US" sz="900" dirty="0">
                <a:solidFill>
                  <a:srgbClr val="272525"/>
                </a:solidFill>
                <a:latin typeface="Inter" pitchFamily="34" charset="0"/>
                <a:ea typeface="Inter" pitchFamily="34" charset="-122"/>
                <a:cs typeface="Inter" pitchFamily="34" charset="-120"/>
              </a:rPr>
              <a:t> to group schemes with similar risk-return characteristics. This creates interpretable clusters that help organize funds into comparable categories.</a:t>
            </a:r>
            <a:endParaRPr lang="en-US" sz="900" dirty="0"/>
          </a:p>
        </p:txBody>
      </p:sp>
      <p:sp>
        <p:nvSpPr>
          <p:cNvPr id="8" name="Text 6"/>
          <p:cNvSpPr/>
          <p:nvPr/>
        </p:nvSpPr>
        <p:spPr>
          <a:xfrm>
            <a:off x="496119" y="3255690"/>
            <a:ext cx="8151763" cy="183431"/>
          </a:xfrm>
          <a:prstGeom prst="rect">
            <a:avLst/>
          </a:prstGeom>
          <a:noFill/>
          <a:ln/>
        </p:spPr>
        <p:txBody>
          <a:bodyPr wrap="none" lIns="0" tIns="0" rIns="0" bIns="0" rtlCol="0" anchor="t"/>
          <a:lstStyle/>
          <a:p>
            <a:pPr algn="l" indent="0" marL="0">
              <a:lnSpc>
                <a:spcPct val="104000"/>
              </a:lnSpc>
              <a:buNone/>
            </a:pPr>
            <a:r>
              <a:rPr lang="en-US" sz="1150" b="1" dirty="0">
                <a:solidFill>
                  <a:srgbClr val="000000"/>
                </a:solidFill>
                <a:latin typeface="Inter Bold" pitchFamily="34" charset="0"/>
                <a:ea typeface="Inter Bold" pitchFamily="34" charset="-122"/>
                <a:cs typeface="Inter Bold" pitchFamily="34" charset="-120"/>
              </a:rPr>
              <a:t>Stage 3: Multi-Factor Scoring &amp; Recommendation</a:t>
            </a:r>
            <a:endParaRPr lang="en-US" sz="1150" dirty="0"/>
          </a:p>
        </p:txBody>
      </p:sp>
      <p:sp>
        <p:nvSpPr>
          <p:cNvPr id="9" name="Text 7"/>
          <p:cNvSpPr/>
          <p:nvPr/>
        </p:nvSpPr>
        <p:spPr>
          <a:xfrm>
            <a:off x="496119" y="3584897"/>
            <a:ext cx="8151763" cy="343346"/>
          </a:xfrm>
          <a:prstGeom prst="rect">
            <a:avLst/>
          </a:prstGeom>
          <a:noFill/>
          <a:ln/>
        </p:spPr>
        <p:txBody>
          <a:bodyPr wrap="square" lIns="0" tIns="0" rIns="0" bIns="0" rtlCol="0" anchor="t">
            <a:normAutofit/>
          </a:bodyPr>
          <a:lstStyle/>
          <a:p>
            <a:pPr algn="l" indent="0" marL="0">
              <a:lnSpc>
                <a:spcPct val="122000"/>
              </a:lnSpc>
              <a:buNone/>
            </a:pPr>
            <a:r>
              <a:rPr lang="en-US" sz="900" dirty="0">
                <a:solidFill>
                  <a:srgbClr val="272525"/>
                </a:solidFill>
                <a:latin typeface="Inter" pitchFamily="34" charset="0"/>
                <a:ea typeface="Inter" pitchFamily="34" charset="-122"/>
                <a:cs typeface="Inter" pitchFamily="34" charset="-120"/>
              </a:rPr>
              <a:t>Finally, multi-factor scoring and nearest-neighbor based matching are used to rank and recommend schemes according to investor risk profiles. This stage translates the feature space and cluster structure into actionable fund recommendations.</a:t>
            </a:r>
            <a:endParaRPr lang="en-US" sz="900" dirty="0"/>
          </a:p>
        </p:txBody>
      </p:sp>
      <p:sp>
        <p:nvSpPr>
          <p:cNvPr id="10" name="Text 8"/>
          <p:cNvSpPr/>
          <p:nvPr/>
        </p:nvSpPr>
        <p:spPr>
          <a:xfrm>
            <a:off x="496119" y="4074021"/>
            <a:ext cx="8151763" cy="183431"/>
          </a:xfrm>
          <a:prstGeom prst="rect">
            <a:avLst/>
          </a:prstGeom>
          <a:noFill/>
          <a:ln/>
        </p:spPr>
        <p:txBody>
          <a:bodyPr wrap="none" lIns="0" tIns="0" rIns="0" bIns="0" rtlCol="0" anchor="t"/>
          <a:lstStyle/>
          <a:p>
            <a:pPr algn="l" indent="0" marL="0">
              <a:lnSpc>
                <a:spcPct val="104000"/>
              </a:lnSpc>
              <a:buNone/>
            </a:pPr>
            <a:r>
              <a:rPr lang="en-US" sz="1150" b="1" dirty="0">
                <a:solidFill>
                  <a:srgbClr val="000000"/>
                </a:solidFill>
                <a:latin typeface="Inter Bold" pitchFamily="34" charset="0"/>
                <a:ea typeface="Inter Bold" pitchFamily="34" charset="-122"/>
                <a:cs typeface="Inter Bold" pitchFamily="34" charset="-120"/>
              </a:rPr>
              <a:t>Key Advantage</a:t>
            </a:r>
            <a:endParaRPr lang="en-US" sz="1150" dirty="0"/>
          </a:p>
        </p:txBody>
      </p:sp>
      <p:sp>
        <p:nvSpPr>
          <p:cNvPr id="11" name="Text 9"/>
          <p:cNvSpPr/>
          <p:nvPr/>
        </p:nvSpPr>
        <p:spPr>
          <a:xfrm>
            <a:off x="496119" y="4403229"/>
            <a:ext cx="8151763" cy="343346"/>
          </a:xfrm>
          <a:prstGeom prst="rect">
            <a:avLst/>
          </a:prstGeom>
          <a:noFill/>
          <a:ln/>
        </p:spPr>
        <p:txBody>
          <a:bodyPr wrap="square" lIns="0" tIns="0" rIns="0" bIns="0" rtlCol="0" anchor="t">
            <a:normAutofit/>
          </a:bodyPr>
          <a:lstStyle/>
          <a:p>
            <a:pPr algn="l" indent="0" marL="0">
              <a:lnSpc>
                <a:spcPct val="122000"/>
              </a:lnSpc>
              <a:buNone/>
            </a:pPr>
            <a:r>
              <a:rPr lang="en-US" sz="900" dirty="0">
                <a:solidFill>
                  <a:srgbClr val="272525"/>
                </a:solidFill>
                <a:latin typeface="Inter" pitchFamily="34" charset="0"/>
                <a:ea typeface="Inter" pitchFamily="34" charset="-122"/>
                <a:cs typeface="Inter" pitchFamily="34" charset="-120"/>
              </a:rPr>
              <a:t>The output remains transparent, auditable, and directly traceable to underlying financial calculations rather than relying on a black-box model. Every recommendation can be inspected and validated from the original NAV series through to the final ranking.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444252"/>
            <a:ext cx="8151763" cy="263054"/>
          </a:xfrm>
          <a:prstGeom prst="rect">
            <a:avLst/>
          </a:prstGeom>
          <a:noFill/>
          <a:ln/>
        </p:spPr>
        <p:txBody>
          <a:bodyPr wrap="none" lIns="0" tIns="0" rIns="0" bIns="0" rtlCol="0" anchor="t"/>
          <a:lstStyle/>
          <a:p>
            <a:pPr algn="l" indent="0" marL="0">
              <a:lnSpc>
                <a:spcPct val="104000"/>
              </a:lnSpc>
              <a:buNone/>
            </a:pPr>
            <a:r>
              <a:rPr lang="en-US" sz="1650" b="1" dirty="0">
                <a:solidFill>
                  <a:srgbClr val="000000"/>
                </a:solidFill>
                <a:latin typeface="Inter Bold" pitchFamily="34" charset="0"/>
                <a:ea typeface="Inter Bold" pitchFamily="34" charset="-122"/>
                <a:cs typeface="Inter Bold" pitchFamily="34" charset="-120"/>
              </a:rPr>
              <a:t>ML Implementation &amp; Execution</a:t>
            </a:r>
            <a:endParaRPr lang="en-US" sz="1650" dirty="0"/>
          </a:p>
        </p:txBody>
      </p:sp>
      <p:sp>
        <p:nvSpPr>
          <p:cNvPr id="3" name="Text 1"/>
          <p:cNvSpPr/>
          <p:nvPr/>
        </p:nvSpPr>
        <p:spPr>
          <a:xfrm>
            <a:off x="496119" y="727249"/>
            <a:ext cx="8151763" cy="210369"/>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Inter Bold" pitchFamily="34" charset="0"/>
                <a:ea typeface="Inter Bold" pitchFamily="34" charset="-122"/>
                <a:cs typeface="Inter Bold" pitchFamily="34" charset="-120"/>
              </a:rPr>
              <a:t>1. Implementation Architecture</a:t>
            </a:r>
            <a:endParaRPr lang="en-US" sz="1300" dirty="0"/>
          </a:p>
        </p:txBody>
      </p:sp>
      <p:sp>
        <p:nvSpPr>
          <p:cNvPr id="4" name="Text 2"/>
          <p:cNvSpPr/>
          <p:nvPr/>
        </p:nvSpPr>
        <p:spPr>
          <a:xfrm>
            <a:off x="496119" y="1012552"/>
            <a:ext cx="8151763" cy="214610"/>
          </a:xfrm>
          <a:prstGeom prst="rect">
            <a:avLst/>
          </a:prstGeom>
          <a:noFill/>
          <a:ln/>
        </p:spPr>
        <p:txBody>
          <a:bodyPr wrap="square" lIns="0" tIns="0" rIns="0" bIns="0" rtlCol="0" anchor="t">
            <a:normAutofit/>
          </a:bodyPr>
          <a:lstStyle/>
          <a:p>
            <a:pPr algn="l" indent="0" marL="0">
              <a:lnSpc>
                <a:spcPct val="106000"/>
              </a:lnSpc>
              <a:buNone/>
            </a:pPr>
            <a:r>
              <a:rPr lang="en-US" sz="650" dirty="0">
                <a:solidFill>
                  <a:srgbClr val="272525"/>
                </a:solidFill>
                <a:latin typeface="Inter" pitchFamily="34" charset="0"/>
                <a:ea typeface="Inter" pitchFamily="34" charset="-122"/>
                <a:cs typeface="Inter" pitchFamily="34" charset="-120"/>
              </a:rPr>
              <a:t>The ML Engine runs independently of the data collection process, pulling data from the excel to extract deeper, automated insights through a three-stage sequence: k-Means Clustering, Multi-Factor Ranking, and Personalized Recommendation. This modular design ensures the analytics can be updated without disrupting the data ingestion pipeline.</a:t>
            </a:r>
            <a:endParaRPr lang="en-US" sz="650" dirty="0"/>
          </a:p>
        </p:txBody>
      </p:sp>
      <p:sp>
        <p:nvSpPr>
          <p:cNvPr id="5" name="Text 3"/>
          <p:cNvSpPr/>
          <p:nvPr/>
        </p:nvSpPr>
        <p:spPr>
          <a:xfrm>
            <a:off x="496119" y="1302097"/>
            <a:ext cx="8151763" cy="210369"/>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Inter Bold" pitchFamily="34" charset="0"/>
                <a:ea typeface="Inter Bold" pitchFamily="34" charset="-122"/>
                <a:cs typeface="Inter Bold" pitchFamily="34" charset="-120"/>
              </a:rPr>
              <a:t>2. Step-by-Step Execution Example</a:t>
            </a:r>
            <a:endParaRPr lang="en-US" sz="1300" dirty="0"/>
          </a:p>
        </p:txBody>
      </p:sp>
      <p:sp>
        <p:nvSpPr>
          <p:cNvPr id="6" name="Text 4"/>
          <p:cNvSpPr/>
          <p:nvPr/>
        </p:nvSpPr>
        <p:spPr>
          <a:xfrm>
            <a:off x="496119" y="1587401"/>
            <a:ext cx="168325" cy="105147"/>
          </a:xfrm>
          <a:prstGeom prst="rect">
            <a:avLst/>
          </a:prstGeom>
          <a:noFill/>
          <a:ln/>
        </p:spPr>
        <p:txBody>
          <a:bodyPr wrap="none" lIns="0" tIns="0" rIns="0" bIns="0" rtlCol="0" anchor="ctr"/>
          <a:lstStyle/>
          <a:p>
            <a:pPr algn="l" indent="0" marL="0">
              <a:lnSpc>
                <a:spcPct val="100000"/>
              </a:lnSpc>
              <a:buNone/>
            </a:pPr>
            <a:r>
              <a:rPr lang="en-US" sz="650" dirty="0">
                <a:solidFill>
                  <a:srgbClr val="272525"/>
                </a:solidFill>
                <a:latin typeface="Inter Light" pitchFamily="34" charset="0"/>
                <a:ea typeface="Inter Light" pitchFamily="34" charset="-122"/>
                <a:cs typeface="Inter Light" pitchFamily="34" charset="-120"/>
              </a:rPr>
              <a:t>01</a:t>
            </a:r>
            <a:endParaRPr lang="en-US" sz="650" dirty="0"/>
          </a:p>
        </p:txBody>
      </p:sp>
      <p:sp>
        <p:nvSpPr>
          <p:cNvPr id="7" name="Shape 5"/>
          <p:cNvSpPr/>
          <p:nvPr/>
        </p:nvSpPr>
        <p:spPr>
          <a:xfrm>
            <a:off x="496119" y="1720825"/>
            <a:ext cx="4050878" cy="9525"/>
          </a:xfrm>
          <a:prstGeom prst="rect">
            <a:avLst/>
          </a:prstGeom>
          <a:solidFill>
            <a:srgbClr val="4950BC"/>
          </a:solidFill>
          <a:ln/>
        </p:spPr>
      </p:sp>
      <p:sp>
        <p:nvSpPr>
          <p:cNvPr id="8" name="Text 6"/>
          <p:cNvSpPr/>
          <p:nvPr/>
        </p:nvSpPr>
        <p:spPr>
          <a:xfrm>
            <a:off x="496119" y="1781919"/>
            <a:ext cx="4050878" cy="131490"/>
          </a:xfrm>
          <a:prstGeom prst="rect">
            <a:avLst/>
          </a:prstGeom>
          <a:noFill/>
          <a:ln/>
        </p:spPr>
        <p:txBody>
          <a:bodyPr wrap="none" lIns="0" tIns="0" rIns="0" bIns="0" rtlCol="0" anchor="t"/>
          <a:lstStyle/>
          <a:p>
            <a:pPr algn="l" indent="0" marL="0">
              <a:lnSpc>
                <a:spcPct val="104000"/>
              </a:lnSpc>
              <a:buNone/>
            </a:pPr>
            <a:r>
              <a:rPr lang="en-US" sz="800" b="1" dirty="0">
                <a:solidFill>
                  <a:srgbClr val="272525"/>
                </a:solidFill>
                <a:latin typeface="Inter Bold" pitchFamily="34" charset="0"/>
                <a:ea typeface="Inter Bold" pitchFamily="34" charset="-122"/>
                <a:cs typeface="Inter Bold" pitchFamily="34" charset="-120"/>
              </a:rPr>
              <a:t>Step 1: Input Raw Historical Data</a:t>
            </a:r>
            <a:endParaRPr lang="en-US" sz="800" dirty="0"/>
          </a:p>
        </p:txBody>
      </p:sp>
      <p:sp>
        <p:nvSpPr>
          <p:cNvPr id="9" name="Text 7"/>
          <p:cNvSpPr/>
          <p:nvPr/>
        </p:nvSpPr>
        <p:spPr>
          <a:xfrm>
            <a:off x="496119" y="1943323"/>
            <a:ext cx="4050878" cy="216396"/>
          </a:xfrm>
          <a:prstGeom prst="rect">
            <a:avLst/>
          </a:prstGeom>
          <a:noFill/>
          <a:ln/>
        </p:spPr>
        <p:txBody>
          <a:bodyPr wrap="square" lIns="0" tIns="0" rIns="0" bIns="0" rtlCol="0" anchor="t">
            <a:normAutofit/>
          </a:bodyPr>
          <a:lstStyle/>
          <a:p>
            <a:pPr algn="l" indent="0" marL="0">
              <a:lnSpc>
                <a:spcPct val="106000"/>
              </a:lnSpc>
              <a:buNone/>
            </a:pPr>
            <a:r>
              <a:rPr lang="en-US" sz="650" dirty="0">
                <a:solidFill>
                  <a:srgbClr val="272525"/>
                </a:solidFill>
                <a:latin typeface="Inter" pitchFamily="34" charset="0"/>
                <a:ea typeface="Inter" pitchFamily="34" charset="-122"/>
                <a:cs typeface="Inter" pitchFamily="34" charset="-120"/>
              </a:rPr>
              <a:t>An anonymous Growth Mutual Fund starts with a Starting NAV of </a:t>
            </a:r>
            <a:pPr algn="l" indent="0" marL="0">
              <a:lnSpc>
                <a:spcPct val="106000"/>
              </a:lnSpc>
              <a:buNone/>
            </a:pPr>
            <a:r>
              <a:rPr lang="en-US" sz="650" i="1" dirty="0">
                <a:solidFill>
                  <a:srgbClr val="272525"/>
                </a:solidFill>
                <a:latin typeface="Inter" pitchFamily="34" charset="0"/>
                <a:ea typeface="Inter" pitchFamily="34" charset="-122"/>
                <a:cs typeface="Inter" pitchFamily="34" charset="-120"/>
              </a:rPr>
              <a:t>\text{₹}100.00</a:t>
            </a:r>
            <a:pPr algn="l" indent="0" marL="0">
              <a:lnSpc>
                <a:spcPct val="106000"/>
              </a:lnSpc>
              <a:buNone/>
            </a:pPr>
            <a:r>
              <a:rPr lang="en-US" sz="650" dirty="0">
                <a:solidFill>
                  <a:srgbClr val="272525"/>
                </a:solidFill>
                <a:latin typeface="Inter" pitchFamily="34" charset="0"/>
                <a:ea typeface="Inter" pitchFamily="34" charset="-122"/>
                <a:cs typeface="Inter" pitchFamily="34" charset="-120"/>
              </a:rPr>
              <a:t> and an Ending NAV of </a:t>
            </a:r>
            <a:pPr algn="l" indent="0" marL="0">
              <a:lnSpc>
                <a:spcPct val="106000"/>
              </a:lnSpc>
              <a:buNone/>
            </a:pPr>
            <a:r>
              <a:rPr lang="en-US" sz="650" i="1" dirty="0">
                <a:solidFill>
                  <a:srgbClr val="272525"/>
                </a:solidFill>
                <a:latin typeface="Inter" pitchFamily="34" charset="0"/>
                <a:ea typeface="Inter" pitchFamily="34" charset="-122"/>
                <a:cs typeface="Inter" pitchFamily="34" charset="-120"/>
              </a:rPr>
              <a:t>\text{₹}125.00</a:t>
            </a:r>
            <a:pPr algn="l" indent="0" marL="0">
              <a:lnSpc>
                <a:spcPct val="106000"/>
              </a:lnSpc>
              <a:buNone/>
            </a:pPr>
            <a:r>
              <a:rPr lang="en-US" sz="650" dirty="0">
                <a:solidFill>
                  <a:srgbClr val="272525"/>
                </a:solidFill>
                <a:latin typeface="Inter" pitchFamily="34" charset="0"/>
                <a:ea typeface="Inter" pitchFamily="34" charset="-122"/>
                <a:cs typeface="Inter" pitchFamily="34" charset="-120"/>
              </a:rPr>
              <a:t> over a specific period. The Risk-Free Rate is </a:t>
            </a:r>
            <a:pPr algn="l" indent="0" marL="0">
              <a:lnSpc>
                <a:spcPct val="106000"/>
              </a:lnSpc>
              <a:buNone/>
            </a:pPr>
            <a:r>
              <a:rPr lang="en-US" sz="650" i="1" dirty="0">
                <a:solidFill>
                  <a:srgbClr val="272525"/>
                </a:solidFill>
                <a:latin typeface="Inter" pitchFamily="34" charset="0"/>
                <a:ea typeface="Inter" pitchFamily="34" charset="-122"/>
                <a:cs typeface="Inter" pitchFamily="34" charset="-120"/>
              </a:rPr>
              <a:t>6.0\%</a:t>
            </a:r>
            <a:pPr algn="l" indent="0" marL="0">
              <a:lnSpc>
                <a:spcPct val="106000"/>
              </a:lnSpc>
              <a:buNone/>
            </a:pPr>
            <a:r>
              <a:rPr lang="en-US" sz="650" dirty="0">
                <a:solidFill>
                  <a:srgbClr val="272525"/>
                </a:solidFill>
                <a:latin typeface="Inter" pitchFamily="34" charset="0"/>
                <a:ea typeface="Inter" pitchFamily="34" charset="-122"/>
                <a:cs typeface="Inter" pitchFamily="34" charset="-120"/>
              </a:rPr>
              <a:t>.</a:t>
            </a:r>
            <a:endParaRPr lang="en-US" sz="650" dirty="0"/>
          </a:p>
        </p:txBody>
      </p:sp>
      <p:sp>
        <p:nvSpPr>
          <p:cNvPr id="10" name="Text 8"/>
          <p:cNvSpPr/>
          <p:nvPr/>
        </p:nvSpPr>
        <p:spPr>
          <a:xfrm>
            <a:off x="4596929" y="1587401"/>
            <a:ext cx="168325" cy="105147"/>
          </a:xfrm>
          <a:prstGeom prst="rect">
            <a:avLst/>
          </a:prstGeom>
          <a:noFill/>
          <a:ln/>
        </p:spPr>
        <p:txBody>
          <a:bodyPr wrap="none" lIns="0" tIns="0" rIns="0" bIns="0" rtlCol="0" anchor="ctr"/>
          <a:lstStyle/>
          <a:p>
            <a:pPr algn="l" indent="0" marL="0">
              <a:lnSpc>
                <a:spcPct val="100000"/>
              </a:lnSpc>
              <a:buNone/>
            </a:pPr>
            <a:r>
              <a:rPr lang="en-US" sz="650" dirty="0">
                <a:solidFill>
                  <a:srgbClr val="272525"/>
                </a:solidFill>
                <a:latin typeface="Inter Light" pitchFamily="34" charset="0"/>
                <a:ea typeface="Inter Light" pitchFamily="34" charset="-122"/>
                <a:cs typeface="Inter Light" pitchFamily="34" charset="-120"/>
              </a:rPr>
              <a:t>02</a:t>
            </a:r>
            <a:endParaRPr lang="en-US" sz="650" dirty="0"/>
          </a:p>
        </p:txBody>
      </p:sp>
      <p:sp>
        <p:nvSpPr>
          <p:cNvPr id="11" name="Shape 9"/>
          <p:cNvSpPr/>
          <p:nvPr/>
        </p:nvSpPr>
        <p:spPr>
          <a:xfrm>
            <a:off x="4596929" y="1720825"/>
            <a:ext cx="4050953" cy="9525"/>
          </a:xfrm>
          <a:prstGeom prst="rect">
            <a:avLst/>
          </a:prstGeom>
          <a:solidFill>
            <a:srgbClr val="4950BC"/>
          </a:solidFill>
          <a:ln/>
        </p:spPr>
      </p:sp>
      <p:sp>
        <p:nvSpPr>
          <p:cNvPr id="12" name="Text 10"/>
          <p:cNvSpPr/>
          <p:nvPr/>
        </p:nvSpPr>
        <p:spPr>
          <a:xfrm>
            <a:off x="4596929" y="1781919"/>
            <a:ext cx="4050953" cy="131490"/>
          </a:xfrm>
          <a:prstGeom prst="rect">
            <a:avLst/>
          </a:prstGeom>
          <a:noFill/>
          <a:ln/>
        </p:spPr>
        <p:txBody>
          <a:bodyPr wrap="none" lIns="0" tIns="0" rIns="0" bIns="0" rtlCol="0" anchor="t"/>
          <a:lstStyle/>
          <a:p>
            <a:pPr algn="l" indent="0" marL="0">
              <a:lnSpc>
                <a:spcPct val="104000"/>
              </a:lnSpc>
              <a:buNone/>
            </a:pPr>
            <a:r>
              <a:rPr lang="en-US" sz="800" b="1" dirty="0">
                <a:solidFill>
                  <a:srgbClr val="272525"/>
                </a:solidFill>
                <a:latin typeface="Inter Bold" pitchFamily="34" charset="0"/>
                <a:ea typeface="Inter Bold" pitchFamily="34" charset="-122"/>
                <a:cs typeface="Inter Bold" pitchFamily="34" charset="-120"/>
              </a:rPr>
              <a:t>Step 2: Feature Engineering Metrics Generation</a:t>
            </a:r>
            <a:endParaRPr lang="en-US" sz="800" dirty="0"/>
          </a:p>
        </p:txBody>
      </p:sp>
      <p:sp>
        <p:nvSpPr>
          <p:cNvPr id="13" name="Text 11"/>
          <p:cNvSpPr/>
          <p:nvPr/>
        </p:nvSpPr>
        <p:spPr>
          <a:xfrm>
            <a:off x="4596929" y="1943323"/>
            <a:ext cx="4050953" cy="107305"/>
          </a:xfrm>
          <a:prstGeom prst="rect">
            <a:avLst/>
          </a:prstGeom>
          <a:noFill/>
          <a:ln/>
        </p:spPr>
        <p:txBody>
          <a:bodyPr wrap="none" lIns="0" tIns="0" rIns="0" bIns="0" rtlCol="0" anchor="t"/>
          <a:lstStyle/>
          <a:p>
            <a:pPr algn="l" indent="0" marL="0">
              <a:lnSpc>
                <a:spcPct val="106000"/>
              </a:lnSpc>
              <a:buNone/>
            </a:pPr>
            <a:r>
              <a:rPr lang="en-US" sz="650" dirty="0">
                <a:solidFill>
                  <a:srgbClr val="272525"/>
                </a:solidFill>
                <a:latin typeface="Inter" pitchFamily="34" charset="0"/>
                <a:ea typeface="Inter" pitchFamily="34" charset="-122"/>
                <a:cs typeface="Inter" pitchFamily="34" charset="-120"/>
              </a:rPr>
              <a:t>From the raw NAV history, key financial metrics are calculated:</a:t>
            </a:r>
            <a:endParaRPr lang="en-US" sz="650" dirty="0"/>
          </a:p>
        </p:txBody>
      </p:sp>
      <p:sp>
        <p:nvSpPr>
          <p:cNvPr id="14" name="Text 12"/>
          <p:cNvSpPr/>
          <p:nvPr/>
        </p:nvSpPr>
        <p:spPr>
          <a:xfrm>
            <a:off x="4596929" y="2080543"/>
            <a:ext cx="4050953" cy="736625"/>
          </a:xfrm>
          <a:prstGeom prst="rect">
            <a:avLst/>
          </a:prstGeom>
          <a:noFill/>
          <a:ln/>
        </p:spPr>
        <p:txBody>
          <a:bodyPr wrap="square" lIns="0" tIns="0" rIns="0" bIns="0" rtlCol="0" anchor="t">
            <a:normAutofit/>
          </a:bodyPr>
          <a:lstStyle/>
          <a:p>
            <a:pPr algn="l" marL="132080" indent="-132080">
              <a:lnSpc>
                <a:spcPct val="106000"/>
              </a:lnSpc>
              <a:buSzPct val="100000"/>
              <a:buChar char="•"/>
            </a:pPr>
            <a:r>
              <a:rPr lang="en-US" sz="650" dirty="0">
                <a:solidFill>
                  <a:srgbClr val="272525"/>
                </a:solidFill>
                <a:latin typeface="Inter" pitchFamily="34" charset="0"/>
                <a:ea typeface="Inter" pitchFamily="34" charset="-122"/>
                <a:cs typeface="Inter" pitchFamily="34" charset="-120"/>
              </a:rPr>
              <a:t>Total Return: </a:t>
            </a:r>
            <a:pPr algn="l" marL="132080" indent="-132080">
              <a:lnSpc>
                <a:spcPct val="106000"/>
              </a:lnSpc>
              <a:buSzPct val="100000"/>
              <a:buChar char="•"/>
            </a:pPr>
            <a:r>
              <a:rPr lang="en-US" sz="650" i="1" dirty="0">
                <a:solidFill>
                  <a:srgbClr val="272525"/>
                </a:solidFill>
                <a:latin typeface="Inter" pitchFamily="34" charset="0"/>
                <a:ea typeface="Inter" pitchFamily="34" charset="-122"/>
                <a:cs typeface="Inter" pitchFamily="34" charset="-120"/>
              </a:rPr>
              <a:t>25.0\%</a:t>
            </a:r>
            <a:endParaRPr lang="en-US" sz="650" dirty="0"/>
          </a:p>
          <a:p>
            <a:pPr algn="l" marL="132080" indent="-132080">
              <a:lnSpc>
                <a:spcPct val="106000"/>
              </a:lnSpc>
              <a:buSzPct val="100000"/>
              <a:buChar char="•"/>
            </a:pPr>
            <a:r>
              <a:rPr lang="en-US" sz="650" dirty="0">
                <a:solidFill>
                  <a:srgbClr val="272525"/>
                </a:solidFill>
                <a:latin typeface="Inter" pitchFamily="34" charset="0"/>
                <a:ea typeface="Inter" pitchFamily="34" charset="-122"/>
                <a:cs typeface="Inter" pitchFamily="34" charset="-120"/>
              </a:rPr>
              <a:t>Annualized Volatility: </a:t>
            </a:r>
            <a:pPr algn="l" marL="132080" indent="-132080">
              <a:lnSpc>
                <a:spcPct val="106000"/>
              </a:lnSpc>
              <a:buSzPct val="100000"/>
              <a:buChar char="•"/>
            </a:pPr>
            <a:r>
              <a:rPr lang="en-US" sz="650" i="1" dirty="0">
                <a:solidFill>
                  <a:srgbClr val="272525"/>
                </a:solidFill>
                <a:latin typeface="Inter" pitchFamily="34" charset="0"/>
                <a:ea typeface="Inter" pitchFamily="34" charset="-122"/>
                <a:cs typeface="Inter" pitchFamily="34" charset="-120"/>
              </a:rPr>
              <a:t>12.0\%</a:t>
            </a:r>
            <a:endParaRPr lang="en-US" sz="650" dirty="0"/>
          </a:p>
          <a:p>
            <a:pPr algn="l" marL="132080" indent="-132080">
              <a:lnSpc>
                <a:spcPct val="106000"/>
              </a:lnSpc>
              <a:buSzPct val="100000"/>
              <a:buChar char="•"/>
            </a:pPr>
            <a:r>
              <a:rPr lang="en-US" sz="650" dirty="0">
                <a:solidFill>
                  <a:srgbClr val="272525"/>
                </a:solidFill>
                <a:latin typeface="Inter" pitchFamily="34" charset="0"/>
                <a:ea typeface="Inter" pitchFamily="34" charset="-122"/>
                <a:cs typeface="Inter" pitchFamily="34" charset="-120"/>
              </a:rPr>
              <a:t>Sharpe Ratio: </a:t>
            </a:r>
            <a:pPr algn="l" marL="132080" indent="-132080">
              <a:lnSpc>
                <a:spcPct val="106000"/>
              </a:lnSpc>
              <a:buSzPct val="100000"/>
              <a:buChar char="•"/>
            </a:pPr>
            <a:r>
              <a:rPr lang="en-US" sz="650" i="1" dirty="0">
                <a:solidFill>
                  <a:srgbClr val="272525"/>
                </a:solidFill>
                <a:latin typeface="Inter" pitchFamily="34" charset="0"/>
                <a:ea typeface="Inter" pitchFamily="34" charset="-122"/>
                <a:cs typeface="Inter" pitchFamily="34" charset="-120"/>
              </a:rPr>
              <a:t>1.5833</a:t>
            </a:r>
            <a:endParaRPr lang="en-US" sz="650" dirty="0"/>
          </a:p>
          <a:p>
            <a:pPr algn="l" marL="132080" indent="-132080">
              <a:lnSpc>
                <a:spcPct val="106000"/>
              </a:lnSpc>
              <a:buSzPct val="100000"/>
              <a:buChar char="•"/>
            </a:pPr>
            <a:r>
              <a:rPr lang="en-US" sz="650" dirty="0">
                <a:solidFill>
                  <a:srgbClr val="272525"/>
                </a:solidFill>
                <a:latin typeface="Inter" pitchFamily="34" charset="0"/>
                <a:ea typeface="Inter" pitchFamily="34" charset="-122"/>
                <a:cs typeface="Inter" pitchFamily="34" charset="-120"/>
              </a:rPr>
              <a:t>Sortino Ratio: </a:t>
            </a:r>
            <a:pPr algn="l" marL="132080" indent="-132080">
              <a:lnSpc>
                <a:spcPct val="106000"/>
              </a:lnSpc>
              <a:buSzPct val="100000"/>
              <a:buChar char="•"/>
            </a:pPr>
            <a:r>
              <a:rPr lang="en-US" sz="650" i="1" dirty="0">
                <a:solidFill>
                  <a:srgbClr val="272525"/>
                </a:solidFill>
                <a:latin typeface="Inter" pitchFamily="34" charset="0"/>
                <a:ea typeface="Inter" pitchFamily="34" charset="-122"/>
                <a:cs typeface="Inter" pitchFamily="34" charset="-120"/>
              </a:rPr>
              <a:t>2.1050</a:t>
            </a:r>
            <a:endParaRPr lang="en-US" sz="650" dirty="0"/>
          </a:p>
          <a:p>
            <a:pPr algn="l" marL="132080" indent="-132080">
              <a:lnSpc>
                <a:spcPct val="106000"/>
              </a:lnSpc>
              <a:buSzPct val="100000"/>
              <a:buChar char="•"/>
            </a:pPr>
            <a:r>
              <a:rPr lang="en-US" sz="650" dirty="0">
                <a:solidFill>
                  <a:srgbClr val="272525"/>
                </a:solidFill>
                <a:latin typeface="Inter" pitchFamily="34" charset="0"/>
                <a:ea typeface="Inter" pitchFamily="34" charset="-122"/>
                <a:cs typeface="Inter" pitchFamily="34" charset="-120"/>
              </a:rPr>
              <a:t>Maximum Drawdown: </a:t>
            </a:r>
            <a:pPr algn="l" marL="132080" indent="-132080">
              <a:lnSpc>
                <a:spcPct val="106000"/>
              </a:lnSpc>
              <a:buSzPct val="100000"/>
              <a:buChar char="•"/>
            </a:pPr>
            <a:r>
              <a:rPr lang="en-US" sz="650" i="1" dirty="0">
                <a:solidFill>
                  <a:srgbClr val="272525"/>
                </a:solidFill>
                <a:latin typeface="Inter" pitchFamily="34" charset="0"/>
                <a:ea typeface="Inter" pitchFamily="34" charset="-122"/>
                <a:cs typeface="Inter" pitchFamily="34" charset="-120"/>
              </a:rPr>
              <a:t>-4.5\%</a:t>
            </a:r>
            <a:endParaRPr lang="en-US" sz="650" dirty="0"/>
          </a:p>
          <a:p>
            <a:pPr algn="l" marL="132080" indent="-132080">
              <a:lnSpc>
                <a:spcPct val="106000"/>
              </a:lnSpc>
              <a:buSzPct val="100000"/>
              <a:buChar char="•"/>
            </a:pPr>
            <a:r>
              <a:rPr lang="en-US" sz="650" dirty="0">
                <a:solidFill>
                  <a:srgbClr val="272525"/>
                </a:solidFill>
                <a:latin typeface="Inter" pitchFamily="34" charset="0"/>
                <a:ea typeface="Inter" pitchFamily="34" charset="-122"/>
                <a:cs typeface="Inter" pitchFamily="34" charset="-120"/>
              </a:rPr>
              <a:t>Trend Strength: </a:t>
            </a:r>
            <a:pPr algn="l" marL="132080" indent="-132080">
              <a:lnSpc>
                <a:spcPct val="106000"/>
              </a:lnSpc>
              <a:buSzPct val="100000"/>
              <a:buChar char="•"/>
            </a:pPr>
            <a:r>
              <a:rPr lang="en-US" sz="650" i="1" dirty="0">
                <a:solidFill>
                  <a:srgbClr val="272525"/>
                </a:solidFill>
                <a:latin typeface="Inter" pitchFamily="34" charset="0"/>
                <a:ea typeface="Inter" pitchFamily="34" charset="-122"/>
                <a:cs typeface="Inter" pitchFamily="34" charset="-120"/>
              </a:rPr>
              <a:t>78.50</a:t>
            </a:r>
            <a:endParaRPr lang="en-US" sz="650" dirty="0"/>
          </a:p>
        </p:txBody>
      </p:sp>
      <p:sp>
        <p:nvSpPr>
          <p:cNvPr id="15" name="Text 13"/>
          <p:cNvSpPr/>
          <p:nvPr/>
        </p:nvSpPr>
        <p:spPr>
          <a:xfrm>
            <a:off x="496119" y="2930203"/>
            <a:ext cx="168325" cy="105147"/>
          </a:xfrm>
          <a:prstGeom prst="rect">
            <a:avLst/>
          </a:prstGeom>
          <a:noFill/>
          <a:ln/>
        </p:spPr>
        <p:txBody>
          <a:bodyPr wrap="none" lIns="0" tIns="0" rIns="0" bIns="0" rtlCol="0" anchor="ctr"/>
          <a:lstStyle/>
          <a:p>
            <a:pPr algn="l" indent="0" marL="0">
              <a:lnSpc>
                <a:spcPct val="100000"/>
              </a:lnSpc>
              <a:buNone/>
            </a:pPr>
            <a:r>
              <a:rPr lang="en-US" sz="650" dirty="0">
                <a:solidFill>
                  <a:srgbClr val="272525"/>
                </a:solidFill>
                <a:latin typeface="Inter Light" pitchFamily="34" charset="0"/>
                <a:ea typeface="Inter Light" pitchFamily="34" charset="-122"/>
                <a:cs typeface="Inter Light" pitchFamily="34" charset="-120"/>
              </a:rPr>
              <a:t>03</a:t>
            </a:r>
            <a:endParaRPr lang="en-US" sz="650" dirty="0"/>
          </a:p>
        </p:txBody>
      </p:sp>
      <p:sp>
        <p:nvSpPr>
          <p:cNvPr id="16" name="Shape 14"/>
          <p:cNvSpPr/>
          <p:nvPr/>
        </p:nvSpPr>
        <p:spPr>
          <a:xfrm>
            <a:off x="496119" y="3063627"/>
            <a:ext cx="4050878" cy="9525"/>
          </a:xfrm>
          <a:prstGeom prst="rect">
            <a:avLst/>
          </a:prstGeom>
          <a:solidFill>
            <a:srgbClr val="4950BC"/>
          </a:solidFill>
          <a:ln/>
        </p:spPr>
      </p:sp>
      <p:sp>
        <p:nvSpPr>
          <p:cNvPr id="17" name="Text 15"/>
          <p:cNvSpPr/>
          <p:nvPr/>
        </p:nvSpPr>
        <p:spPr>
          <a:xfrm>
            <a:off x="496119" y="3124721"/>
            <a:ext cx="4050878" cy="131490"/>
          </a:xfrm>
          <a:prstGeom prst="rect">
            <a:avLst/>
          </a:prstGeom>
          <a:noFill/>
          <a:ln/>
        </p:spPr>
        <p:txBody>
          <a:bodyPr wrap="none" lIns="0" tIns="0" rIns="0" bIns="0" rtlCol="0" anchor="t"/>
          <a:lstStyle/>
          <a:p>
            <a:pPr algn="l" indent="0" marL="0">
              <a:lnSpc>
                <a:spcPct val="104000"/>
              </a:lnSpc>
              <a:buNone/>
            </a:pPr>
            <a:r>
              <a:rPr lang="en-US" sz="800" b="1" dirty="0">
                <a:solidFill>
                  <a:srgbClr val="272525"/>
                </a:solidFill>
                <a:latin typeface="Inter Bold" pitchFamily="34" charset="0"/>
                <a:ea typeface="Inter Bold" pitchFamily="34" charset="-122"/>
                <a:cs typeface="Inter Bold" pitchFamily="34" charset="-120"/>
              </a:rPr>
              <a:t>Step 3: Normalization &amp; K-Means Partitioning</a:t>
            </a:r>
            <a:endParaRPr lang="en-US" sz="800" dirty="0"/>
          </a:p>
        </p:txBody>
      </p:sp>
      <p:sp>
        <p:nvSpPr>
          <p:cNvPr id="18" name="Text 16"/>
          <p:cNvSpPr/>
          <p:nvPr/>
        </p:nvSpPr>
        <p:spPr>
          <a:xfrm>
            <a:off x="496119" y="3286125"/>
            <a:ext cx="4050878" cy="351830"/>
          </a:xfrm>
          <a:prstGeom prst="rect">
            <a:avLst/>
          </a:prstGeom>
          <a:noFill/>
          <a:ln/>
        </p:spPr>
        <p:txBody>
          <a:bodyPr wrap="square" lIns="0" tIns="0" rIns="0" bIns="0" rtlCol="0" anchor="t">
            <a:normAutofit/>
          </a:bodyPr>
          <a:lstStyle/>
          <a:p>
            <a:pPr algn="l" indent="0" marL="0">
              <a:lnSpc>
                <a:spcPct val="106000"/>
              </a:lnSpc>
              <a:spcAft>
                <a:spcPts val="200"/>
              </a:spcAft>
              <a:buNone/>
            </a:pPr>
            <a:r>
              <a:rPr lang="en-US" sz="650" dirty="0">
                <a:solidFill>
                  <a:srgbClr val="272525"/>
                </a:solidFill>
                <a:latin typeface="Inter" pitchFamily="34" charset="0"/>
                <a:ea typeface="Inter" pitchFamily="34" charset="-122"/>
                <a:cs typeface="Inter" pitchFamily="34" charset="-120"/>
              </a:rPr>
              <a:t>The engineered features are normalized using StandardScaler. The fund's feature vector is then compared using Euclidean distance to existing cluster centroids and assigned to </a:t>
            </a:r>
            <a:endParaRPr lang="en-US" sz="650" dirty="0"/>
          </a:p>
          <a:p>
            <a:pPr algn="l" indent="0" marL="0">
              <a:lnSpc>
                <a:spcPct val="106000"/>
              </a:lnSpc>
              <a:buNone/>
            </a:pPr>
            <a:r>
              <a:rPr lang="en-US" sz="650" b="1" dirty="0">
                <a:solidFill>
                  <a:srgbClr val="272525"/>
                </a:solidFill>
                <a:latin typeface="Inter Bold" pitchFamily="34" charset="0"/>
                <a:ea typeface="Inter Bold" pitchFamily="34" charset="-122"/>
                <a:cs typeface="Inter Bold" pitchFamily="34" charset="-120"/>
              </a:rPr>
              <a:t>Cluster 2: Moderate Growth</a:t>
            </a:r>
            <a:pPr algn="l" indent="0" marL="0">
              <a:lnSpc>
                <a:spcPct val="106000"/>
              </a:lnSpc>
              <a:buNone/>
            </a:pPr>
            <a:r>
              <a:rPr lang="en-US" sz="650" dirty="0">
                <a:solidFill>
                  <a:srgbClr val="272525"/>
                </a:solidFill>
                <a:latin typeface="Inter" pitchFamily="34" charset="0"/>
                <a:ea typeface="Inter" pitchFamily="34" charset="-122"/>
                <a:cs typeface="Inter" pitchFamily="34" charset="-120"/>
              </a:rPr>
              <a:t> based on its proximity to that cluster's center.</a:t>
            </a:r>
            <a:endParaRPr lang="en-US" sz="650" dirty="0"/>
          </a:p>
        </p:txBody>
      </p:sp>
      <p:sp>
        <p:nvSpPr>
          <p:cNvPr id="19" name="Text 17"/>
          <p:cNvSpPr/>
          <p:nvPr/>
        </p:nvSpPr>
        <p:spPr>
          <a:xfrm>
            <a:off x="4596929" y="2930203"/>
            <a:ext cx="168325" cy="105147"/>
          </a:xfrm>
          <a:prstGeom prst="rect">
            <a:avLst/>
          </a:prstGeom>
          <a:noFill/>
          <a:ln/>
        </p:spPr>
        <p:txBody>
          <a:bodyPr wrap="none" lIns="0" tIns="0" rIns="0" bIns="0" rtlCol="0" anchor="ctr"/>
          <a:lstStyle/>
          <a:p>
            <a:pPr algn="l" indent="0" marL="0">
              <a:lnSpc>
                <a:spcPct val="100000"/>
              </a:lnSpc>
              <a:buNone/>
            </a:pPr>
            <a:r>
              <a:rPr lang="en-US" sz="650" dirty="0">
                <a:solidFill>
                  <a:srgbClr val="272525"/>
                </a:solidFill>
                <a:latin typeface="Inter Light" pitchFamily="34" charset="0"/>
                <a:ea typeface="Inter Light" pitchFamily="34" charset="-122"/>
                <a:cs typeface="Inter Light" pitchFamily="34" charset="-120"/>
              </a:rPr>
              <a:t>04</a:t>
            </a:r>
            <a:endParaRPr lang="en-US" sz="650" dirty="0"/>
          </a:p>
        </p:txBody>
      </p:sp>
      <p:sp>
        <p:nvSpPr>
          <p:cNvPr id="20" name="Shape 18"/>
          <p:cNvSpPr/>
          <p:nvPr/>
        </p:nvSpPr>
        <p:spPr>
          <a:xfrm>
            <a:off x="4596929" y="3063627"/>
            <a:ext cx="4050953" cy="9525"/>
          </a:xfrm>
          <a:prstGeom prst="rect">
            <a:avLst/>
          </a:prstGeom>
          <a:solidFill>
            <a:srgbClr val="4950BC"/>
          </a:solidFill>
          <a:ln/>
        </p:spPr>
      </p:sp>
      <p:sp>
        <p:nvSpPr>
          <p:cNvPr id="21" name="Text 19"/>
          <p:cNvSpPr/>
          <p:nvPr/>
        </p:nvSpPr>
        <p:spPr>
          <a:xfrm>
            <a:off x="4596929" y="3124721"/>
            <a:ext cx="4050953" cy="131490"/>
          </a:xfrm>
          <a:prstGeom prst="rect">
            <a:avLst/>
          </a:prstGeom>
          <a:noFill/>
          <a:ln/>
        </p:spPr>
        <p:txBody>
          <a:bodyPr wrap="none" lIns="0" tIns="0" rIns="0" bIns="0" rtlCol="0" anchor="t"/>
          <a:lstStyle/>
          <a:p>
            <a:pPr algn="l" indent="0" marL="0">
              <a:lnSpc>
                <a:spcPct val="104000"/>
              </a:lnSpc>
              <a:buNone/>
            </a:pPr>
            <a:r>
              <a:rPr lang="en-US" sz="800" b="1" dirty="0">
                <a:solidFill>
                  <a:srgbClr val="272525"/>
                </a:solidFill>
                <a:latin typeface="Inter Bold" pitchFamily="34" charset="0"/>
                <a:ea typeface="Inter Bold" pitchFamily="34" charset="-122"/>
                <a:cs typeface="Inter Bold" pitchFamily="34" charset="-120"/>
              </a:rPr>
              <a:t>Step 4: Utility Score Calculation and Recommendation Evaluation</a:t>
            </a:r>
            <a:endParaRPr lang="en-US" sz="800" dirty="0"/>
          </a:p>
        </p:txBody>
      </p:sp>
      <p:sp>
        <p:nvSpPr>
          <p:cNvPr id="22" name="Text 20"/>
          <p:cNvSpPr/>
          <p:nvPr/>
        </p:nvSpPr>
        <p:spPr>
          <a:xfrm>
            <a:off x="4596929" y="3286125"/>
            <a:ext cx="4050953" cy="112961"/>
          </a:xfrm>
          <a:prstGeom prst="rect">
            <a:avLst/>
          </a:prstGeom>
          <a:noFill/>
          <a:ln/>
        </p:spPr>
        <p:txBody>
          <a:bodyPr wrap="none" lIns="0" tIns="0" rIns="0" bIns="0" rtlCol="0" anchor="t"/>
          <a:lstStyle/>
          <a:p>
            <a:pPr algn="l" indent="0" marL="0">
              <a:lnSpc>
                <a:spcPct val="106000"/>
              </a:lnSpc>
              <a:buNone/>
            </a:pPr>
            <a:r>
              <a:rPr lang="en-US" sz="650" dirty="0">
                <a:solidFill>
                  <a:srgbClr val="272525"/>
                </a:solidFill>
                <a:latin typeface="Inter" pitchFamily="34" charset="0"/>
                <a:ea typeface="Inter" pitchFamily="34" charset="-122"/>
                <a:cs typeface="Inter" pitchFamily="34" charset="-120"/>
              </a:rPr>
              <a:t>For an investor with a </a:t>
            </a:r>
            <a:pPr algn="l" indent="0" marL="0">
              <a:lnSpc>
                <a:spcPct val="106000"/>
              </a:lnSpc>
              <a:buNone/>
            </a:pPr>
            <a:r>
              <a:rPr lang="en-US" sz="650" b="1" dirty="0">
                <a:solidFill>
                  <a:srgbClr val="272525"/>
                </a:solidFill>
                <a:latin typeface="Inter Bold" pitchFamily="34" charset="0"/>
                <a:ea typeface="Inter Bold" pitchFamily="34" charset="-122"/>
                <a:cs typeface="Inter Bold" pitchFamily="34" charset="-120"/>
              </a:rPr>
              <a:t>Moderate Risk Profile</a:t>
            </a:r>
            <a:pPr algn="l" indent="0" marL="0">
              <a:lnSpc>
                <a:spcPct val="106000"/>
              </a:lnSpc>
              <a:buNone/>
            </a:pPr>
            <a:r>
              <a:rPr lang="en-US" sz="650" dirty="0">
                <a:solidFill>
                  <a:srgbClr val="272525"/>
                </a:solidFill>
                <a:latin typeface="Inter" pitchFamily="34" charset="0"/>
                <a:ea typeface="Inter" pitchFamily="34" charset="-122"/>
                <a:cs typeface="Inter" pitchFamily="34" charset="-120"/>
              </a:rPr>
              <a:t> (</a:t>
            </a:r>
            <a:pPr algn="l" indent="0" marL="0">
              <a:lnSpc>
                <a:spcPct val="106000"/>
              </a:lnSpc>
              <a:buNone/>
            </a:pPr>
            <a:r>
              <a:rPr lang="en-US" sz="650" i="1" dirty="0">
                <a:solidFill>
                  <a:srgbClr val="272525"/>
                </a:solidFill>
                <a:latin typeface="Inter" pitchFamily="34" charset="0"/>
                <a:ea typeface="Inter" pitchFamily="34" charset="-122"/>
                <a:cs typeface="Inter" pitchFamily="34" charset="-120"/>
              </a:rPr>
              <a:t>\lambda=1.0</a:t>
            </a:r>
            <a:pPr algn="l" indent="0" marL="0">
              <a:lnSpc>
                <a:spcPct val="106000"/>
              </a:lnSpc>
              <a:buNone/>
            </a:pPr>
            <a:r>
              <a:rPr lang="en-US" sz="650" dirty="0">
                <a:solidFill>
                  <a:srgbClr val="272525"/>
                </a:solidFill>
                <a:latin typeface="Inter" pitchFamily="34" charset="0"/>
                <a:ea typeface="Inter" pitchFamily="34" charset="-122"/>
                <a:cs typeface="Inter" pitchFamily="34" charset="-120"/>
              </a:rPr>
              <a:t>), the utility score is calculated as:</a:t>
            </a:r>
            <a:endParaRPr lang="en-US" sz="650" dirty="0"/>
          </a:p>
        </p:txBody>
      </p:sp>
      <p:sp>
        <p:nvSpPr>
          <p:cNvPr id="23" name="Text 21"/>
          <p:cNvSpPr/>
          <p:nvPr/>
        </p:nvSpPr>
        <p:spPr>
          <a:xfrm>
            <a:off x="4596929" y="3462337"/>
            <a:ext cx="4050953" cy="284559"/>
          </a:xfrm>
          <a:prstGeom prst="rect">
            <a:avLst/>
          </a:prstGeom>
          <a:noFill/>
          <a:ln/>
        </p:spPr>
        <p:txBody>
          <a:bodyPr wrap="square" lIns="0" tIns="0" rIns="0" bIns="0" rtlCol="0" anchor="t">
            <a:normAutofit/>
          </a:bodyPr>
          <a:lstStyle/>
          <a:p>
            <a:pPr algn="l" indent="0" marL="0">
              <a:lnSpc>
                <a:spcPct val="106000"/>
              </a:lnSpc>
              <a:buNone/>
            </a:pPr>
            <a:endParaRPr lang="en-US" sz="700" dirty="0"/>
          </a:p>
        </p:txBody>
      </p:sp>
      <p:pic>
        <p:nvPicPr>
          <p:cNvPr id="24" name="Image 0" descr="preencoded.png">    </p:cNvPr>
          <p:cNvPicPr>
            <a:picLocks noChangeAspect="1"/>
          </p:cNvPicPr>
          <p:nvPr/>
        </p:nvPicPr>
        <p:blipFill>
          <a:blip r:embed="rId1"/>
          <a:stretch>
            <a:fillRect/>
          </a:stretch>
        </p:blipFill>
        <p:spPr>
          <a:xfrm>
            <a:off x="4596929" y="3462337"/>
            <a:ext cx="4050953" cy="284559"/>
          </a:xfrm>
          <a:prstGeom prst="rect">
            <a:avLst/>
          </a:prstGeom>
        </p:spPr>
      </p:pic>
      <p:sp>
        <p:nvSpPr>
          <p:cNvPr id="25" name="Text 22"/>
          <p:cNvSpPr/>
          <p:nvPr/>
        </p:nvSpPr>
        <p:spPr>
          <a:xfrm>
            <a:off x="4596929" y="3810149"/>
            <a:ext cx="4050953" cy="251073"/>
          </a:xfrm>
          <a:prstGeom prst="rect">
            <a:avLst/>
          </a:prstGeom>
          <a:noFill/>
          <a:ln/>
        </p:spPr>
        <p:txBody>
          <a:bodyPr wrap="square" lIns="0" tIns="0" rIns="0" bIns="0" rtlCol="0" anchor="t"/>
          <a:lstStyle/>
          <a:p>
            <a:pPr algn="l" indent="0" marL="0">
              <a:lnSpc>
                <a:spcPct val="106000"/>
              </a:lnSpc>
              <a:buNone/>
            </a:pPr>
            <a:r>
              <a:rPr lang="en-US" sz="650" dirty="0">
                <a:solidFill>
                  <a:srgbClr val="272525"/>
                </a:solidFill>
                <a:latin typeface="Inter" pitchFamily="34" charset="0"/>
                <a:ea typeface="Inter" pitchFamily="34" charset="-122"/>
                <a:cs typeface="Inter" pitchFamily="34" charset="-120"/>
              </a:rPr>
              <a:t>Plugging in the values: </a:t>
            </a:r>
            <a:pPr algn="l" indent="0" marL="0">
              <a:lnSpc>
                <a:spcPct val="106000"/>
              </a:lnSpc>
              <a:spcAft>
                <a:spcPts val="200"/>
              </a:spcAft>
              <a:buNone/>
            </a:pPr>
            <a:r>
              <a:rPr lang="en-US" sz="650" i="1" dirty="0">
                <a:solidFill>
                  <a:srgbClr val="272525"/>
                </a:solidFill>
                <a:latin typeface="Inter" pitchFamily="34" charset="0"/>
                <a:ea typeface="Inter" pitchFamily="34" charset="-122"/>
                <a:cs typeface="Inter" pitchFamily="34" charset="-120"/>
              </a:rPr>
              <a:t>Utility = 0.25 + 1.0 \times (1.5833 + 2.1050 - 0.12 - (-0.045) + 0.7850)</a:t>
            </a:r>
            <a:endParaRPr lang="en-US" sz="650" dirty="0"/>
          </a:p>
          <a:p>
            <a:pPr algn="l" indent="0" marL="0">
              <a:lnSpc>
                <a:spcPct val="106000"/>
              </a:lnSpc>
              <a:buNone/>
            </a:pPr>
            <a:r>
              <a:rPr lang="en-US" sz="650" dirty="0">
                <a:solidFill>
                  <a:srgbClr val="272525"/>
                </a:solidFill>
                <a:latin typeface="Inter" pitchFamily="34" charset="0"/>
                <a:ea typeface="Inter" pitchFamily="34" charset="-122"/>
                <a:cs typeface="Inter" pitchFamily="34" charset="-120"/>
              </a:rPr>
              <a:t>This results in a final utility score of </a:t>
            </a:r>
            <a:pPr algn="l" indent="0" marL="0">
              <a:lnSpc>
                <a:spcPct val="106000"/>
              </a:lnSpc>
              <a:buNone/>
            </a:pPr>
            <a:r>
              <a:rPr lang="en-US" sz="650" i="1" dirty="0">
                <a:solidFill>
                  <a:srgbClr val="272525"/>
                </a:solidFill>
                <a:latin typeface="Inter" pitchFamily="34" charset="0"/>
                <a:ea typeface="Inter" pitchFamily="34" charset="-122"/>
                <a:cs typeface="Inter" pitchFamily="34" charset="-120"/>
              </a:rPr>
              <a:t>20.7416</a:t>
            </a:r>
            <a:pPr algn="l" indent="0" marL="0">
              <a:lnSpc>
                <a:spcPct val="106000"/>
              </a:lnSpc>
              <a:buNone/>
            </a:pPr>
            <a:r>
              <a:rPr lang="en-US" sz="650" dirty="0">
                <a:solidFill>
                  <a:srgbClr val="272525"/>
                </a:solidFill>
                <a:latin typeface="Inter" pitchFamily="34" charset="0"/>
                <a:ea typeface="Inter" pitchFamily="34" charset="-122"/>
                <a:cs typeface="Inter" pitchFamily="34" charset="-120"/>
              </a:rPr>
              <a:t>.</a:t>
            </a:r>
            <a:endParaRPr lang="en-US" sz="650" dirty="0"/>
          </a:p>
        </p:txBody>
      </p:sp>
      <p:sp>
        <p:nvSpPr>
          <p:cNvPr id="26" name="Text 23"/>
          <p:cNvSpPr/>
          <p:nvPr/>
        </p:nvSpPr>
        <p:spPr>
          <a:xfrm>
            <a:off x="496119" y="4199260"/>
            <a:ext cx="8151763" cy="210369"/>
          </a:xfrm>
          <a:prstGeom prst="rect">
            <a:avLst/>
          </a:prstGeom>
          <a:noFill/>
          <a:ln/>
        </p:spPr>
        <p:txBody>
          <a:bodyPr wrap="none" lIns="0" tIns="0" rIns="0" bIns="0" rtlCol="0" anchor="t"/>
          <a:lstStyle/>
          <a:p>
            <a:pPr algn="l" indent="0" marL="0">
              <a:lnSpc>
                <a:spcPct val="104000"/>
              </a:lnSpc>
              <a:buNone/>
            </a:pPr>
            <a:r>
              <a:rPr lang="en-US" sz="1300" b="1" dirty="0">
                <a:solidFill>
                  <a:srgbClr val="000000"/>
                </a:solidFill>
                <a:latin typeface="Inter Bold" pitchFamily="34" charset="0"/>
                <a:ea typeface="Inter Bold" pitchFamily="34" charset="-122"/>
                <a:cs typeface="Inter Bold" pitchFamily="34" charset="-120"/>
              </a:rPr>
              <a:t>3. Real-Time Recommendation</a:t>
            </a:r>
            <a:endParaRPr lang="en-US" sz="1300" dirty="0"/>
          </a:p>
        </p:txBody>
      </p:sp>
      <p:sp>
        <p:nvSpPr>
          <p:cNvPr id="27" name="Text 24"/>
          <p:cNvSpPr/>
          <p:nvPr/>
        </p:nvSpPr>
        <p:spPr>
          <a:xfrm>
            <a:off x="496119" y="4484563"/>
            <a:ext cx="8151763" cy="214610"/>
          </a:xfrm>
          <a:prstGeom prst="rect">
            <a:avLst/>
          </a:prstGeom>
          <a:noFill/>
          <a:ln/>
        </p:spPr>
        <p:txBody>
          <a:bodyPr wrap="square" lIns="0" tIns="0" rIns="0" bIns="0" rtlCol="0" anchor="t">
            <a:normAutofit/>
          </a:bodyPr>
          <a:lstStyle/>
          <a:p>
            <a:pPr algn="l" indent="0" marL="0">
              <a:lnSpc>
                <a:spcPct val="106000"/>
              </a:lnSpc>
              <a:buNone/>
            </a:pPr>
            <a:r>
              <a:rPr lang="en-US" sz="650" dirty="0">
                <a:solidFill>
                  <a:srgbClr val="272525"/>
                </a:solidFill>
                <a:latin typeface="Inter" pitchFamily="34" charset="0"/>
                <a:ea typeface="Inter" pitchFamily="34" charset="-122"/>
                <a:cs typeface="Inter" pitchFamily="34" charset="-120"/>
              </a:rPr>
              <a:t>The backend service continuously calculates utility scores for all eligible funds based on the latest data and selected investor risk profile. These funds are then sorted in descending order of their utility scores, allowing the top-performing schemes to be displayed dynamically on the dashboard leaderboard.</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429518"/>
            <a:ext cx="4722763" cy="366861"/>
          </a:xfrm>
          <a:prstGeom prst="rect">
            <a:avLst/>
          </a:prstGeom>
          <a:noFill/>
          <a:ln/>
        </p:spPr>
        <p:txBody>
          <a:bodyPr wrap="none" lIns="0" tIns="0" rIns="0" bIns="0" rtlCol="0" anchor="t"/>
          <a:lstStyle/>
          <a:p>
            <a:pPr algn="l" indent="0" marL="0">
              <a:lnSpc>
                <a:spcPct val="104000"/>
              </a:lnSpc>
              <a:buNone/>
            </a:pPr>
            <a:r>
              <a:rPr lang="en-US" sz="2300" b="1" dirty="0">
                <a:solidFill>
                  <a:srgbClr val="000000"/>
                </a:solidFill>
                <a:latin typeface="Inter Bold" pitchFamily="34" charset="0"/>
                <a:ea typeface="Inter Bold" pitchFamily="34" charset="-122"/>
                <a:cs typeface="Inter Bold" pitchFamily="34" charset="-120"/>
              </a:rPr>
              <a:t>Data Pipeline</a:t>
            </a:r>
            <a:endParaRPr lang="en-US" sz="2300" dirty="0"/>
          </a:p>
        </p:txBody>
      </p:sp>
      <p:sp>
        <p:nvSpPr>
          <p:cNvPr id="4" name="Text 1"/>
          <p:cNvSpPr/>
          <p:nvPr/>
        </p:nvSpPr>
        <p:spPr>
          <a:xfrm>
            <a:off x="3925119" y="942156"/>
            <a:ext cx="234776" cy="146745"/>
          </a:xfrm>
          <a:prstGeom prst="rect">
            <a:avLst/>
          </a:prstGeom>
          <a:noFill/>
          <a:ln/>
        </p:spPr>
        <p:txBody>
          <a:bodyPr wrap="none" lIns="0" tIns="0" rIns="0" bIns="0" rtlCol="0" anchor="ctr"/>
          <a:lstStyle/>
          <a:p>
            <a:pPr algn="l" indent="0" marL="0">
              <a:lnSpc>
                <a:spcPct val="100000"/>
              </a:lnSpc>
              <a:buNone/>
            </a:pPr>
            <a:r>
              <a:rPr lang="en-US" sz="900" dirty="0">
                <a:solidFill>
                  <a:srgbClr val="272525"/>
                </a:solidFill>
                <a:latin typeface="Inter Light" pitchFamily="34" charset="0"/>
                <a:ea typeface="Inter Light" pitchFamily="34" charset="-122"/>
                <a:cs typeface="Inter Light" pitchFamily="34" charset="-120"/>
              </a:rPr>
              <a:t>01</a:t>
            </a:r>
            <a:endParaRPr lang="en-US" sz="900" dirty="0"/>
          </a:p>
        </p:txBody>
      </p:sp>
      <p:sp>
        <p:nvSpPr>
          <p:cNvPr id="5" name="Shape 2"/>
          <p:cNvSpPr/>
          <p:nvPr/>
        </p:nvSpPr>
        <p:spPr>
          <a:xfrm>
            <a:off x="3925119" y="1127373"/>
            <a:ext cx="2312789" cy="14288"/>
          </a:xfrm>
          <a:prstGeom prst="rect">
            <a:avLst/>
          </a:prstGeom>
          <a:solidFill>
            <a:srgbClr val="4950BC"/>
          </a:solidFill>
          <a:ln/>
        </p:spPr>
      </p:sp>
      <p:sp>
        <p:nvSpPr>
          <p:cNvPr id="6" name="Text 3"/>
          <p:cNvSpPr/>
          <p:nvPr/>
        </p:nvSpPr>
        <p:spPr>
          <a:xfrm>
            <a:off x="3925119" y="1214586"/>
            <a:ext cx="2312789" cy="183431"/>
          </a:xfrm>
          <a:prstGeom prst="rect">
            <a:avLst/>
          </a:prstGeom>
          <a:noFill/>
          <a:ln/>
        </p:spPr>
        <p:txBody>
          <a:bodyPr wrap="none" lIns="0" tIns="0" rIns="0" bIns="0" rtlCol="0" anchor="t"/>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DAG 1: Fetch / Ingest</a:t>
            </a:r>
            <a:endParaRPr lang="en-US" sz="1150" dirty="0"/>
          </a:p>
        </p:txBody>
      </p:sp>
      <p:sp>
        <p:nvSpPr>
          <p:cNvPr id="7" name="Text 4"/>
          <p:cNvSpPr/>
          <p:nvPr/>
        </p:nvSpPr>
        <p:spPr>
          <a:xfrm>
            <a:off x="3925119" y="1456283"/>
            <a:ext cx="2312789" cy="573286"/>
          </a:xfrm>
          <a:prstGeom prst="rect">
            <a:avLst/>
          </a:prstGeom>
          <a:noFill/>
          <a:ln/>
        </p:spPr>
        <p:txBody>
          <a:bodyPr wrap="square" lIns="0" tIns="0" rIns="0" bIns="0" rtlCol="0" anchor="t">
            <a:normAutofit/>
          </a:bodyPr>
          <a:lstStyle/>
          <a:p>
            <a:pPr algn="l" indent="0" marL="0">
              <a:lnSpc>
                <a:spcPct val="122000"/>
              </a:lnSpc>
              <a:spcAft>
                <a:spcPts val="450"/>
              </a:spcAft>
              <a:buNone/>
            </a:pPr>
            <a:r>
              <a:rPr lang="en-US" sz="900" dirty="0">
                <a:solidFill>
                  <a:srgbClr val="272525"/>
                </a:solidFill>
                <a:latin typeface="Inter" pitchFamily="34" charset="0"/>
                <a:ea typeface="Inter" pitchFamily="34" charset="-122"/>
                <a:cs typeface="Inter" pitchFamily="34" charset="-120"/>
              </a:rPr>
              <a:t>Download AMFI data from a 1.8MB semicolon-delimited NAV file.</a:t>
            </a:r>
            <a:endParaRPr lang="en-US" sz="900" dirty="0"/>
          </a:p>
          <a:p>
            <a:pPr algn="l" indent="0" marL="0">
              <a:lnSpc>
                <a:spcPct val="122000"/>
              </a:lnSpc>
              <a:buNone/>
            </a:pPr>
            <a:r>
              <a:rPr lang="en-US" sz="900" b="1" dirty="0">
                <a:solidFill>
                  <a:srgbClr val="272525"/>
                </a:solidFill>
                <a:latin typeface="Inter Bold" pitchFamily="34" charset="0"/>
                <a:ea typeface="Inter Bold" pitchFamily="34" charset="-122"/>
                <a:cs typeface="Inter Bold" pitchFamily="34" charset="-120"/>
              </a:rPr>
              <a:t>14,341 raw schemes</a:t>
            </a:r>
            <a:endParaRPr lang="en-US" sz="900" dirty="0"/>
          </a:p>
        </p:txBody>
      </p:sp>
      <p:sp>
        <p:nvSpPr>
          <p:cNvPr id="8" name="Text 5"/>
          <p:cNvSpPr/>
          <p:nvPr/>
        </p:nvSpPr>
        <p:spPr>
          <a:xfrm>
            <a:off x="6335092" y="942156"/>
            <a:ext cx="234776" cy="146745"/>
          </a:xfrm>
          <a:prstGeom prst="rect">
            <a:avLst/>
          </a:prstGeom>
          <a:noFill/>
          <a:ln/>
        </p:spPr>
        <p:txBody>
          <a:bodyPr wrap="none" lIns="0" tIns="0" rIns="0" bIns="0" rtlCol="0" anchor="ctr"/>
          <a:lstStyle/>
          <a:p>
            <a:pPr algn="l" indent="0" marL="0">
              <a:lnSpc>
                <a:spcPct val="100000"/>
              </a:lnSpc>
              <a:buNone/>
            </a:pPr>
            <a:r>
              <a:rPr lang="en-US" sz="900" dirty="0">
                <a:solidFill>
                  <a:srgbClr val="272525"/>
                </a:solidFill>
                <a:latin typeface="Inter Light" pitchFamily="34" charset="0"/>
                <a:ea typeface="Inter Light" pitchFamily="34" charset="-122"/>
                <a:cs typeface="Inter Light" pitchFamily="34" charset="-120"/>
              </a:rPr>
              <a:t>02</a:t>
            </a:r>
            <a:endParaRPr lang="en-US" sz="900" dirty="0"/>
          </a:p>
        </p:txBody>
      </p:sp>
      <p:sp>
        <p:nvSpPr>
          <p:cNvPr id="9" name="Shape 6"/>
          <p:cNvSpPr/>
          <p:nvPr/>
        </p:nvSpPr>
        <p:spPr>
          <a:xfrm>
            <a:off x="6335092" y="1127373"/>
            <a:ext cx="2312789" cy="14288"/>
          </a:xfrm>
          <a:prstGeom prst="rect">
            <a:avLst/>
          </a:prstGeom>
          <a:solidFill>
            <a:srgbClr val="4950BC"/>
          </a:solidFill>
          <a:ln/>
        </p:spPr>
      </p:sp>
      <p:sp>
        <p:nvSpPr>
          <p:cNvPr id="10" name="Text 7"/>
          <p:cNvSpPr/>
          <p:nvPr/>
        </p:nvSpPr>
        <p:spPr>
          <a:xfrm>
            <a:off x="6335092" y="1214586"/>
            <a:ext cx="2312789" cy="183431"/>
          </a:xfrm>
          <a:prstGeom prst="rect">
            <a:avLst/>
          </a:prstGeom>
          <a:noFill/>
          <a:ln/>
        </p:spPr>
        <p:txBody>
          <a:bodyPr wrap="none" lIns="0" tIns="0" rIns="0" bIns="0" rtlCol="0" anchor="t"/>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DAG 2: Validate / Clean</a:t>
            </a:r>
            <a:endParaRPr lang="en-US" sz="1150" dirty="0"/>
          </a:p>
        </p:txBody>
      </p:sp>
      <p:sp>
        <p:nvSpPr>
          <p:cNvPr id="11" name="Text 8"/>
          <p:cNvSpPr/>
          <p:nvPr/>
        </p:nvSpPr>
        <p:spPr>
          <a:xfrm>
            <a:off x="6335092" y="1456283"/>
            <a:ext cx="2312789" cy="573286"/>
          </a:xfrm>
          <a:prstGeom prst="rect">
            <a:avLst/>
          </a:prstGeom>
          <a:noFill/>
          <a:ln/>
        </p:spPr>
        <p:txBody>
          <a:bodyPr wrap="square" lIns="0" tIns="0" rIns="0" bIns="0" rtlCol="0" anchor="t">
            <a:normAutofit/>
          </a:bodyPr>
          <a:lstStyle/>
          <a:p>
            <a:pPr algn="l" indent="0" marL="0">
              <a:lnSpc>
                <a:spcPct val="122000"/>
              </a:lnSpc>
              <a:spcAft>
                <a:spcPts val="450"/>
              </a:spcAft>
              <a:buNone/>
            </a:pPr>
            <a:r>
              <a:rPr lang="en-US" sz="900" dirty="0">
                <a:solidFill>
                  <a:srgbClr val="272525"/>
                </a:solidFill>
                <a:latin typeface="Inter" pitchFamily="34" charset="0"/>
                <a:ea typeface="Inter" pitchFamily="34" charset="-122"/>
                <a:cs typeface="Inter" pitchFamily="34" charset="-120"/>
              </a:rPr>
              <a:t>Apply IQR filter, remove zero/negative NAV, and fix invalid dates.</a:t>
            </a:r>
            <a:endParaRPr lang="en-US" sz="900" dirty="0"/>
          </a:p>
          <a:p>
            <a:pPr algn="l" indent="0" marL="0">
              <a:lnSpc>
                <a:spcPct val="122000"/>
              </a:lnSpc>
              <a:buNone/>
            </a:pPr>
            <a:r>
              <a:rPr lang="en-US" sz="900" b="1" dirty="0">
                <a:solidFill>
                  <a:srgbClr val="272525"/>
                </a:solidFill>
                <a:latin typeface="Inter Bold" pitchFamily="34" charset="0"/>
                <a:ea typeface="Inter Bold" pitchFamily="34" charset="-122"/>
                <a:cs typeface="Inter Bold" pitchFamily="34" charset="-120"/>
              </a:rPr>
              <a:t>11,506 clean schemes</a:t>
            </a:r>
            <a:pPr algn="l" indent="0" marL="0">
              <a:lnSpc>
                <a:spcPct val="122000"/>
              </a:lnSpc>
              <a:buNone/>
            </a:pPr>
            <a:r>
              <a:rPr lang="en-US" sz="900" dirty="0">
                <a:solidFill>
                  <a:srgbClr val="272525"/>
                </a:solidFill>
                <a:latin typeface="Inter" pitchFamily="34" charset="0"/>
                <a:ea typeface="Inter" pitchFamily="34" charset="-122"/>
                <a:cs typeface="Inter" pitchFamily="34" charset="-120"/>
              </a:rPr>
              <a:t> (</a:t>
            </a:r>
            <a:pPr algn="l" indent="0" marL="0">
              <a:lnSpc>
                <a:spcPct val="122000"/>
              </a:lnSpc>
              <a:buNone/>
            </a:pPr>
            <a:r>
              <a:rPr lang="en-US" sz="900" b="1" dirty="0">
                <a:solidFill>
                  <a:srgbClr val="272525"/>
                </a:solidFill>
                <a:latin typeface="Inter Bold" pitchFamily="34" charset="0"/>
                <a:ea typeface="Inter Bold" pitchFamily="34" charset="-122"/>
                <a:cs typeface="Inter Bold" pitchFamily="34" charset="-120"/>
              </a:rPr>
              <a:t>19.77%</a:t>
            </a:r>
            <a:pPr algn="l" indent="0" marL="0">
              <a:lnSpc>
                <a:spcPct val="122000"/>
              </a:lnSpc>
              <a:buNone/>
            </a:pPr>
            <a:r>
              <a:rPr lang="en-US" sz="900" dirty="0">
                <a:solidFill>
                  <a:srgbClr val="272525"/>
                </a:solidFill>
                <a:latin typeface="Inter" pitchFamily="34" charset="0"/>
                <a:ea typeface="Inter" pitchFamily="34" charset="-122"/>
                <a:cs typeface="Inter" pitchFamily="34" charset="-120"/>
              </a:rPr>
              <a:t> removed)</a:t>
            </a:r>
            <a:endParaRPr lang="en-US" sz="900" dirty="0"/>
          </a:p>
        </p:txBody>
      </p:sp>
      <p:sp>
        <p:nvSpPr>
          <p:cNvPr id="12" name="Text 9"/>
          <p:cNvSpPr/>
          <p:nvPr/>
        </p:nvSpPr>
        <p:spPr>
          <a:xfrm>
            <a:off x="3925119" y="2214786"/>
            <a:ext cx="234776" cy="146745"/>
          </a:xfrm>
          <a:prstGeom prst="rect">
            <a:avLst/>
          </a:prstGeom>
          <a:noFill/>
          <a:ln/>
        </p:spPr>
        <p:txBody>
          <a:bodyPr wrap="none" lIns="0" tIns="0" rIns="0" bIns="0" rtlCol="0" anchor="ctr"/>
          <a:lstStyle/>
          <a:p>
            <a:pPr algn="l" indent="0" marL="0">
              <a:lnSpc>
                <a:spcPct val="100000"/>
              </a:lnSpc>
              <a:buNone/>
            </a:pPr>
            <a:r>
              <a:rPr lang="en-US" sz="900" dirty="0">
                <a:solidFill>
                  <a:srgbClr val="272525"/>
                </a:solidFill>
                <a:latin typeface="Inter Light" pitchFamily="34" charset="0"/>
                <a:ea typeface="Inter Light" pitchFamily="34" charset="-122"/>
                <a:cs typeface="Inter Light" pitchFamily="34" charset="-120"/>
              </a:rPr>
              <a:t>03</a:t>
            </a:r>
            <a:endParaRPr lang="en-US" sz="900" dirty="0"/>
          </a:p>
        </p:txBody>
      </p:sp>
      <p:sp>
        <p:nvSpPr>
          <p:cNvPr id="13" name="Shape 10"/>
          <p:cNvSpPr/>
          <p:nvPr/>
        </p:nvSpPr>
        <p:spPr>
          <a:xfrm>
            <a:off x="3925119" y="2400002"/>
            <a:ext cx="2312789" cy="14288"/>
          </a:xfrm>
          <a:prstGeom prst="rect">
            <a:avLst/>
          </a:prstGeom>
          <a:solidFill>
            <a:srgbClr val="4950BC"/>
          </a:solidFill>
          <a:ln/>
        </p:spPr>
      </p:sp>
      <p:sp>
        <p:nvSpPr>
          <p:cNvPr id="14" name="Text 11"/>
          <p:cNvSpPr/>
          <p:nvPr/>
        </p:nvSpPr>
        <p:spPr>
          <a:xfrm>
            <a:off x="3925119" y="2487216"/>
            <a:ext cx="2312789" cy="183431"/>
          </a:xfrm>
          <a:prstGeom prst="rect">
            <a:avLst/>
          </a:prstGeom>
          <a:noFill/>
          <a:ln/>
        </p:spPr>
        <p:txBody>
          <a:bodyPr wrap="none" lIns="0" tIns="0" rIns="0" bIns="0" rtlCol="0" anchor="t"/>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DAG 3: Feature Engineering</a:t>
            </a:r>
            <a:endParaRPr lang="en-US" sz="1150" dirty="0"/>
          </a:p>
        </p:txBody>
      </p:sp>
      <p:sp>
        <p:nvSpPr>
          <p:cNvPr id="15" name="Text 12"/>
          <p:cNvSpPr/>
          <p:nvPr/>
        </p:nvSpPr>
        <p:spPr>
          <a:xfrm>
            <a:off x="3925119" y="2728913"/>
            <a:ext cx="2312789" cy="573286"/>
          </a:xfrm>
          <a:prstGeom prst="rect">
            <a:avLst/>
          </a:prstGeom>
          <a:noFill/>
          <a:ln/>
        </p:spPr>
        <p:txBody>
          <a:bodyPr wrap="square" lIns="0" tIns="0" rIns="0" bIns="0" rtlCol="0" anchor="t">
            <a:normAutofit/>
          </a:bodyPr>
          <a:lstStyle/>
          <a:p>
            <a:pPr algn="l" indent="0" marL="0">
              <a:lnSpc>
                <a:spcPct val="122000"/>
              </a:lnSpc>
              <a:spcAft>
                <a:spcPts val="450"/>
              </a:spcAft>
              <a:buNone/>
            </a:pPr>
            <a:r>
              <a:rPr lang="en-US" sz="900" dirty="0">
                <a:solidFill>
                  <a:srgbClr val="272525"/>
                </a:solidFill>
                <a:latin typeface="Inter" pitchFamily="34" charset="0"/>
                <a:ea typeface="Inter" pitchFamily="34" charset="-122"/>
                <a:cs typeface="Inter" pitchFamily="34" charset="-120"/>
              </a:rPr>
              <a:t>Compute 17 financial metrics per scheme for model readiness.</a:t>
            </a:r>
            <a:endParaRPr lang="en-US" sz="900" dirty="0"/>
          </a:p>
          <a:p>
            <a:pPr algn="l" indent="0" marL="0">
              <a:lnSpc>
                <a:spcPct val="122000"/>
              </a:lnSpc>
              <a:buNone/>
            </a:pPr>
            <a:r>
              <a:rPr lang="en-US" sz="900" b="1" dirty="0">
                <a:solidFill>
                  <a:srgbClr val="272525"/>
                </a:solidFill>
                <a:latin typeface="Inter Bold" pitchFamily="34" charset="0"/>
                <a:ea typeface="Inter Bold" pitchFamily="34" charset="-122"/>
                <a:cs typeface="Inter Bold" pitchFamily="34" charset="-120"/>
              </a:rPr>
              <a:t>1,874 featured schemes</a:t>
            </a:r>
            <a:endParaRPr lang="en-US" sz="900" dirty="0"/>
          </a:p>
        </p:txBody>
      </p:sp>
      <p:sp>
        <p:nvSpPr>
          <p:cNvPr id="16" name="Text 13"/>
          <p:cNvSpPr/>
          <p:nvPr/>
        </p:nvSpPr>
        <p:spPr>
          <a:xfrm>
            <a:off x="6335092" y="2214786"/>
            <a:ext cx="234776" cy="146745"/>
          </a:xfrm>
          <a:prstGeom prst="rect">
            <a:avLst/>
          </a:prstGeom>
          <a:noFill/>
          <a:ln/>
        </p:spPr>
        <p:txBody>
          <a:bodyPr wrap="none" lIns="0" tIns="0" rIns="0" bIns="0" rtlCol="0" anchor="ctr"/>
          <a:lstStyle/>
          <a:p>
            <a:pPr algn="l" indent="0" marL="0">
              <a:lnSpc>
                <a:spcPct val="100000"/>
              </a:lnSpc>
              <a:buNone/>
            </a:pPr>
            <a:r>
              <a:rPr lang="en-US" sz="900" dirty="0">
                <a:solidFill>
                  <a:srgbClr val="272525"/>
                </a:solidFill>
                <a:latin typeface="Inter Light" pitchFamily="34" charset="0"/>
                <a:ea typeface="Inter Light" pitchFamily="34" charset="-122"/>
                <a:cs typeface="Inter Light" pitchFamily="34" charset="-120"/>
              </a:rPr>
              <a:t>04</a:t>
            </a:r>
            <a:endParaRPr lang="en-US" sz="900" dirty="0"/>
          </a:p>
        </p:txBody>
      </p:sp>
      <p:sp>
        <p:nvSpPr>
          <p:cNvPr id="17" name="Shape 14"/>
          <p:cNvSpPr/>
          <p:nvPr/>
        </p:nvSpPr>
        <p:spPr>
          <a:xfrm>
            <a:off x="6335092" y="2400002"/>
            <a:ext cx="2312789" cy="14288"/>
          </a:xfrm>
          <a:prstGeom prst="rect">
            <a:avLst/>
          </a:prstGeom>
          <a:solidFill>
            <a:srgbClr val="4950BC"/>
          </a:solidFill>
          <a:ln/>
        </p:spPr>
      </p:sp>
      <p:sp>
        <p:nvSpPr>
          <p:cNvPr id="18" name="Text 15"/>
          <p:cNvSpPr/>
          <p:nvPr/>
        </p:nvSpPr>
        <p:spPr>
          <a:xfrm>
            <a:off x="6335092" y="2487216"/>
            <a:ext cx="2312789" cy="183431"/>
          </a:xfrm>
          <a:prstGeom prst="rect">
            <a:avLst/>
          </a:prstGeom>
          <a:noFill/>
          <a:ln/>
        </p:spPr>
        <p:txBody>
          <a:bodyPr wrap="none" lIns="0" tIns="0" rIns="0" bIns="0" rtlCol="0" anchor="t"/>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DAG 4: ML Clustering</a:t>
            </a:r>
            <a:endParaRPr lang="en-US" sz="1150" dirty="0"/>
          </a:p>
        </p:txBody>
      </p:sp>
      <p:sp>
        <p:nvSpPr>
          <p:cNvPr id="19" name="Text 16"/>
          <p:cNvSpPr/>
          <p:nvPr/>
        </p:nvSpPr>
        <p:spPr>
          <a:xfrm>
            <a:off x="6335092" y="2728913"/>
            <a:ext cx="2312789" cy="343346"/>
          </a:xfrm>
          <a:prstGeom prst="rect">
            <a:avLst/>
          </a:prstGeom>
          <a:noFill/>
          <a:ln/>
        </p:spPr>
        <p:txBody>
          <a:bodyPr wrap="square" lIns="0" tIns="0" rIns="0" bIns="0" rtlCol="0" anchor="t">
            <a:normAutofit/>
          </a:bodyPr>
          <a:lstStyle/>
          <a:p>
            <a:pPr algn="l" indent="0" marL="0">
              <a:lnSpc>
                <a:spcPct val="122000"/>
              </a:lnSpc>
              <a:buNone/>
            </a:pPr>
            <a:r>
              <a:rPr lang="en-US" sz="900" dirty="0">
                <a:solidFill>
                  <a:srgbClr val="272525"/>
                </a:solidFill>
                <a:latin typeface="Inter" pitchFamily="34" charset="0"/>
                <a:ea typeface="Inter" pitchFamily="34" charset="-122"/>
                <a:cs typeface="Inter" pitchFamily="34" charset="-120"/>
              </a:rPr>
              <a:t>Run K-Means to group schemes by risk-return profile.</a:t>
            </a:r>
            <a:endParaRPr lang="en-US" sz="900" dirty="0"/>
          </a:p>
        </p:txBody>
      </p:sp>
      <p:sp>
        <p:nvSpPr>
          <p:cNvPr id="20" name="Text 17"/>
          <p:cNvSpPr/>
          <p:nvPr/>
        </p:nvSpPr>
        <p:spPr>
          <a:xfrm>
            <a:off x="3925119" y="3487415"/>
            <a:ext cx="234776" cy="146745"/>
          </a:xfrm>
          <a:prstGeom prst="rect">
            <a:avLst/>
          </a:prstGeom>
          <a:noFill/>
          <a:ln/>
        </p:spPr>
        <p:txBody>
          <a:bodyPr wrap="none" lIns="0" tIns="0" rIns="0" bIns="0" rtlCol="0" anchor="ctr"/>
          <a:lstStyle/>
          <a:p>
            <a:pPr algn="l" indent="0" marL="0">
              <a:lnSpc>
                <a:spcPct val="100000"/>
              </a:lnSpc>
              <a:buNone/>
            </a:pPr>
            <a:r>
              <a:rPr lang="en-US" sz="900" dirty="0">
                <a:solidFill>
                  <a:srgbClr val="272525"/>
                </a:solidFill>
                <a:latin typeface="Inter Light" pitchFamily="34" charset="0"/>
                <a:ea typeface="Inter Light" pitchFamily="34" charset="-122"/>
                <a:cs typeface="Inter Light" pitchFamily="34" charset="-120"/>
              </a:rPr>
              <a:t>05</a:t>
            </a:r>
            <a:endParaRPr lang="en-US" sz="900" dirty="0"/>
          </a:p>
        </p:txBody>
      </p:sp>
      <p:sp>
        <p:nvSpPr>
          <p:cNvPr id="21" name="Shape 18"/>
          <p:cNvSpPr/>
          <p:nvPr/>
        </p:nvSpPr>
        <p:spPr>
          <a:xfrm>
            <a:off x="3925119" y="3672632"/>
            <a:ext cx="2312789" cy="14288"/>
          </a:xfrm>
          <a:prstGeom prst="rect">
            <a:avLst/>
          </a:prstGeom>
          <a:solidFill>
            <a:srgbClr val="4950BC"/>
          </a:solidFill>
          <a:ln/>
        </p:spPr>
      </p:sp>
      <p:sp>
        <p:nvSpPr>
          <p:cNvPr id="22" name="Text 19"/>
          <p:cNvSpPr/>
          <p:nvPr/>
        </p:nvSpPr>
        <p:spPr>
          <a:xfrm>
            <a:off x="3925119" y="3759845"/>
            <a:ext cx="2312789" cy="183431"/>
          </a:xfrm>
          <a:prstGeom prst="rect">
            <a:avLst/>
          </a:prstGeom>
          <a:noFill/>
          <a:ln/>
        </p:spPr>
        <p:txBody>
          <a:bodyPr wrap="none" lIns="0" tIns="0" rIns="0" bIns="0" rtlCol="0" anchor="t"/>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DAG 5: ML Ranking</a:t>
            </a:r>
            <a:endParaRPr lang="en-US" sz="1150" dirty="0"/>
          </a:p>
        </p:txBody>
      </p:sp>
      <p:sp>
        <p:nvSpPr>
          <p:cNvPr id="23" name="Text 20"/>
          <p:cNvSpPr/>
          <p:nvPr/>
        </p:nvSpPr>
        <p:spPr>
          <a:xfrm>
            <a:off x="3925119" y="4001542"/>
            <a:ext cx="2312789" cy="343346"/>
          </a:xfrm>
          <a:prstGeom prst="rect">
            <a:avLst/>
          </a:prstGeom>
          <a:noFill/>
          <a:ln/>
        </p:spPr>
        <p:txBody>
          <a:bodyPr wrap="square" lIns="0" tIns="0" rIns="0" bIns="0" rtlCol="0" anchor="t">
            <a:normAutofit/>
          </a:bodyPr>
          <a:lstStyle/>
          <a:p>
            <a:pPr algn="l" indent="0" marL="0">
              <a:lnSpc>
                <a:spcPct val="122000"/>
              </a:lnSpc>
              <a:buNone/>
            </a:pPr>
            <a:r>
              <a:rPr lang="en-US" sz="900" dirty="0">
                <a:solidFill>
                  <a:srgbClr val="272525"/>
                </a:solidFill>
                <a:latin typeface="Inter" pitchFamily="34" charset="0"/>
                <a:ea typeface="Inter" pitchFamily="34" charset="-122"/>
                <a:cs typeface="Inter" pitchFamily="34" charset="-120"/>
              </a:rPr>
              <a:t>Apply composite scoring to rank schemes within each cluster.</a:t>
            </a:r>
            <a:endParaRPr lang="en-US" sz="900" dirty="0"/>
          </a:p>
        </p:txBody>
      </p:sp>
      <p:sp>
        <p:nvSpPr>
          <p:cNvPr id="24" name="Text 21"/>
          <p:cNvSpPr/>
          <p:nvPr/>
        </p:nvSpPr>
        <p:spPr>
          <a:xfrm>
            <a:off x="6335092" y="3487415"/>
            <a:ext cx="234776" cy="146745"/>
          </a:xfrm>
          <a:prstGeom prst="rect">
            <a:avLst/>
          </a:prstGeom>
          <a:noFill/>
          <a:ln/>
        </p:spPr>
        <p:txBody>
          <a:bodyPr wrap="none" lIns="0" tIns="0" rIns="0" bIns="0" rtlCol="0" anchor="ctr"/>
          <a:lstStyle/>
          <a:p>
            <a:pPr algn="l" indent="0" marL="0">
              <a:lnSpc>
                <a:spcPct val="100000"/>
              </a:lnSpc>
              <a:buNone/>
            </a:pPr>
            <a:r>
              <a:rPr lang="en-US" sz="900" dirty="0">
                <a:solidFill>
                  <a:srgbClr val="272525"/>
                </a:solidFill>
                <a:latin typeface="Inter Light" pitchFamily="34" charset="0"/>
                <a:ea typeface="Inter Light" pitchFamily="34" charset="-122"/>
                <a:cs typeface="Inter Light" pitchFamily="34" charset="-120"/>
              </a:rPr>
              <a:t>06</a:t>
            </a:r>
            <a:endParaRPr lang="en-US" sz="900" dirty="0"/>
          </a:p>
        </p:txBody>
      </p:sp>
      <p:sp>
        <p:nvSpPr>
          <p:cNvPr id="25" name="Shape 22"/>
          <p:cNvSpPr/>
          <p:nvPr/>
        </p:nvSpPr>
        <p:spPr>
          <a:xfrm>
            <a:off x="6335092" y="3672632"/>
            <a:ext cx="2312789" cy="14288"/>
          </a:xfrm>
          <a:prstGeom prst="rect">
            <a:avLst/>
          </a:prstGeom>
          <a:solidFill>
            <a:srgbClr val="4950BC"/>
          </a:solidFill>
          <a:ln/>
        </p:spPr>
      </p:sp>
      <p:sp>
        <p:nvSpPr>
          <p:cNvPr id="26" name="Text 23"/>
          <p:cNvSpPr/>
          <p:nvPr/>
        </p:nvSpPr>
        <p:spPr>
          <a:xfrm>
            <a:off x="6335092" y="3759845"/>
            <a:ext cx="2312789" cy="183431"/>
          </a:xfrm>
          <a:prstGeom prst="rect">
            <a:avLst/>
          </a:prstGeom>
          <a:noFill/>
          <a:ln/>
        </p:spPr>
        <p:txBody>
          <a:bodyPr wrap="none" lIns="0" tIns="0" rIns="0" bIns="0" rtlCol="0" anchor="t"/>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DAG 6: Master Orchestration</a:t>
            </a:r>
            <a:endParaRPr lang="en-US" sz="1150" dirty="0"/>
          </a:p>
        </p:txBody>
      </p:sp>
      <p:sp>
        <p:nvSpPr>
          <p:cNvPr id="27" name="Text 24"/>
          <p:cNvSpPr/>
          <p:nvPr/>
        </p:nvSpPr>
        <p:spPr>
          <a:xfrm>
            <a:off x="6335092" y="4001542"/>
            <a:ext cx="2312789" cy="343346"/>
          </a:xfrm>
          <a:prstGeom prst="rect">
            <a:avLst/>
          </a:prstGeom>
          <a:noFill/>
          <a:ln/>
        </p:spPr>
        <p:txBody>
          <a:bodyPr wrap="square" lIns="0" tIns="0" rIns="0" bIns="0" rtlCol="0" anchor="t">
            <a:normAutofit/>
          </a:bodyPr>
          <a:lstStyle/>
          <a:p>
            <a:pPr algn="l" indent="0" marL="0">
              <a:lnSpc>
                <a:spcPct val="122000"/>
              </a:lnSpc>
              <a:buNone/>
            </a:pPr>
            <a:r>
              <a:rPr lang="en-US" sz="900" dirty="0">
                <a:solidFill>
                  <a:srgbClr val="272525"/>
                </a:solidFill>
                <a:latin typeface="Inter" pitchFamily="34" charset="0"/>
                <a:ea typeface="Inter" pitchFamily="34" charset="-122"/>
                <a:cs typeface="Inter" pitchFamily="34" charset="-120"/>
              </a:rPr>
              <a:t>Coordinate the end-to-end Airflow pipeline and downstream outputs.</a:t>
            </a:r>
            <a:endParaRPr lang="en-US" sz="900" dirty="0"/>
          </a:p>
        </p:txBody>
      </p:sp>
      <p:sp>
        <p:nvSpPr>
          <p:cNvPr id="28" name="Text 25"/>
          <p:cNvSpPr/>
          <p:nvPr/>
        </p:nvSpPr>
        <p:spPr>
          <a:xfrm>
            <a:off x="3925119" y="4542234"/>
            <a:ext cx="5179963" cy="171673"/>
          </a:xfrm>
          <a:prstGeom prst="rect">
            <a:avLst/>
          </a:prstGeom>
          <a:noFill/>
          <a:ln/>
        </p:spPr>
        <p:txBody>
          <a:bodyPr wrap="none" lIns="0" tIns="0" rIns="0" bIns="0" rtlCol="0" anchor="t"/>
          <a:lstStyle/>
          <a:p>
            <a:pPr algn="l" indent="0" marL="0">
              <a:lnSpc>
                <a:spcPct val="122000"/>
              </a:lnSpc>
              <a:buNone/>
            </a:pPr>
            <a:r>
              <a:rPr lang="en-US" sz="900" b="1" dirty="0">
                <a:solidFill>
                  <a:srgbClr val="272525"/>
                </a:solidFill>
                <a:latin typeface="Inter Bold" pitchFamily="34" charset="0"/>
                <a:ea typeface="Inter Bold" pitchFamily="34" charset="-122"/>
                <a:cs typeface="Inter Bold" pitchFamily="34" charset="-120"/>
              </a:rPr>
              <a:t>Data flow:</a:t>
            </a:r>
            <a:pPr algn="l" indent="0" marL="0">
              <a:lnSpc>
                <a:spcPct val="122000"/>
              </a:lnSpc>
              <a:buNone/>
            </a:pPr>
            <a:r>
              <a:rPr lang="en-US" sz="900" dirty="0">
                <a:solidFill>
                  <a:srgbClr val="272525"/>
                </a:solidFill>
                <a:latin typeface="Inter" pitchFamily="34" charset="0"/>
                <a:ea typeface="Inter" pitchFamily="34" charset="-122"/>
                <a:cs typeface="Inter" pitchFamily="34" charset="-120"/>
              </a:rPr>
              <a:t> 14,341 raw → 11,506 cleaned → 1,874 featured schemes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484138"/>
            <a:ext cx="8151763" cy="380702"/>
          </a:xfrm>
          <a:prstGeom prst="rect">
            <a:avLst/>
          </a:prstGeom>
          <a:noFill/>
          <a:ln/>
        </p:spPr>
        <p:txBody>
          <a:bodyPr wrap="none" lIns="0" tIns="0" rIns="0" bIns="0" rtlCol="0" anchor="t"/>
          <a:lstStyle/>
          <a:p>
            <a:pPr algn="l" indent="0" marL="0">
              <a:lnSpc>
                <a:spcPct val="104000"/>
              </a:lnSpc>
              <a:buNone/>
            </a:pPr>
            <a:r>
              <a:rPr lang="en-US" sz="2350" b="1" dirty="0">
                <a:solidFill>
                  <a:srgbClr val="000000"/>
                </a:solidFill>
                <a:latin typeface="Inter Bold" pitchFamily="34" charset="0"/>
                <a:ea typeface="Inter Bold" pitchFamily="34" charset="-122"/>
                <a:cs typeface="Inter Bold" pitchFamily="34" charset="-120"/>
              </a:rPr>
              <a:t>17 Engineered Financial Metrics</a:t>
            </a:r>
            <a:endParaRPr lang="en-US" sz="23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1074167"/>
            <a:ext cx="243632" cy="243632"/>
          </a:xfrm>
          <a:prstGeom prst="rect">
            <a:avLst/>
          </a:prstGeom>
        </p:spPr>
      </p:pic>
      <p:sp>
        <p:nvSpPr>
          <p:cNvPr id="4" name="Text 1"/>
          <p:cNvSpPr/>
          <p:nvPr/>
        </p:nvSpPr>
        <p:spPr>
          <a:xfrm>
            <a:off x="496119" y="1448619"/>
            <a:ext cx="4010471" cy="190351"/>
          </a:xfrm>
          <a:prstGeom prst="rect">
            <a:avLst/>
          </a:prstGeom>
          <a:noFill/>
          <a:ln/>
        </p:spPr>
        <p:txBody>
          <a:bodyPr wrap="none" lIns="0" tIns="0" rIns="0" bIns="0" rtlCol="0" anchor="t"/>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Trend Metrics</a:t>
            </a:r>
            <a:endParaRPr lang="en-US" sz="1150" dirty="0"/>
          </a:p>
        </p:txBody>
      </p:sp>
      <p:sp>
        <p:nvSpPr>
          <p:cNvPr id="5" name="Text 2"/>
          <p:cNvSpPr/>
          <p:nvPr/>
        </p:nvSpPr>
        <p:spPr>
          <a:xfrm>
            <a:off x="496119" y="1701775"/>
            <a:ext cx="4010471" cy="181198"/>
          </a:xfrm>
          <a:prstGeom prst="rect">
            <a:avLst/>
          </a:prstGeom>
          <a:noFill/>
          <a:ln/>
        </p:spPr>
        <p:txBody>
          <a:bodyPr wrap="none" lIns="0" tIns="0" rIns="0" bIns="0" rtlCol="0" anchor="t"/>
          <a:lstStyle/>
          <a:p>
            <a:pPr algn="l" indent="0" marL="0">
              <a:lnSpc>
                <a:spcPct val="124000"/>
              </a:lnSpc>
              <a:buNone/>
            </a:pPr>
            <a:r>
              <a:rPr lang="en-US" sz="950" dirty="0">
                <a:solidFill>
                  <a:srgbClr val="272525"/>
                </a:solidFill>
                <a:latin typeface="Inter" pitchFamily="34" charset="0"/>
                <a:ea typeface="Inter" pitchFamily="34" charset="-122"/>
                <a:cs typeface="Inter" pitchFamily="34" charset="-120"/>
              </a:rPr>
              <a:t>Direction and smoothness of price movement over time.</a:t>
            </a:r>
            <a:endParaRPr lang="en-US" sz="950" dirty="0"/>
          </a:p>
        </p:txBody>
      </p:sp>
      <p:sp>
        <p:nvSpPr>
          <p:cNvPr id="6" name="Text 3"/>
          <p:cNvSpPr/>
          <p:nvPr/>
        </p:nvSpPr>
        <p:spPr>
          <a:xfrm>
            <a:off x="496119" y="1945779"/>
            <a:ext cx="4010471" cy="834628"/>
          </a:xfrm>
          <a:prstGeom prst="rect">
            <a:avLst/>
          </a:prstGeom>
          <a:noFill/>
          <a:ln/>
        </p:spPr>
        <p:txBody>
          <a:bodyPr wrap="square" lIns="0" tIns="0" rIns="0" bIns="0" rtlCol="0" anchor="t">
            <a:normAutofit/>
          </a:bodyPr>
          <a:lstStyle/>
          <a:p>
            <a:pPr algn="l" marL="193040" indent="-193040">
              <a:lnSpc>
                <a:spcPct val="124000"/>
              </a:lnSpc>
              <a:buSzPct val="100000"/>
              <a:buChar char="•"/>
            </a:pPr>
            <a:r>
              <a:rPr lang="en-US" sz="950" dirty="0">
                <a:solidFill>
                  <a:srgbClr val="272525"/>
                </a:solidFill>
                <a:latin typeface="Inter" pitchFamily="34" charset="0"/>
                <a:ea typeface="Inter" pitchFamily="34" charset="-122"/>
                <a:cs typeface="Inter" pitchFamily="34" charset="-120"/>
              </a:rPr>
              <a:t>SMA 50: 50-day simple moving average</a:t>
            </a:r>
            <a:endParaRPr lang="en-US" sz="950" dirty="0"/>
          </a:p>
          <a:p>
            <a:pPr algn="l" marL="193040" indent="-193040">
              <a:lnSpc>
                <a:spcPct val="124000"/>
              </a:lnSpc>
              <a:buSzPct val="100000"/>
              <a:buChar char="•"/>
            </a:pPr>
            <a:r>
              <a:rPr lang="en-US" sz="950" dirty="0">
                <a:solidFill>
                  <a:srgbClr val="272525"/>
                </a:solidFill>
                <a:latin typeface="Inter" pitchFamily="34" charset="0"/>
                <a:ea typeface="Inter" pitchFamily="34" charset="-122"/>
                <a:cs typeface="Inter" pitchFamily="34" charset="-120"/>
              </a:rPr>
              <a:t>SMA 200: 200-day simple moving average</a:t>
            </a:r>
            <a:endParaRPr lang="en-US" sz="950" dirty="0"/>
          </a:p>
          <a:p>
            <a:pPr algn="l" marL="193040" indent="-193040">
              <a:lnSpc>
                <a:spcPct val="124000"/>
              </a:lnSpc>
              <a:buSzPct val="100000"/>
              <a:buChar char="•"/>
            </a:pPr>
            <a:r>
              <a:rPr lang="en-US" sz="950" dirty="0">
                <a:solidFill>
                  <a:srgbClr val="272525"/>
                </a:solidFill>
                <a:latin typeface="Inter" pitchFamily="34" charset="0"/>
                <a:ea typeface="Inter" pitchFamily="34" charset="-122"/>
                <a:cs typeface="Inter" pitchFamily="34" charset="-120"/>
              </a:rPr>
              <a:t>EMA 12: 12-day exponential moving average</a:t>
            </a:r>
            <a:endParaRPr lang="en-US" sz="950" dirty="0"/>
          </a:p>
          <a:p>
            <a:pPr algn="l" marL="193040" indent="-193040">
              <a:lnSpc>
                <a:spcPct val="124000"/>
              </a:lnSpc>
              <a:buSzPct val="100000"/>
              <a:buChar char="•"/>
            </a:pPr>
            <a:r>
              <a:rPr lang="en-US" sz="950" dirty="0">
                <a:solidFill>
                  <a:srgbClr val="272525"/>
                </a:solidFill>
                <a:latin typeface="Inter" pitchFamily="34" charset="0"/>
                <a:ea typeface="Inter" pitchFamily="34" charset="-122"/>
                <a:cs typeface="Inter" pitchFamily="34" charset="-120"/>
              </a:rPr>
              <a:t>EMA 26: 26-day exponential moving average</a:t>
            </a:r>
            <a:endParaRPr lang="en-US" sz="9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37410" y="1074167"/>
            <a:ext cx="243632" cy="243632"/>
          </a:xfrm>
          <a:prstGeom prst="rect">
            <a:avLst/>
          </a:prstGeom>
        </p:spPr>
      </p:pic>
      <p:sp>
        <p:nvSpPr>
          <p:cNvPr id="8" name="Text 4"/>
          <p:cNvSpPr/>
          <p:nvPr/>
        </p:nvSpPr>
        <p:spPr>
          <a:xfrm>
            <a:off x="4637410" y="1448619"/>
            <a:ext cx="4010471" cy="190351"/>
          </a:xfrm>
          <a:prstGeom prst="rect">
            <a:avLst/>
          </a:prstGeom>
          <a:noFill/>
          <a:ln/>
        </p:spPr>
        <p:txBody>
          <a:bodyPr wrap="none" lIns="0" tIns="0" rIns="0" bIns="0" rtlCol="0" anchor="t"/>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Risk Metrics</a:t>
            </a:r>
            <a:endParaRPr lang="en-US" sz="1150" dirty="0"/>
          </a:p>
        </p:txBody>
      </p:sp>
      <p:sp>
        <p:nvSpPr>
          <p:cNvPr id="9" name="Text 5"/>
          <p:cNvSpPr/>
          <p:nvPr/>
        </p:nvSpPr>
        <p:spPr>
          <a:xfrm>
            <a:off x="4637410" y="1701775"/>
            <a:ext cx="4010471" cy="181198"/>
          </a:xfrm>
          <a:prstGeom prst="rect">
            <a:avLst/>
          </a:prstGeom>
          <a:noFill/>
          <a:ln/>
        </p:spPr>
        <p:txBody>
          <a:bodyPr wrap="none" lIns="0" tIns="0" rIns="0" bIns="0" rtlCol="0" anchor="t"/>
          <a:lstStyle/>
          <a:p>
            <a:pPr algn="l" indent="0" marL="0">
              <a:lnSpc>
                <a:spcPct val="124000"/>
              </a:lnSpc>
              <a:buNone/>
            </a:pPr>
            <a:r>
              <a:rPr lang="en-US" sz="950" dirty="0">
                <a:solidFill>
                  <a:srgbClr val="272525"/>
                </a:solidFill>
                <a:latin typeface="Inter" pitchFamily="34" charset="0"/>
                <a:ea typeface="Inter" pitchFamily="34" charset="-122"/>
                <a:cs typeface="Inter" pitchFamily="34" charset="-120"/>
              </a:rPr>
              <a:t>Variability and downside risk carried by the asset.</a:t>
            </a:r>
            <a:endParaRPr lang="en-US" sz="950" dirty="0"/>
          </a:p>
        </p:txBody>
      </p:sp>
      <p:sp>
        <p:nvSpPr>
          <p:cNvPr id="10" name="Text 6"/>
          <p:cNvSpPr/>
          <p:nvPr/>
        </p:nvSpPr>
        <p:spPr>
          <a:xfrm>
            <a:off x="4637410" y="1945779"/>
            <a:ext cx="4010471" cy="1015826"/>
          </a:xfrm>
          <a:prstGeom prst="rect">
            <a:avLst/>
          </a:prstGeom>
          <a:noFill/>
          <a:ln/>
        </p:spPr>
        <p:txBody>
          <a:bodyPr wrap="square" lIns="0" tIns="0" rIns="0" bIns="0" rtlCol="0" anchor="t">
            <a:normAutofit/>
          </a:bodyPr>
          <a:lstStyle/>
          <a:p>
            <a:pPr algn="l" marL="193040" indent="-193040">
              <a:lnSpc>
                <a:spcPct val="124000"/>
              </a:lnSpc>
              <a:buSzPct val="100000"/>
              <a:buChar char="•"/>
            </a:pPr>
            <a:r>
              <a:rPr lang="en-US" sz="950" dirty="0">
                <a:solidFill>
                  <a:srgbClr val="272525"/>
                </a:solidFill>
                <a:latin typeface="Inter" pitchFamily="34" charset="0"/>
                <a:ea typeface="Inter" pitchFamily="34" charset="-122"/>
                <a:cs typeface="Inter" pitchFamily="34" charset="-120"/>
              </a:rPr>
              <a:t>Annualized Volatility: Standard deviation of returns scaled to a year</a:t>
            </a:r>
            <a:endParaRPr lang="en-US" sz="950" dirty="0"/>
          </a:p>
          <a:p>
            <a:pPr algn="l" marL="193040" indent="-193040">
              <a:lnSpc>
                <a:spcPct val="124000"/>
              </a:lnSpc>
              <a:buSzPct val="100000"/>
              <a:buChar char="•"/>
            </a:pPr>
            <a:r>
              <a:rPr lang="en-US" sz="950" dirty="0">
                <a:solidFill>
                  <a:srgbClr val="272525"/>
                </a:solidFill>
                <a:latin typeface="Inter" pitchFamily="34" charset="0"/>
                <a:ea typeface="Inter" pitchFamily="34" charset="-122"/>
                <a:cs typeface="Inter" pitchFamily="34" charset="-120"/>
              </a:rPr>
              <a:t>Sharpe Ratio: Risk-adjusted return relative to total volatility</a:t>
            </a:r>
            <a:endParaRPr lang="en-US" sz="950" dirty="0"/>
          </a:p>
          <a:p>
            <a:pPr algn="l" marL="193040" indent="-193040">
              <a:lnSpc>
                <a:spcPct val="124000"/>
              </a:lnSpc>
              <a:buSzPct val="100000"/>
              <a:buChar char="•"/>
            </a:pPr>
            <a:r>
              <a:rPr lang="en-US" sz="950" dirty="0">
                <a:solidFill>
                  <a:srgbClr val="272525"/>
                </a:solidFill>
                <a:latin typeface="Inter" pitchFamily="34" charset="0"/>
                <a:ea typeface="Inter" pitchFamily="34" charset="-122"/>
                <a:cs typeface="Inter" pitchFamily="34" charset="-120"/>
              </a:rPr>
              <a:t>Sortino Ratio: Risk-adjusted return focused on downside volatility</a:t>
            </a:r>
            <a:endParaRPr lang="en-US" sz="950" dirty="0"/>
          </a:p>
          <a:p>
            <a:pPr algn="l" marL="193040" indent="-193040">
              <a:lnSpc>
                <a:spcPct val="124000"/>
              </a:lnSpc>
              <a:buSzPct val="100000"/>
              <a:buChar char="•"/>
            </a:pPr>
            <a:r>
              <a:rPr lang="en-US" sz="950" dirty="0">
                <a:solidFill>
                  <a:srgbClr val="272525"/>
                </a:solidFill>
                <a:latin typeface="Inter" pitchFamily="34" charset="0"/>
                <a:ea typeface="Inter" pitchFamily="34" charset="-122"/>
                <a:cs typeface="Inter" pitchFamily="34" charset="-120"/>
              </a:rPr>
              <a:t>Maximum Drawdown: Largest peak-to-trough decline</a:t>
            </a:r>
            <a:endParaRPr lang="en-US" sz="9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3170932"/>
            <a:ext cx="243632" cy="243632"/>
          </a:xfrm>
          <a:prstGeom prst="rect">
            <a:avLst/>
          </a:prstGeom>
        </p:spPr>
      </p:pic>
      <p:sp>
        <p:nvSpPr>
          <p:cNvPr id="12" name="Text 7"/>
          <p:cNvSpPr/>
          <p:nvPr/>
        </p:nvSpPr>
        <p:spPr>
          <a:xfrm>
            <a:off x="496119" y="3545384"/>
            <a:ext cx="4010471" cy="190351"/>
          </a:xfrm>
          <a:prstGeom prst="rect">
            <a:avLst/>
          </a:prstGeom>
          <a:noFill/>
          <a:ln/>
        </p:spPr>
        <p:txBody>
          <a:bodyPr wrap="none" lIns="0" tIns="0" rIns="0" bIns="0" rtlCol="0" anchor="t"/>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Momentum Metrics</a:t>
            </a:r>
            <a:endParaRPr lang="en-US" sz="1150" dirty="0"/>
          </a:p>
        </p:txBody>
      </p:sp>
      <p:sp>
        <p:nvSpPr>
          <p:cNvPr id="13" name="Text 8"/>
          <p:cNvSpPr/>
          <p:nvPr/>
        </p:nvSpPr>
        <p:spPr>
          <a:xfrm>
            <a:off x="496119" y="3798540"/>
            <a:ext cx="4010471" cy="181198"/>
          </a:xfrm>
          <a:prstGeom prst="rect">
            <a:avLst/>
          </a:prstGeom>
          <a:noFill/>
          <a:ln/>
        </p:spPr>
        <p:txBody>
          <a:bodyPr wrap="none" lIns="0" tIns="0" rIns="0" bIns="0" rtlCol="0" anchor="t"/>
          <a:lstStyle/>
          <a:p>
            <a:pPr algn="l" indent="0" marL="0">
              <a:lnSpc>
                <a:spcPct val="124000"/>
              </a:lnSpc>
              <a:buNone/>
            </a:pPr>
            <a:r>
              <a:rPr lang="en-US" sz="950" dirty="0">
                <a:solidFill>
                  <a:srgbClr val="272525"/>
                </a:solidFill>
                <a:latin typeface="Inter" pitchFamily="34" charset="0"/>
                <a:ea typeface="Inter" pitchFamily="34" charset="-122"/>
                <a:cs typeface="Inter" pitchFamily="34" charset="-120"/>
              </a:rPr>
              <a:t>Strength and speed of recent price moves.</a:t>
            </a:r>
            <a:endParaRPr lang="en-US" sz="950" dirty="0"/>
          </a:p>
        </p:txBody>
      </p:sp>
      <p:sp>
        <p:nvSpPr>
          <p:cNvPr id="14" name="Text 9"/>
          <p:cNvSpPr/>
          <p:nvPr/>
        </p:nvSpPr>
        <p:spPr>
          <a:xfrm>
            <a:off x="496119" y="4042544"/>
            <a:ext cx="4010471" cy="580206"/>
          </a:xfrm>
          <a:prstGeom prst="rect">
            <a:avLst/>
          </a:prstGeom>
          <a:noFill/>
          <a:ln/>
        </p:spPr>
        <p:txBody>
          <a:bodyPr wrap="square" lIns="0" tIns="0" rIns="0" bIns="0" rtlCol="0" anchor="t">
            <a:normAutofit/>
          </a:bodyPr>
          <a:lstStyle/>
          <a:p>
            <a:pPr algn="l" marL="193040" indent="-193040">
              <a:lnSpc>
                <a:spcPct val="124000"/>
              </a:lnSpc>
              <a:buSzPct val="100000"/>
              <a:buChar char="•"/>
            </a:pPr>
            <a:r>
              <a:rPr lang="en-US" sz="950" dirty="0">
                <a:solidFill>
                  <a:srgbClr val="272525"/>
                </a:solidFill>
                <a:latin typeface="Inter" pitchFamily="34" charset="0"/>
                <a:ea typeface="Inter" pitchFamily="34" charset="-122"/>
                <a:cs typeface="Inter" pitchFamily="34" charset="-120"/>
              </a:rPr>
              <a:t>RSI: Relative strength index showing overbought or oversold conditions</a:t>
            </a:r>
            <a:endParaRPr lang="en-US" sz="950" dirty="0"/>
          </a:p>
          <a:p>
            <a:pPr algn="l" marL="193040" indent="-193040">
              <a:lnSpc>
                <a:spcPct val="124000"/>
              </a:lnSpc>
              <a:buSzPct val="100000"/>
              <a:buChar char="•"/>
            </a:pPr>
            <a:r>
              <a:rPr lang="en-US" sz="950" dirty="0">
                <a:solidFill>
                  <a:srgbClr val="272525"/>
                </a:solidFill>
                <a:latin typeface="Inter" pitchFamily="34" charset="0"/>
                <a:ea typeface="Inter" pitchFamily="34" charset="-122"/>
                <a:cs typeface="Inter" pitchFamily="34" charset="-120"/>
              </a:rPr>
              <a:t>Trend Strength: Score indicating how strongly price is trending</a:t>
            </a:r>
            <a:endParaRPr lang="en-US" sz="9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37410" y="3170932"/>
            <a:ext cx="243632" cy="243632"/>
          </a:xfrm>
          <a:prstGeom prst="rect">
            <a:avLst/>
          </a:prstGeom>
        </p:spPr>
      </p:pic>
      <p:sp>
        <p:nvSpPr>
          <p:cNvPr id="16" name="Text 10"/>
          <p:cNvSpPr/>
          <p:nvPr/>
        </p:nvSpPr>
        <p:spPr>
          <a:xfrm>
            <a:off x="4637410" y="3545384"/>
            <a:ext cx="4010471" cy="190351"/>
          </a:xfrm>
          <a:prstGeom prst="rect">
            <a:avLst/>
          </a:prstGeom>
          <a:noFill/>
          <a:ln/>
        </p:spPr>
        <p:txBody>
          <a:bodyPr wrap="none" lIns="0" tIns="0" rIns="0" bIns="0" rtlCol="0" anchor="t"/>
          <a:lstStyle/>
          <a:p>
            <a:pPr algn="l" indent="0" marL="0">
              <a:lnSpc>
                <a:spcPct val="104000"/>
              </a:lnSpc>
              <a:buNone/>
            </a:pPr>
            <a:r>
              <a:rPr lang="en-US" sz="1150" b="1" dirty="0">
                <a:solidFill>
                  <a:srgbClr val="272525"/>
                </a:solidFill>
                <a:latin typeface="Inter Bold" pitchFamily="34" charset="0"/>
                <a:ea typeface="Inter Bold" pitchFamily="34" charset="-122"/>
                <a:cs typeface="Inter Bold" pitchFamily="34" charset="-120"/>
              </a:rPr>
              <a:t>Return Metrics</a:t>
            </a:r>
            <a:endParaRPr lang="en-US" sz="1150" dirty="0"/>
          </a:p>
        </p:txBody>
      </p:sp>
      <p:sp>
        <p:nvSpPr>
          <p:cNvPr id="17" name="Text 11"/>
          <p:cNvSpPr/>
          <p:nvPr/>
        </p:nvSpPr>
        <p:spPr>
          <a:xfrm>
            <a:off x="4637410" y="3798540"/>
            <a:ext cx="4010471" cy="181198"/>
          </a:xfrm>
          <a:prstGeom prst="rect">
            <a:avLst/>
          </a:prstGeom>
          <a:noFill/>
          <a:ln/>
        </p:spPr>
        <p:txBody>
          <a:bodyPr wrap="none" lIns="0" tIns="0" rIns="0" bIns="0" rtlCol="0" anchor="t"/>
          <a:lstStyle/>
          <a:p>
            <a:pPr algn="l" indent="0" marL="0">
              <a:lnSpc>
                <a:spcPct val="124000"/>
              </a:lnSpc>
              <a:buNone/>
            </a:pPr>
            <a:r>
              <a:rPr lang="en-US" sz="950" dirty="0">
                <a:solidFill>
                  <a:srgbClr val="272525"/>
                </a:solidFill>
                <a:latin typeface="Inter" pitchFamily="34" charset="0"/>
                <a:ea typeface="Inter" pitchFamily="34" charset="-122"/>
                <a:cs typeface="Inter" pitchFamily="34" charset="-120"/>
              </a:rPr>
              <a:t>Value generated over different time horizons.</a:t>
            </a:r>
            <a:endParaRPr lang="en-US" sz="950" dirty="0"/>
          </a:p>
        </p:txBody>
      </p:sp>
      <p:sp>
        <p:nvSpPr>
          <p:cNvPr id="18" name="Text 12"/>
          <p:cNvSpPr/>
          <p:nvPr/>
        </p:nvSpPr>
        <p:spPr>
          <a:xfrm>
            <a:off x="4637410" y="4042544"/>
            <a:ext cx="4010471" cy="616818"/>
          </a:xfrm>
          <a:prstGeom prst="rect">
            <a:avLst/>
          </a:prstGeom>
          <a:noFill/>
          <a:ln/>
        </p:spPr>
        <p:txBody>
          <a:bodyPr wrap="square" lIns="0" tIns="0" rIns="0" bIns="0" rtlCol="0" anchor="t">
            <a:normAutofit/>
          </a:bodyPr>
          <a:lstStyle/>
          <a:p>
            <a:pPr algn="l" marL="193040" indent="-193040">
              <a:lnSpc>
                <a:spcPct val="124000"/>
              </a:lnSpc>
              <a:buSzPct val="100000"/>
              <a:buChar char="•"/>
            </a:pPr>
            <a:r>
              <a:rPr lang="en-US" sz="950" dirty="0">
                <a:solidFill>
                  <a:srgbClr val="272525"/>
                </a:solidFill>
                <a:latin typeface="Inter" pitchFamily="34" charset="0"/>
                <a:ea typeface="Inter" pitchFamily="34" charset="-122"/>
                <a:cs typeface="Inter" pitchFamily="34" charset="-120"/>
              </a:rPr>
              <a:t>Total Return: Overall gain or loss across the full period</a:t>
            </a:r>
            <a:endParaRPr lang="en-US" sz="950" dirty="0"/>
          </a:p>
          <a:p>
            <a:pPr algn="l" marL="193040" indent="-193040">
              <a:lnSpc>
                <a:spcPct val="124000"/>
              </a:lnSpc>
              <a:buSzPct val="100000"/>
              <a:buChar char="•"/>
            </a:pPr>
            <a:r>
              <a:rPr lang="en-US" sz="950" dirty="0">
                <a:solidFill>
                  <a:srgbClr val="272525"/>
                </a:solidFill>
                <a:latin typeface="Inter" pitchFamily="34" charset="0"/>
                <a:ea typeface="Inter" pitchFamily="34" charset="-122"/>
                <a:cs typeface="Inter" pitchFamily="34" charset="-120"/>
              </a:rPr>
              <a:t>Cumulative Return: Compounded growth over time</a:t>
            </a:r>
            <a:endParaRPr lang="en-US" sz="950" dirty="0"/>
          </a:p>
          <a:p>
            <a:pPr algn="l" marL="193040" indent="-193040">
              <a:lnSpc>
                <a:spcPct val="124000"/>
              </a:lnSpc>
              <a:buSzPct val="100000"/>
              <a:buChar char="•"/>
            </a:pPr>
            <a:r>
              <a:rPr lang="en-US" sz="950" dirty="0">
                <a:solidFill>
                  <a:srgbClr val="272525"/>
                </a:solidFill>
                <a:latin typeface="Inter" pitchFamily="34" charset="0"/>
                <a:ea typeface="Inter" pitchFamily="34" charset="-122"/>
                <a:cs typeface="Inter" pitchFamily="34" charset="-120"/>
              </a:rPr>
              <a:t>Daily Return: One-day percentage change in price or NAV</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549250"/>
            <a:ext cx="8151763" cy="442987"/>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Inter Bold" pitchFamily="34" charset="0"/>
                <a:ea typeface="Inter Bold" pitchFamily="34" charset="-122"/>
                <a:cs typeface="Inter Bold" pitchFamily="34" charset="-120"/>
              </a:rPr>
              <a:t>FastAPI</a:t>
            </a:r>
            <a:endParaRPr lang="en-US" sz="2750" dirty="0"/>
          </a:p>
        </p:txBody>
      </p:sp>
      <p:sp>
        <p:nvSpPr>
          <p:cNvPr id="3" name="Text 1"/>
          <p:cNvSpPr/>
          <p:nvPr/>
        </p:nvSpPr>
        <p:spPr>
          <a:xfrm>
            <a:off x="496119" y="1204838"/>
            <a:ext cx="8608963" cy="226814"/>
          </a:xfrm>
          <a:prstGeom prst="rect">
            <a:avLst/>
          </a:prstGeom>
          <a:noFill/>
          <a:ln/>
        </p:spPr>
        <p:txBody>
          <a:bodyPr wrap="none" lIns="0" tIns="0" rIns="0" bIns="0" rtlCol="0" anchor="t"/>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FastAPI is the backend routing microservice that enables high-throughput asynchronous performance for the platform.</a:t>
            </a:r>
            <a:endParaRPr lang="en-US" sz="1100" dirty="0"/>
          </a:p>
        </p:txBody>
      </p:sp>
      <p:sp>
        <p:nvSpPr>
          <p:cNvPr id="4" name="Text 2"/>
          <p:cNvSpPr/>
          <p:nvPr/>
        </p:nvSpPr>
        <p:spPr>
          <a:xfrm>
            <a:off x="496119" y="1732880"/>
            <a:ext cx="3902943" cy="221456"/>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API Details</a:t>
            </a:r>
            <a:endParaRPr lang="en-US" sz="1350" dirty="0"/>
          </a:p>
        </p:txBody>
      </p:sp>
      <p:sp>
        <p:nvSpPr>
          <p:cNvPr id="5" name="Text 3"/>
          <p:cNvSpPr/>
          <p:nvPr/>
        </p:nvSpPr>
        <p:spPr>
          <a:xfrm>
            <a:off x="496119" y="2096095"/>
            <a:ext cx="3902943" cy="1055936"/>
          </a:xfrm>
          <a:prstGeom prst="rect">
            <a:avLst/>
          </a:prstGeom>
          <a:noFill/>
          <a:ln/>
        </p:spPr>
        <p:txBody>
          <a:bodyPr wrap="square" lIns="0" tIns="0" rIns="0" bIns="0" rtlCol="0" anchor="t">
            <a:normAutofit/>
          </a:bodyPr>
          <a:lstStyle/>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15+ secure REST endpoints</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Pydantic structures for data validation</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Redis caching for sub-100ms response times</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Async execution with Uvicorn</a:t>
            </a:r>
            <a:endParaRPr lang="en-US" sz="1100" dirty="0"/>
          </a:p>
        </p:txBody>
      </p:sp>
      <p:sp>
        <p:nvSpPr>
          <p:cNvPr id="6" name="Text 4"/>
          <p:cNvSpPr/>
          <p:nvPr/>
        </p:nvSpPr>
        <p:spPr>
          <a:xfrm>
            <a:off x="4749701" y="1732880"/>
            <a:ext cx="3902943" cy="221456"/>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Core Endpoints</a:t>
            </a:r>
            <a:endParaRPr lang="en-US" sz="1350" dirty="0"/>
          </a:p>
        </p:txBody>
      </p:sp>
      <p:sp>
        <p:nvSpPr>
          <p:cNvPr id="7" name="Text 5"/>
          <p:cNvSpPr/>
          <p:nvPr/>
        </p:nvSpPr>
        <p:spPr>
          <a:xfrm>
            <a:off x="4749701" y="2096095"/>
            <a:ext cx="3902943" cy="2062311"/>
          </a:xfrm>
          <a:prstGeom prst="rect">
            <a:avLst/>
          </a:prstGeom>
          <a:noFill/>
          <a:ln/>
        </p:spPr>
        <p:txBody>
          <a:bodyPr wrap="square" lIns="0" tIns="0" rIns="0" bIns="0" rtlCol="0" anchor="t">
            <a:normAutofit/>
          </a:bodyPr>
          <a:lstStyle/>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GET /api/schemes/{scheme_code} — Full scheme analytics</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GET /api/ml/recommendations — Personalized recommendations</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GET /api/schemes — All schemes</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GET /api/schemes/search — Search schemes</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GET /api/compare — Side-by-side comparison</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GET /api/top-schemes — Ranked leaderboard</a:t>
            </a:r>
            <a:endParaRPr lang="en-US" sz="1100" dirty="0"/>
          </a:p>
        </p:txBody>
      </p:sp>
      <p:sp>
        <p:nvSpPr>
          <p:cNvPr id="8" name="Text 6"/>
          <p:cNvSpPr/>
          <p:nvPr/>
        </p:nvSpPr>
        <p:spPr>
          <a:xfrm>
            <a:off x="496119" y="4367436"/>
            <a:ext cx="8608963" cy="226814"/>
          </a:xfrm>
          <a:prstGeom prst="rect">
            <a:avLst/>
          </a:prstGeom>
          <a:noFill/>
          <a:ln/>
        </p:spPr>
        <p:txBody>
          <a:bodyPr wrap="none" lIns="0" tIns="0" rIns="0" bIns="0" rtlCol="0" anchor="t"/>
          <a:lstStyle/>
          <a:p>
            <a:pPr algn="l" indent="0" marL="0">
              <a:lnSpc>
                <a:spcPct val="133000"/>
              </a:lnSpc>
              <a:buNone/>
            </a:pP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96119" y="776064"/>
            <a:ext cx="8151763" cy="442987"/>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Inter Bold" pitchFamily="34" charset="0"/>
                <a:ea typeface="Inter Bold" pitchFamily="34" charset="-122"/>
                <a:cs typeface="Inter Bold" pitchFamily="34" charset="-120"/>
              </a:rPr>
              <a:t>Dashboard (Streamlit)</a:t>
            </a:r>
            <a:endParaRPr lang="en-US" sz="2750" dirty="0"/>
          </a:p>
        </p:txBody>
      </p:sp>
      <p:sp>
        <p:nvSpPr>
          <p:cNvPr id="3" name="Text 1"/>
          <p:cNvSpPr/>
          <p:nvPr/>
        </p:nvSpPr>
        <p:spPr>
          <a:xfrm>
            <a:off x="496119" y="1431652"/>
            <a:ext cx="8608963" cy="226814"/>
          </a:xfrm>
          <a:prstGeom prst="rect">
            <a:avLst/>
          </a:prstGeom>
          <a:noFill/>
          <a:ln/>
        </p:spPr>
        <p:txBody>
          <a:bodyPr wrap="none" lIns="0" tIns="0" rIns="0" bIns="0" rtlCol="0" anchor="t"/>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An 8-page interactive analytical web application, completely decoupled from the database and ML engines.</a:t>
            </a:r>
            <a:endParaRPr lang="en-US" sz="1100" dirty="0"/>
          </a:p>
        </p:txBody>
      </p:sp>
      <p:sp>
        <p:nvSpPr>
          <p:cNvPr id="4" name="Text 2"/>
          <p:cNvSpPr/>
          <p:nvPr/>
        </p:nvSpPr>
        <p:spPr>
          <a:xfrm>
            <a:off x="496119" y="1959694"/>
            <a:ext cx="3902943" cy="221456"/>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Dashboard Overview</a:t>
            </a:r>
            <a:endParaRPr lang="en-US" sz="1350" dirty="0"/>
          </a:p>
        </p:txBody>
      </p:sp>
      <p:sp>
        <p:nvSpPr>
          <p:cNvPr id="5" name="Text 3"/>
          <p:cNvSpPr/>
          <p:nvPr/>
        </p:nvSpPr>
        <p:spPr>
          <a:xfrm>
            <a:off x="496119" y="2322909"/>
            <a:ext cx="3902943" cy="1389162"/>
          </a:xfrm>
          <a:prstGeom prst="rect">
            <a:avLst/>
          </a:prstGeom>
          <a:noFill/>
          <a:ln/>
        </p:spPr>
        <p:txBody>
          <a:bodyPr wrap="square" lIns="0" tIns="0" rIns="0" bIns="0" rtlCol="0" anchor="t"/>
          <a:lstStyle/>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URL: </a:t>
            </a:r>
            <a:pPr algn="l" indent="0" marL="0">
              <a:lnSpc>
                <a:spcPct val="133000"/>
              </a:lnSpc>
              <a:spcAft>
                <a:spcPts val="1000"/>
              </a:spcAft>
              <a:buNone/>
            </a:pPr>
            <a:r>
              <a:rPr lang="en-US" sz="1100" b="1" u="sng" dirty="0">
                <a:solidFill>
                  <a:srgbClr val="4950BC"/>
                </a:solidFill>
                <a:latin typeface="Inter Bold" pitchFamily="34" charset="0"/>
                <a:ea typeface="Inter Bold" pitchFamily="34" charset="-122"/>
                <a:cs typeface="Inter Bold"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http://localhost:8501</a:t>
            </a:r>
            <a:endParaRPr lang="en-US" sz="1100" dirty="0"/>
          </a:p>
          <a:p>
            <a:pPr algn="l" indent="0" marL="0">
              <a:lnSpc>
                <a:spcPct val="133000"/>
              </a:lnSpc>
              <a:spcAft>
                <a:spcPts val="1000"/>
              </a:spcAft>
              <a:buNone/>
            </a:pPr>
            <a:r>
              <a:rPr lang="en-US" sz="1100" dirty="0">
                <a:solidFill>
                  <a:srgbClr val="272525"/>
                </a:solidFill>
                <a:latin typeface="Inter" pitchFamily="34" charset="0"/>
                <a:ea typeface="Inter" pitchFamily="34" charset="-122"/>
                <a:cs typeface="Inter" pitchFamily="34" charset="-120"/>
              </a:rPr>
              <a:t>Interactive Plotly visualizations with JSON payload rendering</a:t>
            </a:r>
            <a:endParaRPr lang="en-US" sz="1100" dirty="0"/>
          </a:p>
          <a:p>
            <a:pPr algn="l" indent="0" marL="0">
              <a:lnSpc>
                <a:spcPct val="133000"/>
              </a:lnSpc>
              <a:buNone/>
            </a:pPr>
            <a:r>
              <a:rPr lang="en-US" sz="1100" dirty="0">
                <a:solidFill>
                  <a:srgbClr val="272525"/>
                </a:solidFill>
                <a:latin typeface="Inter" pitchFamily="34" charset="0"/>
                <a:ea typeface="Inter" pitchFamily="34" charset="-122"/>
                <a:cs typeface="Inter" pitchFamily="34" charset="-120"/>
              </a:rPr>
              <a:t>Built for fast exploration, comparison, and model-driven insights</a:t>
            </a:r>
            <a:endParaRPr lang="en-US" sz="1100" dirty="0"/>
          </a:p>
        </p:txBody>
      </p:sp>
      <p:sp>
        <p:nvSpPr>
          <p:cNvPr id="6" name="Text 4"/>
          <p:cNvSpPr/>
          <p:nvPr/>
        </p:nvSpPr>
        <p:spPr>
          <a:xfrm>
            <a:off x="4749701" y="1959694"/>
            <a:ext cx="3902943" cy="221456"/>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Main Pages</a:t>
            </a:r>
            <a:endParaRPr lang="en-US" sz="1350" dirty="0"/>
          </a:p>
        </p:txBody>
      </p:sp>
      <p:sp>
        <p:nvSpPr>
          <p:cNvPr id="7" name="Text 5"/>
          <p:cNvSpPr/>
          <p:nvPr/>
        </p:nvSpPr>
        <p:spPr>
          <a:xfrm>
            <a:off x="4749701" y="2322909"/>
            <a:ext cx="3902943" cy="1608683"/>
          </a:xfrm>
          <a:prstGeom prst="rect">
            <a:avLst/>
          </a:prstGeom>
          <a:noFill/>
          <a:ln/>
        </p:spPr>
        <p:txBody>
          <a:bodyPr wrap="square" lIns="0" tIns="0" rIns="0" bIns="0" rtlCol="0" anchor="t">
            <a:normAutofit/>
          </a:bodyPr>
          <a:lstStyle/>
          <a:p>
            <a:pPr algn="l" marL="223520" indent="-223520">
              <a:lnSpc>
                <a:spcPct val="133000"/>
              </a:lnSpc>
              <a:buSzPct val="100000"/>
              <a:buFont typeface="+mj-lt"/>
              <a:buAutoNum type="arabicPeriod" startAt="1"/>
            </a:pPr>
            <a:r>
              <a:rPr lang="en-US" sz="1100" dirty="0">
                <a:solidFill>
                  <a:srgbClr val="272525"/>
                </a:solidFill>
                <a:latin typeface="Inter" pitchFamily="34" charset="0"/>
                <a:ea typeface="Inter" pitchFamily="34" charset="-122"/>
                <a:cs typeface="Inter" pitchFamily="34" charset="-120"/>
              </a:rPr>
              <a:t>Dashboard — market overview</a:t>
            </a:r>
            <a:endParaRPr lang="en-US" sz="1100" dirty="0"/>
          </a:p>
          <a:p>
            <a:pPr algn="l" marL="223520" indent="-223520">
              <a:lnSpc>
                <a:spcPct val="133000"/>
              </a:lnSpc>
              <a:buSzPct val="100000"/>
              <a:buFont typeface="+mj-lt"/>
              <a:buAutoNum type="arabicPeriod" startAt="2"/>
            </a:pPr>
            <a:r>
              <a:rPr lang="en-US" sz="1100" dirty="0">
                <a:solidFill>
                  <a:srgbClr val="272525"/>
                </a:solidFill>
                <a:latin typeface="Inter" pitchFamily="34" charset="0"/>
                <a:ea typeface="Inter" pitchFamily="34" charset="-122"/>
                <a:cs typeface="Inter" pitchFamily="34" charset="-120"/>
              </a:rPr>
              <a:t>Scheme Search — wildcard text patterns</a:t>
            </a:r>
            <a:endParaRPr lang="en-US" sz="1100" dirty="0"/>
          </a:p>
          <a:p>
            <a:pPr algn="l" marL="223520" indent="-223520">
              <a:lnSpc>
                <a:spcPct val="133000"/>
              </a:lnSpc>
              <a:buSzPct val="100000"/>
              <a:buFont typeface="+mj-lt"/>
              <a:buAutoNum type="arabicPeriod" startAt="3"/>
            </a:pPr>
            <a:r>
              <a:rPr lang="en-US" sz="1100" dirty="0">
                <a:solidFill>
                  <a:srgbClr val="272525"/>
                </a:solidFill>
                <a:latin typeface="Inter" pitchFamily="34" charset="0"/>
                <a:ea typeface="Inter" pitchFamily="34" charset="-122"/>
                <a:cs typeface="Inter" pitchFamily="34" charset="-120"/>
              </a:rPr>
              <a:t>Comparison Engine — time-series metrics</a:t>
            </a:r>
            <a:endParaRPr lang="en-US" sz="1100" dirty="0"/>
          </a:p>
          <a:p>
            <a:pPr algn="l" marL="223520" indent="-223520">
              <a:lnSpc>
                <a:spcPct val="133000"/>
              </a:lnSpc>
              <a:buSzPct val="100000"/>
              <a:buFont typeface="+mj-lt"/>
              <a:buAutoNum type="arabicPeriod" startAt="4"/>
            </a:pPr>
            <a:r>
              <a:rPr lang="en-US" sz="1100" dirty="0">
                <a:solidFill>
                  <a:srgbClr val="272525"/>
                </a:solidFill>
                <a:latin typeface="Inter" pitchFamily="34" charset="0"/>
                <a:ea typeface="Inter" pitchFamily="34" charset="-122"/>
                <a:cs typeface="Inter" pitchFamily="34" charset="-120"/>
              </a:rPr>
              <a:t>ML Clusters Visualizer — 3D scatter topologies</a:t>
            </a:r>
            <a:endParaRPr lang="en-US" sz="1100" dirty="0"/>
          </a:p>
          <a:p>
            <a:pPr algn="l" marL="223520" indent="-223520">
              <a:lnSpc>
                <a:spcPct val="133000"/>
              </a:lnSpc>
              <a:buSzPct val="100000"/>
              <a:buFont typeface="+mj-lt"/>
              <a:buAutoNum type="arabicPeriod" startAt="5"/>
            </a:pPr>
            <a:r>
              <a:rPr lang="en-US" sz="1100" dirty="0">
                <a:solidFill>
                  <a:srgbClr val="272525"/>
                </a:solidFill>
                <a:latin typeface="Inter" pitchFamily="34" charset="0"/>
                <a:ea typeface="Inter" pitchFamily="34" charset="-122"/>
                <a:cs typeface="Inter" pitchFamily="34" charset="-120"/>
              </a:rPr>
              <a:t>ML Rankings — leaderboard</a:t>
            </a:r>
            <a:endParaRPr lang="en-US" sz="1100" dirty="0"/>
          </a:p>
          <a:p>
            <a:pPr algn="l" marL="223520" indent="-223520">
              <a:lnSpc>
                <a:spcPct val="133000"/>
              </a:lnSpc>
              <a:buSzPct val="100000"/>
              <a:buFont typeface="+mj-lt"/>
              <a:buAutoNum type="arabicPeriod" startAt="6"/>
            </a:pPr>
            <a:r>
              <a:rPr lang="en-US" sz="1100" dirty="0">
                <a:solidFill>
                  <a:srgbClr val="272525"/>
                </a:solidFill>
                <a:latin typeface="Inter" pitchFamily="34" charset="0"/>
                <a:ea typeface="Inter" pitchFamily="34" charset="-122"/>
                <a:cs typeface="Inter" pitchFamily="34" charset="-120"/>
              </a:rPr>
              <a:t>ML Recommendations — risk profile matching</a:t>
            </a:r>
            <a:endParaRPr lang="en-US" sz="1100" dirty="0"/>
          </a:p>
        </p:txBody>
      </p:sp>
      <p:sp>
        <p:nvSpPr>
          <p:cNvPr id="8" name="Text 6"/>
          <p:cNvSpPr/>
          <p:nvPr/>
        </p:nvSpPr>
        <p:spPr>
          <a:xfrm>
            <a:off x="496119" y="4140622"/>
            <a:ext cx="8608963" cy="226814"/>
          </a:xfrm>
          <a:prstGeom prst="rect">
            <a:avLst/>
          </a:prstGeom>
          <a:noFill/>
          <a:ln/>
        </p:spPr>
        <p:txBody>
          <a:bodyPr wrap="none" lIns="0" tIns="0" rIns="0" bIns="0" rtlCol="0" anchor="t"/>
          <a:lstStyle/>
          <a:p>
            <a:pPr algn="l" indent="0" marL="0">
              <a:lnSpc>
                <a:spcPct val="133000"/>
              </a:lnSpc>
              <a:buNone/>
            </a:pP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96119" y="462930"/>
            <a:ext cx="8151763" cy="346100"/>
          </a:xfrm>
          <a:prstGeom prst="rect">
            <a:avLst/>
          </a:prstGeom>
          <a:noFill/>
          <a:ln/>
        </p:spPr>
        <p:txBody>
          <a:bodyPr wrap="none" lIns="0" tIns="0" rIns="0" bIns="0" rtlCol="0" anchor="t"/>
          <a:lstStyle/>
          <a:p>
            <a:pPr algn="l" indent="0" marL="0">
              <a:lnSpc>
                <a:spcPct val="104000"/>
              </a:lnSpc>
              <a:buNone/>
            </a:pPr>
            <a:r>
              <a:rPr lang="en-US" sz="2150" b="1" dirty="0">
                <a:solidFill>
                  <a:srgbClr val="000000"/>
                </a:solidFill>
                <a:latin typeface="Inter Bold" pitchFamily="34" charset="0"/>
                <a:ea typeface="Inter Bold" pitchFamily="34" charset="-122"/>
                <a:cs typeface="Inter Bold" pitchFamily="34" charset="-120"/>
              </a:rPr>
              <a:t> Real-World Impact and Applications</a:t>
            </a:r>
            <a:endParaRPr lang="en-US" sz="2150" dirty="0"/>
          </a:p>
        </p:txBody>
      </p:sp>
      <p:sp>
        <p:nvSpPr>
          <p:cNvPr id="3" name="Shape 1"/>
          <p:cNvSpPr/>
          <p:nvPr/>
        </p:nvSpPr>
        <p:spPr>
          <a:xfrm>
            <a:off x="496119" y="938808"/>
            <a:ext cx="4032647" cy="1827609"/>
          </a:xfrm>
          <a:prstGeom prst="roundRect">
            <a:avLst>
              <a:gd name="adj" fmla="val 2545"/>
            </a:avLst>
          </a:prstGeom>
          <a:solidFill>
            <a:srgbClr val="FFFFFF"/>
          </a:solidFill>
          <a:ln w="14288">
            <a:solidFill>
              <a:srgbClr val="C0C1D7"/>
            </a:solidFill>
            <a:prstDash val="solid"/>
          </a:ln>
        </p:spPr>
      </p:sp>
      <p:sp>
        <p:nvSpPr>
          <p:cNvPr id="4" name="Text 2"/>
          <p:cNvSpPr/>
          <p:nvPr/>
        </p:nvSpPr>
        <p:spPr>
          <a:xfrm>
            <a:off x="621134" y="1063823"/>
            <a:ext cx="3782616" cy="173013"/>
          </a:xfrm>
          <a:prstGeom prst="rect">
            <a:avLst/>
          </a:prstGeom>
          <a:noFill/>
          <a:ln/>
        </p:spPr>
        <p:txBody>
          <a:bodyPr wrap="none" lIns="0" tIns="0" rIns="0" bIns="0" rtlCol="0" anchor="t"/>
          <a:lstStyle/>
          <a:p>
            <a:pPr algn="l" indent="0" marL="0">
              <a:lnSpc>
                <a:spcPct val="104000"/>
              </a:lnSpc>
              <a:buNone/>
            </a:pPr>
            <a:r>
              <a:rPr lang="en-US" sz="1050" b="1" dirty="0">
                <a:solidFill>
                  <a:srgbClr val="272525"/>
                </a:solidFill>
                <a:latin typeface="Inter Bold" pitchFamily="34" charset="0"/>
                <a:ea typeface="Inter Bold" pitchFamily="34" charset="-122"/>
                <a:cs typeface="Inter Bold" pitchFamily="34" charset="-120"/>
              </a:rPr>
              <a:t>For Retail Investors:</a:t>
            </a:r>
            <a:endParaRPr lang="en-US" sz="1050" dirty="0"/>
          </a:p>
        </p:txBody>
      </p:sp>
      <p:sp>
        <p:nvSpPr>
          <p:cNvPr id="5" name="Text 3"/>
          <p:cNvSpPr/>
          <p:nvPr/>
        </p:nvSpPr>
        <p:spPr>
          <a:xfrm>
            <a:off x="621134" y="1288703"/>
            <a:ext cx="3782616" cy="1352699"/>
          </a:xfrm>
          <a:prstGeom prst="rect">
            <a:avLst/>
          </a:prstGeom>
          <a:noFill/>
          <a:ln/>
        </p:spPr>
        <p:txBody>
          <a:bodyPr wrap="square" lIns="0" tIns="0" rIns="0" bIns="0" rtlCol="0" anchor="t">
            <a:normAutofit/>
          </a:bodyPr>
          <a:lstStyle/>
          <a:p>
            <a:pPr algn="l" marL="172720" indent="-172720">
              <a:lnSpc>
                <a:spcPct val="119000"/>
              </a:lnSpc>
              <a:buSzPct val="100000"/>
              <a:buChar char="•"/>
            </a:pPr>
            <a:r>
              <a:rPr lang="en-US" sz="850" dirty="0">
                <a:solidFill>
                  <a:srgbClr val="272525"/>
                </a:solidFill>
                <a:latin typeface="Inter" pitchFamily="34" charset="0"/>
                <a:ea typeface="Inter" pitchFamily="34" charset="-122"/>
                <a:cs typeface="Inter" pitchFamily="34" charset="-120"/>
              </a:rPr>
              <a:t>Democratized Access: Eliminates reliance on expensive financial advisors by providing institutional-grade analysis at zero cost</a:t>
            </a:r>
            <a:endParaRPr lang="en-US" sz="850" dirty="0"/>
          </a:p>
          <a:p>
            <a:pPr algn="l" marL="172720" indent="-172720">
              <a:lnSpc>
                <a:spcPct val="119000"/>
              </a:lnSpc>
              <a:buSzPct val="100000"/>
              <a:buChar char="•"/>
            </a:pPr>
            <a:r>
              <a:rPr lang="en-US" sz="850" dirty="0">
                <a:solidFill>
                  <a:srgbClr val="272525"/>
                </a:solidFill>
                <a:latin typeface="Inter" pitchFamily="34" charset="0"/>
                <a:ea typeface="Inter" pitchFamily="34" charset="-122"/>
                <a:cs typeface="Inter" pitchFamily="34" charset="-120"/>
              </a:rPr>
              <a:t>Data-Driven Decisions: Replaces subjective advice with transparent, verifiable financial metrics (Sharpe ratio, volatility, drawdown)</a:t>
            </a:r>
            <a:endParaRPr lang="en-US" sz="850" dirty="0"/>
          </a:p>
          <a:p>
            <a:pPr algn="l" marL="172720" indent="-172720">
              <a:lnSpc>
                <a:spcPct val="119000"/>
              </a:lnSpc>
              <a:buSzPct val="100000"/>
              <a:buChar char="•"/>
            </a:pPr>
            <a:r>
              <a:rPr lang="en-US" sz="850" dirty="0">
                <a:solidFill>
                  <a:srgbClr val="272525"/>
                </a:solidFill>
                <a:latin typeface="Inter" pitchFamily="34" charset="0"/>
                <a:ea typeface="Inter" pitchFamily="34" charset="-122"/>
                <a:cs typeface="Inter" pitchFamily="34" charset="-120"/>
              </a:rPr>
              <a:t>Risk Alignment: Personalized recommendations matching individual risk tolerance (Low/Moderate/High profiles)</a:t>
            </a:r>
            <a:endParaRPr lang="en-US" sz="850" dirty="0"/>
          </a:p>
          <a:p>
            <a:pPr algn="l" marL="172720" indent="-172720">
              <a:lnSpc>
                <a:spcPct val="119000"/>
              </a:lnSpc>
              <a:buSzPct val="100000"/>
              <a:buChar char="•"/>
            </a:pPr>
            <a:r>
              <a:rPr lang="en-US" sz="850" dirty="0">
                <a:solidFill>
                  <a:srgbClr val="272525"/>
                </a:solidFill>
                <a:latin typeface="Inter" pitchFamily="34" charset="0"/>
                <a:ea typeface="Inter" pitchFamily="34" charset="-122"/>
                <a:cs typeface="Inter" pitchFamily="34" charset="-120"/>
              </a:rPr>
              <a:t>Time Savings: Reduces fund selection from hours of manual research to minutes of interactive dashboard exploration</a:t>
            </a:r>
            <a:endParaRPr lang="en-US" sz="850" dirty="0"/>
          </a:p>
        </p:txBody>
      </p:sp>
      <p:sp>
        <p:nvSpPr>
          <p:cNvPr id="6" name="Shape 4"/>
          <p:cNvSpPr/>
          <p:nvPr/>
        </p:nvSpPr>
        <p:spPr>
          <a:xfrm>
            <a:off x="4615235" y="938808"/>
            <a:ext cx="4032647" cy="1827609"/>
          </a:xfrm>
          <a:prstGeom prst="roundRect">
            <a:avLst>
              <a:gd name="adj" fmla="val 2545"/>
            </a:avLst>
          </a:prstGeom>
          <a:solidFill>
            <a:srgbClr val="FFFFFF"/>
          </a:solidFill>
          <a:ln w="14288">
            <a:solidFill>
              <a:srgbClr val="C0C1D7"/>
            </a:solidFill>
            <a:prstDash val="solid"/>
          </a:ln>
        </p:spPr>
      </p:sp>
      <p:sp>
        <p:nvSpPr>
          <p:cNvPr id="7" name="Text 5"/>
          <p:cNvSpPr/>
          <p:nvPr/>
        </p:nvSpPr>
        <p:spPr>
          <a:xfrm>
            <a:off x="4740250" y="1063823"/>
            <a:ext cx="3782616" cy="173013"/>
          </a:xfrm>
          <a:prstGeom prst="rect">
            <a:avLst/>
          </a:prstGeom>
          <a:noFill/>
          <a:ln/>
        </p:spPr>
        <p:txBody>
          <a:bodyPr wrap="none" lIns="0" tIns="0" rIns="0" bIns="0" rtlCol="0" anchor="t"/>
          <a:lstStyle/>
          <a:p>
            <a:pPr algn="l" indent="0" marL="0">
              <a:lnSpc>
                <a:spcPct val="104000"/>
              </a:lnSpc>
              <a:buNone/>
            </a:pPr>
            <a:r>
              <a:rPr lang="en-US" sz="1050" b="1" dirty="0">
                <a:solidFill>
                  <a:srgbClr val="272525"/>
                </a:solidFill>
                <a:latin typeface="Inter Bold" pitchFamily="34" charset="0"/>
                <a:ea typeface="Inter Bold" pitchFamily="34" charset="-122"/>
                <a:cs typeface="Inter Bold" pitchFamily="34" charset="-120"/>
              </a:rPr>
              <a:t>For Fund Managers &amp; Asset Houses:</a:t>
            </a:r>
            <a:endParaRPr lang="en-US" sz="1050" dirty="0"/>
          </a:p>
        </p:txBody>
      </p:sp>
      <p:sp>
        <p:nvSpPr>
          <p:cNvPr id="8" name="Text 6"/>
          <p:cNvSpPr/>
          <p:nvPr/>
        </p:nvSpPr>
        <p:spPr>
          <a:xfrm>
            <a:off x="4740250" y="1288703"/>
            <a:ext cx="3782616" cy="1352699"/>
          </a:xfrm>
          <a:prstGeom prst="rect">
            <a:avLst/>
          </a:prstGeom>
          <a:noFill/>
          <a:ln/>
        </p:spPr>
        <p:txBody>
          <a:bodyPr wrap="square" lIns="0" tIns="0" rIns="0" bIns="0" rtlCol="0" anchor="t">
            <a:normAutofit/>
          </a:bodyPr>
          <a:lstStyle/>
          <a:p>
            <a:pPr algn="l" marL="172720" indent="-172720">
              <a:lnSpc>
                <a:spcPct val="119000"/>
              </a:lnSpc>
              <a:buSzPct val="100000"/>
              <a:buChar char="•"/>
            </a:pPr>
            <a:r>
              <a:rPr lang="en-US" sz="850" dirty="0">
                <a:solidFill>
                  <a:srgbClr val="272525"/>
                </a:solidFill>
                <a:latin typeface="Inter" pitchFamily="34" charset="0"/>
                <a:ea typeface="Inter" pitchFamily="34" charset="-122"/>
                <a:cs typeface="Inter" pitchFamily="34" charset="-120"/>
              </a:rPr>
              <a:t>Competitive Benchmarking: Real-time clustering reveals peer performance and market positioning</a:t>
            </a:r>
            <a:endParaRPr lang="en-US" sz="850" dirty="0"/>
          </a:p>
          <a:p>
            <a:pPr algn="l" marL="172720" indent="-172720">
              <a:lnSpc>
                <a:spcPct val="119000"/>
              </a:lnSpc>
              <a:buSzPct val="100000"/>
              <a:buChar char="•"/>
            </a:pPr>
            <a:r>
              <a:rPr lang="en-US" sz="850" dirty="0">
                <a:solidFill>
                  <a:srgbClr val="272525"/>
                </a:solidFill>
                <a:latin typeface="Inter" pitchFamily="34" charset="0"/>
                <a:ea typeface="Inter" pitchFamily="34" charset="-122"/>
                <a:cs typeface="Inter" pitchFamily="34" charset="-120"/>
              </a:rPr>
              <a:t>Product Development: Identifies market gaps in risk-return segments for new fund launches</a:t>
            </a:r>
            <a:endParaRPr lang="en-US" sz="850" dirty="0"/>
          </a:p>
          <a:p>
            <a:pPr algn="l" marL="172720" indent="-172720">
              <a:lnSpc>
                <a:spcPct val="119000"/>
              </a:lnSpc>
              <a:buSzPct val="100000"/>
              <a:buChar char="•"/>
            </a:pPr>
            <a:r>
              <a:rPr lang="en-US" sz="850" dirty="0">
                <a:solidFill>
                  <a:srgbClr val="272525"/>
                </a:solidFill>
                <a:latin typeface="Inter" pitchFamily="34" charset="0"/>
                <a:ea typeface="Inter" pitchFamily="34" charset="-122"/>
                <a:cs typeface="Inter" pitchFamily="34" charset="-120"/>
              </a:rPr>
              <a:t>Performance Tracking: Continuous monitoring of fund behavior against engineered metrics</a:t>
            </a:r>
            <a:endParaRPr lang="en-US" sz="850" dirty="0"/>
          </a:p>
          <a:p>
            <a:pPr algn="l" marL="172720" indent="-172720">
              <a:lnSpc>
                <a:spcPct val="119000"/>
              </a:lnSpc>
              <a:buSzPct val="100000"/>
              <a:buChar char="•"/>
            </a:pPr>
            <a:r>
              <a:rPr lang="en-US" sz="850" dirty="0">
                <a:solidFill>
                  <a:srgbClr val="272525"/>
                </a:solidFill>
                <a:latin typeface="Inter" pitchFamily="34" charset="0"/>
                <a:ea typeface="Inter" pitchFamily="34" charset="-122"/>
                <a:cs typeface="Inter" pitchFamily="34" charset="-120"/>
              </a:rPr>
              <a:t>Investor Communication: Transparent ranking methodology builds trust and reduces redemptions</a:t>
            </a:r>
            <a:endParaRPr lang="en-US" sz="850" dirty="0"/>
          </a:p>
        </p:txBody>
      </p:sp>
      <p:sp>
        <p:nvSpPr>
          <p:cNvPr id="9" name="Shape 7"/>
          <p:cNvSpPr/>
          <p:nvPr/>
        </p:nvSpPr>
        <p:spPr>
          <a:xfrm>
            <a:off x="496119" y="2852886"/>
            <a:ext cx="4032647" cy="1827609"/>
          </a:xfrm>
          <a:prstGeom prst="roundRect">
            <a:avLst>
              <a:gd name="adj" fmla="val 2545"/>
            </a:avLst>
          </a:prstGeom>
          <a:solidFill>
            <a:srgbClr val="FFFFFF"/>
          </a:solidFill>
          <a:ln w="14288">
            <a:solidFill>
              <a:srgbClr val="C0C1D7"/>
            </a:solidFill>
            <a:prstDash val="solid"/>
          </a:ln>
        </p:spPr>
      </p:sp>
      <p:sp>
        <p:nvSpPr>
          <p:cNvPr id="10" name="Text 8"/>
          <p:cNvSpPr/>
          <p:nvPr/>
        </p:nvSpPr>
        <p:spPr>
          <a:xfrm>
            <a:off x="621134" y="2977902"/>
            <a:ext cx="3782616" cy="173013"/>
          </a:xfrm>
          <a:prstGeom prst="rect">
            <a:avLst/>
          </a:prstGeom>
          <a:noFill/>
          <a:ln/>
        </p:spPr>
        <p:txBody>
          <a:bodyPr wrap="none" lIns="0" tIns="0" rIns="0" bIns="0" rtlCol="0" anchor="t"/>
          <a:lstStyle/>
          <a:p>
            <a:pPr algn="l" indent="0" marL="0">
              <a:lnSpc>
                <a:spcPct val="104000"/>
              </a:lnSpc>
              <a:buNone/>
            </a:pPr>
            <a:r>
              <a:rPr lang="en-US" sz="1050" b="1" dirty="0">
                <a:solidFill>
                  <a:srgbClr val="272525"/>
                </a:solidFill>
                <a:latin typeface="Inter Bold" pitchFamily="34" charset="0"/>
                <a:ea typeface="Inter Bold" pitchFamily="34" charset="-122"/>
                <a:cs typeface="Inter Bold" pitchFamily="34" charset="-120"/>
              </a:rPr>
              <a:t>For Financial Institutions:</a:t>
            </a:r>
            <a:endParaRPr lang="en-US" sz="1050" dirty="0"/>
          </a:p>
        </p:txBody>
      </p:sp>
      <p:sp>
        <p:nvSpPr>
          <p:cNvPr id="11" name="Text 9"/>
          <p:cNvSpPr/>
          <p:nvPr/>
        </p:nvSpPr>
        <p:spPr>
          <a:xfrm>
            <a:off x="621134" y="3202781"/>
            <a:ext cx="3782616" cy="1352699"/>
          </a:xfrm>
          <a:prstGeom prst="rect">
            <a:avLst/>
          </a:prstGeom>
          <a:noFill/>
          <a:ln/>
        </p:spPr>
        <p:txBody>
          <a:bodyPr wrap="square" lIns="0" tIns="0" rIns="0" bIns="0" rtlCol="0" anchor="t">
            <a:normAutofit/>
          </a:bodyPr>
          <a:lstStyle/>
          <a:p>
            <a:pPr algn="l" marL="172720" indent="-172720">
              <a:lnSpc>
                <a:spcPct val="119000"/>
              </a:lnSpc>
              <a:buSzPct val="100000"/>
              <a:buChar char="•"/>
            </a:pPr>
            <a:r>
              <a:rPr lang="en-US" sz="850" dirty="0">
                <a:solidFill>
                  <a:srgbClr val="272525"/>
                </a:solidFill>
                <a:latin typeface="Inter" pitchFamily="34" charset="0"/>
                <a:ea typeface="Inter" pitchFamily="34" charset="-122"/>
                <a:cs typeface="Inter" pitchFamily="34" charset="-120"/>
              </a:rPr>
              <a:t>Scalable Infrastructure: Production-ready API enables white-label integration into existing platforms</a:t>
            </a:r>
            <a:endParaRPr lang="en-US" sz="850" dirty="0"/>
          </a:p>
          <a:p>
            <a:pPr algn="l" marL="172720" indent="-172720">
              <a:lnSpc>
                <a:spcPct val="119000"/>
              </a:lnSpc>
              <a:buSzPct val="100000"/>
              <a:buChar char="•"/>
            </a:pPr>
            <a:r>
              <a:rPr lang="en-US" sz="850" dirty="0">
                <a:solidFill>
                  <a:srgbClr val="272525"/>
                </a:solidFill>
                <a:latin typeface="Inter" pitchFamily="34" charset="0"/>
                <a:ea typeface="Inter" pitchFamily="34" charset="-122"/>
                <a:cs typeface="Inter" pitchFamily="34" charset="-120"/>
              </a:rPr>
              <a:t>Cost Efficiency: Automated ETL pipeline reduces manual data processing by 95%</a:t>
            </a:r>
            <a:endParaRPr lang="en-US" sz="850" dirty="0"/>
          </a:p>
          <a:p>
            <a:pPr algn="l" marL="172720" indent="-172720">
              <a:lnSpc>
                <a:spcPct val="119000"/>
              </a:lnSpc>
              <a:buSzPct val="100000"/>
              <a:buChar char="•"/>
            </a:pPr>
            <a:r>
              <a:rPr lang="en-US" sz="850" dirty="0">
                <a:solidFill>
                  <a:srgbClr val="272525"/>
                </a:solidFill>
                <a:latin typeface="Inter" pitchFamily="34" charset="0"/>
                <a:ea typeface="Inter" pitchFamily="34" charset="-122"/>
                <a:cs typeface="Inter" pitchFamily="34" charset="-120"/>
              </a:rPr>
              <a:t>Regulatory Compliance: Audit trail of all calculations ensures transparency for SEBI/RBI requirements</a:t>
            </a:r>
            <a:endParaRPr lang="en-US" sz="850" dirty="0"/>
          </a:p>
          <a:p>
            <a:pPr algn="l" marL="172720" indent="-172720">
              <a:lnSpc>
                <a:spcPct val="119000"/>
              </a:lnSpc>
              <a:buSzPct val="100000"/>
              <a:buChar char="•"/>
            </a:pPr>
            <a:r>
              <a:rPr lang="en-US" sz="850" dirty="0">
                <a:solidFill>
                  <a:srgbClr val="272525"/>
                </a:solidFill>
                <a:latin typeface="Inter" pitchFamily="34" charset="0"/>
                <a:ea typeface="Inter" pitchFamily="34" charset="-122"/>
                <a:cs typeface="Inter" pitchFamily="34" charset="-120"/>
              </a:rPr>
              <a:t>Market Intelligence: Clustering insights inform portfolio construction and risk management strategies</a:t>
            </a:r>
            <a:endParaRPr lang="en-US" sz="850" dirty="0"/>
          </a:p>
        </p:txBody>
      </p:sp>
      <p:sp>
        <p:nvSpPr>
          <p:cNvPr id="12" name="Shape 10"/>
          <p:cNvSpPr/>
          <p:nvPr/>
        </p:nvSpPr>
        <p:spPr>
          <a:xfrm>
            <a:off x="4615235" y="2852886"/>
            <a:ext cx="4032647" cy="1827609"/>
          </a:xfrm>
          <a:prstGeom prst="roundRect">
            <a:avLst>
              <a:gd name="adj" fmla="val 2545"/>
            </a:avLst>
          </a:prstGeom>
          <a:solidFill>
            <a:srgbClr val="FFFFFF"/>
          </a:solidFill>
          <a:ln w="14288">
            <a:solidFill>
              <a:srgbClr val="C0C1D7"/>
            </a:solidFill>
            <a:prstDash val="solid"/>
          </a:ln>
        </p:spPr>
      </p:sp>
      <p:sp>
        <p:nvSpPr>
          <p:cNvPr id="13" name="Text 11"/>
          <p:cNvSpPr/>
          <p:nvPr/>
        </p:nvSpPr>
        <p:spPr>
          <a:xfrm>
            <a:off x="4740250" y="2977902"/>
            <a:ext cx="3782616" cy="173013"/>
          </a:xfrm>
          <a:prstGeom prst="rect">
            <a:avLst/>
          </a:prstGeom>
          <a:noFill/>
          <a:ln/>
        </p:spPr>
        <p:txBody>
          <a:bodyPr wrap="none" lIns="0" tIns="0" rIns="0" bIns="0" rtlCol="0" anchor="t"/>
          <a:lstStyle/>
          <a:p>
            <a:pPr algn="l" indent="0" marL="0">
              <a:lnSpc>
                <a:spcPct val="104000"/>
              </a:lnSpc>
              <a:buNone/>
            </a:pPr>
            <a:r>
              <a:rPr lang="en-US" sz="1050" b="1" dirty="0">
                <a:solidFill>
                  <a:srgbClr val="272525"/>
                </a:solidFill>
                <a:latin typeface="Inter Bold" pitchFamily="34" charset="0"/>
                <a:ea typeface="Inter Bold" pitchFamily="34" charset="-122"/>
                <a:cs typeface="Inter Bold" pitchFamily="34" charset="-120"/>
              </a:rPr>
              <a:t>Industry Impact:</a:t>
            </a:r>
            <a:endParaRPr lang="en-US" sz="1050" dirty="0"/>
          </a:p>
        </p:txBody>
      </p:sp>
      <p:sp>
        <p:nvSpPr>
          <p:cNvPr id="14" name="Text 12"/>
          <p:cNvSpPr/>
          <p:nvPr/>
        </p:nvSpPr>
        <p:spPr>
          <a:xfrm>
            <a:off x="4740250" y="3202781"/>
            <a:ext cx="3782616" cy="473273"/>
          </a:xfrm>
          <a:prstGeom prst="rect">
            <a:avLst/>
          </a:prstGeom>
          <a:noFill/>
          <a:ln/>
        </p:spPr>
        <p:txBody>
          <a:bodyPr wrap="square" lIns="0" tIns="0" rIns="0" bIns="0" rtlCol="0" anchor="t">
            <a:normAutofit/>
          </a:bodyPr>
          <a:lstStyle/>
          <a:p>
            <a:pPr algn="l" indent="0" marL="0">
              <a:lnSpc>
                <a:spcPct val="119000"/>
              </a:lnSpc>
              <a:buNone/>
            </a:pPr>
            <a:r>
              <a:rPr lang="en-US" sz="850" dirty="0">
                <a:solidFill>
                  <a:srgbClr val="272525"/>
                </a:solidFill>
                <a:latin typeface="Inter" pitchFamily="34" charset="0"/>
                <a:ea typeface="Inter" pitchFamily="34" charset="-122"/>
                <a:cs typeface="Inter" pitchFamily="34" charset="-120"/>
              </a:rPr>
              <a:t>Bridges information asymmetry in Indian mutual fund market, enabling 500M+ retail investors to make informed decisions aligned with their financial goals.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96119" y="389855"/>
            <a:ext cx="8151763" cy="221456"/>
          </a:xfrm>
          <a:prstGeom prst="rect">
            <a:avLst/>
          </a:prstGeom>
          <a:noFill/>
          <a:ln/>
        </p:spPr>
        <p:txBody>
          <a:bodyPr wrap="none" lIns="0" tIns="0" rIns="0" bIns="0" rtlCol="0" anchor="t"/>
          <a:lstStyle/>
          <a:p>
            <a:pPr algn="l" indent="0" marL="0">
              <a:lnSpc>
                <a:spcPct val="104000"/>
              </a:lnSpc>
              <a:buNone/>
            </a:pPr>
            <a:r>
              <a:rPr lang="en-US" sz="1350" b="1" dirty="0">
                <a:solidFill>
                  <a:srgbClr val="000000"/>
                </a:solidFill>
                <a:latin typeface="Inter Bold" pitchFamily="34" charset="0"/>
                <a:ea typeface="Inter Bold" pitchFamily="34" charset="-122"/>
                <a:cs typeface="Inter Bold" pitchFamily="34" charset="-120"/>
              </a:rPr>
              <a:t>Limitations &amp; Future Enhancements</a:t>
            </a:r>
            <a:endParaRPr lang="en-US" sz="1350" dirty="0"/>
          </a:p>
        </p:txBody>
      </p:sp>
      <p:sp>
        <p:nvSpPr>
          <p:cNvPr id="3" name="Text 1"/>
          <p:cNvSpPr/>
          <p:nvPr/>
        </p:nvSpPr>
        <p:spPr>
          <a:xfrm>
            <a:off x="496119" y="699864"/>
            <a:ext cx="3989412" cy="177180"/>
          </a:xfrm>
          <a:prstGeom prst="rect">
            <a:avLst/>
          </a:prstGeom>
          <a:noFill/>
          <a:ln/>
        </p:spPr>
        <p:txBody>
          <a:bodyPr wrap="none" lIns="0" tIns="0" rIns="0" bIns="0" rtlCol="0" anchor="t"/>
          <a:lstStyle/>
          <a:p>
            <a:pPr algn="l" indent="0" marL="0">
              <a:lnSpc>
                <a:spcPct val="104000"/>
              </a:lnSpc>
              <a:buNone/>
            </a:pPr>
            <a:r>
              <a:rPr lang="en-US" sz="1100" b="1" dirty="0">
                <a:solidFill>
                  <a:srgbClr val="000000"/>
                </a:solidFill>
                <a:latin typeface="Inter Bold" pitchFamily="34" charset="0"/>
                <a:ea typeface="Inter Bold" pitchFamily="34" charset="-122"/>
                <a:cs typeface="Inter Bold" pitchFamily="34" charset="-120"/>
              </a:rPr>
              <a:t>Current System Limitations</a:t>
            </a:r>
            <a:endParaRPr lang="en-US" sz="1100" dirty="0"/>
          </a:p>
        </p:txBody>
      </p:sp>
      <p:sp>
        <p:nvSpPr>
          <p:cNvPr id="4" name="Text 2"/>
          <p:cNvSpPr/>
          <p:nvPr/>
        </p:nvSpPr>
        <p:spPr>
          <a:xfrm>
            <a:off x="496119" y="891183"/>
            <a:ext cx="3989412" cy="110728"/>
          </a:xfrm>
          <a:prstGeom prst="rect">
            <a:avLst/>
          </a:prstGeom>
          <a:noFill/>
          <a:ln/>
        </p:spPr>
        <p:txBody>
          <a:bodyPr wrap="none" lIns="0" tIns="0" rIns="0" bIns="0" rtlCol="0" anchor="t"/>
          <a:lstStyle/>
          <a:p>
            <a:pPr algn="l" indent="0" marL="0">
              <a:lnSpc>
                <a:spcPct val="104000"/>
              </a:lnSpc>
              <a:buNone/>
            </a:pPr>
            <a:r>
              <a:rPr lang="en-US" sz="650" b="1" dirty="0">
                <a:solidFill>
                  <a:srgbClr val="000000"/>
                </a:solidFill>
                <a:latin typeface="Inter Bold" pitchFamily="34" charset="0"/>
                <a:ea typeface="Inter Bold" pitchFamily="34" charset="-122"/>
                <a:cs typeface="Inter Bold" pitchFamily="34" charset="-120"/>
              </a:rPr>
              <a:t>Fixed Cluster Cardinality (K=4)</a:t>
            </a:r>
            <a:endParaRPr lang="en-US" sz="650" dirty="0"/>
          </a:p>
        </p:txBody>
      </p:sp>
      <p:sp>
        <p:nvSpPr>
          <p:cNvPr id="5" name="Text 3"/>
          <p:cNvSpPr/>
          <p:nvPr/>
        </p:nvSpPr>
        <p:spPr>
          <a:xfrm>
            <a:off x="496119" y="1037332"/>
            <a:ext cx="3989412" cy="182463"/>
          </a:xfrm>
          <a:prstGeom prst="rect">
            <a:avLst/>
          </a:prstGeom>
          <a:noFill/>
          <a:ln/>
        </p:spPr>
        <p:txBody>
          <a:bodyPr wrap="square" lIns="0" tIns="0" rIns="0" bIns="0" rtlCol="0" anchor="t">
            <a:normAutofit/>
          </a:bodyPr>
          <a:lstStyle/>
          <a:p>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System partitions funds into 4 preset risk categories</a:t>
            </a:r>
            <a:endParaRPr lang="en-US" sz="550" dirty="0"/>
          </a:p>
          <a:p>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Does not use automated optimization (Elbow Method, Silhouette Score) to adjust clusters dynamically</a:t>
            </a:r>
            <a:endParaRPr lang="en-US" sz="550" dirty="0"/>
          </a:p>
        </p:txBody>
      </p:sp>
      <p:sp>
        <p:nvSpPr>
          <p:cNvPr id="6" name="Text 4"/>
          <p:cNvSpPr/>
          <p:nvPr/>
        </p:nvSpPr>
        <p:spPr>
          <a:xfrm>
            <a:off x="496119" y="1251645"/>
            <a:ext cx="4446612"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Future: Implement dynamic K-selection based on market volatility</a:t>
            </a:r>
            <a:endParaRPr lang="en-US" sz="550" dirty="0"/>
          </a:p>
        </p:txBody>
      </p:sp>
      <p:sp>
        <p:nvSpPr>
          <p:cNvPr id="7" name="Text 5"/>
          <p:cNvSpPr/>
          <p:nvPr/>
        </p:nvSpPr>
        <p:spPr>
          <a:xfrm>
            <a:off x="496119" y="1372121"/>
            <a:ext cx="3989412" cy="110728"/>
          </a:xfrm>
          <a:prstGeom prst="rect">
            <a:avLst/>
          </a:prstGeom>
          <a:noFill/>
          <a:ln/>
        </p:spPr>
        <p:txBody>
          <a:bodyPr wrap="none" lIns="0" tIns="0" rIns="0" bIns="0" rtlCol="0" anchor="t"/>
          <a:lstStyle/>
          <a:p>
            <a:pPr algn="l" indent="0" marL="0">
              <a:lnSpc>
                <a:spcPct val="104000"/>
              </a:lnSpc>
              <a:buNone/>
            </a:pPr>
            <a:r>
              <a:rPr lang="en-US" sz="650" b="1" dirty="0">
                <a:solidFill>
                  <a:srgbClr val="000000"/>
                </a:solidFill>
                <a:latin typeface="Inter Bold" pitchFamily="34" charset="0"/>
                <a:ea typeface="Inter Bold" pitchFamily="34" charset="-122"/>
                <a:cs typeface="Inter Bold" pitchFamily="34" charset="-120"/>
              </a:rPr>
              <a:t>Lack of Portfolio Optimization</a:t>
            </a:r>
            <a:endParaRPr lang="en-US" sz="650" dirty="0"/>
          </a:p>
        </p:txBody>
      </p:sp>
      <p:sp>
        <p:nvSpPr>
          <p:cNvPr id="8" name="Text 6"/>
          <p:cNvSpPr/>
          <p:nvPr/>
        </p:nvSpPr>
        <p:spPr>
          <a:xfrm>
            <a:off x="496119" y="1518270"/>
            <a:ext cx="3989412" cy="182463"/>
          </a:xfrm>
          <a:prstGeom prst="rect">
            <a:avLst/>
          </a:prstGeom>
          <a:noFill/>
          <a:ln/>
        </p:spPr>
        <p:txBody>
          <a:bodyPr wrap="square" lIns="0" tIns="0" rIns="0" bIns="0" rtlCol="0" anchor="t">
            <a:normAutofit/>
          </a:bodyPr>
          <a:lstStyle/>
          <a:p>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Evaluates funds individually without cross-asset correlation analysis</a:t>
            </a:r>
            <a:endParaRPr lang="en-US" sz="550" dirty="0"/>
          </a:p>
          <a:p>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Does not use Markowitz Mean-Variance Optimization for diversified basket construction</a:t>
            </a:r>
            <a:endParaRPr lang="en-US" sz="550" dirty="0"/>
          </a:p>
        </p:txBody>
      </p:sp>
      <p:sp>
        <p:nvSpPr>
          <p:cNvPr id="9" name="Text 7"/>
          <p:cNvSpPr/>
          <p:nvPr/>
        </p:nvSpPr>
        <p:spPr>
          <a:xfrm>
            <a:off x="496119" y="1732583"/>
            <a:ext cx="4446612"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Future: Add portfolio-level optimization with correlation matrices</a:t>
            </a:r>
            <a:endParaRPr lang="en-US" sz="550" dirty="0"/>
          </a:p>
        </p:txBody>
      </p:sp>
      <p:sp>
        <p:nvSpPr>
          <p:cNvPr id="10" name="Text 8"/>
          <p:cNvSpPr/>
          <p:nvPr/>
        </p:nvSpPr>
        <p:spPr>
          <a:xfrm>
            <a:off x="496119" y="1853059"/>
            <a:ext cx="3989412" cy="110728"/>
          </a:xfrm>
          <a:prstGeom prst="rect">
            <a:avLst/>
          </a:prstGeom>
          <a:noFill/>
          <a:ln/>
        </p:spPr>
        <p:txBody>
          <a:bodyPr wrap="none" lIns="0" tIns="0" rIns="0" bIns="0" rtlCol="0" anchor="t"/>
          <a:lstStyle/>
          <a:p>
            <a:pPr algn="l" indent="0" marL="0">
              <a:lnSpc>
                <a:spcPct val="104000"/>
              </a:lnSpc>
              <a:buNone/>
            </a:pPr>
            <a:r>
              <a:rPr lang="en-US" sz="650" b="1" dirty="0">
                <a:solidFill>
                  <a:srgbClr val="000000"/>
                </a:solidFill>
                <a:latin typeface="Inter Bold" pitchFamily="34" charset="0"/>
                <a:ea typeface="Inter Bold" pitchFamily="34" charset="-122"/>
                <a:cs typeface="Inter Bold" pitchFamily="34" charset="-120"/>
              </a:rPr>
              <a:t>Data History Dependency</a:t>
            </a:r>
            <a:endParaRPr lang="en-US" sz="650" dirty="0"/>
          </a:p>
        </p:txBody>
      </p:sp>
      <p:sp>
        <p:nvSpPr>
          <p:cNvPr id="11" name="Text 9"/>
          <p:cNvSpPr/>
          <p:nvPr/>
        </p:nvSpPr>
        <p:spPr>
          <a:xfrm>
            <a:off x="496119" y="1999208"/>
            <a:ext cx="3989412" cy="182463"/>
          </a:xfrm>
          <a:prstGeom prst="rect">
            <a:avLst/>
          </a:prstGeom>
          <a:noFill/>
          <a:ln/>
        </p:spPr>
        <p:txBody>
          <a:bodyPr wrap="square" lIns="0" tIns="0" rIns="0" bIns="0" rtlCol="0" anchor="t">
            <a:normAutofit/>
          </a:bodyPr>
          <a:lstStyle/>
          <a:p>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Cannot analyze newly launched funds (NFOs) lacking historical NAV records and AFMI doesn't have full data.</a:t>
            </a:r>
            <a:endParaRPr lang="en-US" sz="550" dirty="0"/>
          </a:p>
          <a:p>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Requires minimum 1-year data window for reliable metric calculation</a:t>
            </a:r>
            <a:endParaRPr lang="en-US" sz="550" dirty="0"/>
          </a:p>
        </p:txBody>
      </p:sp>
      <p:sp>
        <p:nvSpPr>
          <p:cNvPr id="12" name="Text 10"/>
          <p:cNvSpPr/>
          <p:nvPr/>
        </p:nvSpPr>
        <p:spPr>
          <a:xfrm>
            <a:off x="496119" y="2213521"/>
            <a:ext cx="4446612"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Future: Implement hybrid approach combining peer-group analysis for new launches</a:t>
            </a:r>
            <a:endParaRPr lang="en-US" sz="550" dirty="0"/>
          </a:p>
        </p:txBody>
      </p:sp>
      <p:sp>
        <p:nvSpPr>
          <p:cNvPr id="13" name="Text 11"/>
          <p:cNvSpPr/>
          <p:nvPr/>
        </p:nvSpPr>
        <p:spPr>
          <a:xfrm>
            <a:off x="496119" y="2333997"/>
            <a:ext cx="3989412" cy="110728"/>
          </a:xfrm>
          <a:prstGeom prst="rect">
            <a:avLst/>
          </a:prstGeom>
          <a:noFill/>
          <a:ln/>
        </p:spPr>
        <p:txBody>
          <a:bodyPr wrap="none" lIns="0" tIns="0" rIns="0" bIns="0" rtlCol="0" anchor="t"/>
          <a:lstStyle/>
          <a:p>
            <a:pPr algn="l" indent="0" marL="0">
              <a:lnSpc>
                <a:spcPct val="104000"/>
              </a:lnSpc>
              <a:buNone/>
            </a:pPr>
            <a:r>
              <a:rPr lang="en-US" sz="650" b="1" dirty="0">
                <a:solidFill>
                  <a:srgbClr val="000000"/>
                </a:solidFill>
                <a:latin typeface="Inter Bold" pitchFamily="34" charset="0"/>
                <a:ea typeface="Inter Bold" pitchFamily="34" charset="-122"/>
                <a:cs typeface="Inter Bold" pitchFamily="34" charset="-120"/>
              </a:rPr>
              <a:t>Single Upstream Dependency</a:t>
            </a:r>
            <a:endParaRPr lang="en-US" sz="650" dirty="0"/>
          </a:p>
        </p:txBody>
      </p:sp>
      <p:sp>
        <p:nvSpPr>
          <p:cNvPr id="14" name="Text 12"/>
          <p:cNvSpPr/>
          <p:nvPr/>
        </p:nvSpPr>
        <p:spPr>
          <a:xfrm>
            <a:off x="496119" y="2480146"/>
            <a:ext cx="3989412" cy="182463"/>
          </a:xfrm>
          <a:prstGeom prst="rect">
            <a:avLst/>
          </a:prstGeom>
          <a:noFill/>
          <a:ln/>
        </p:spPr>
        <p:txBody>
          <a:bodyPr wrap="square" lIns="0" tIns="0" rIns="0" bIns="0" rtlCol="0" anchor="t">
            <a:normAutofit/>
          </a:bodyPr>
          <a:lstStyle/>
          <a:p>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Tightly coupled to AMFI data portal; any schema changes disrupt ingestion</a:t>
            </a:r>
            <a:endParaRPr lang="en-US" sz="550" dirty="0"/>
          </a:p>
          <a:p>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No fallback data sources or redundancy mechanisms</a:t>
            </a:r>
            <a:endParaRPr lang="en-US" sz="550" dirty="0"/>
          </a:p>
        </p:txBody>
      </p:sp>
      <p:sp>
        <p:nvSpPr>
          <p:cNvPr id="15" name="Text 13"/>
          <p:cNvSpPr/>
          <p:nvPr/>
        </p:nvSpPr>
        <p:spPr>
          <a:xfrm>
            <a:off x="496119" y="2694459"/>
            <a:ext cx="4446612"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Future: Multi-source data aggregation with fallback providers</a:t>
            </a:r>
            <a:endParaRPr lang="en-US" sz="550" dirty="0"/>
          </a:p>
        </p:txBody>
      </p:sp>
      <p:sp>
        <p:nvSpPr>
          <p:cNvPr id="16" name="Text 14"/>
          <p:cNvSpPr/>
          <p:nvPr/>
        </p:nvSpPr>
        <p:spPr>
          <a:xfrm>
            <a:off x="496119" y="2814935"/>
            <a:ext cx="3989412" cy="110728"/>
          </a:xfrm>
          <a:prstGeom prst="rect">
            <a:avLst/>
          </a:prstGeom>
          <a:noFill/>
          <a:ln/>
        </p:spPr>
        <p:txBody>
          <a:bodyPr wrap="none" lIns="0" tIns="0" rIns="0" bIns="0" rtlCol="0" anchor="t"/>
          <a:lstStyle/>
          <a:p>
            <a:pPr algn="l" indent="0" marL="0">
              <a:lnSpc>
                <a:spcPct val="104000"/>
              </a:lnSpc>
              <a:buNone/>
            </a:pPr>
            <a:r>
              <a:rPr lang="en-US" sz="650" b="1" dirty="0">
                <a:solidFill>
                  <a:srgbClr val="000000"/>
                </a:solidFill>
                <a:latin typeface="Inter Bold" pitchFamily="34" charset="0"/>
                <a:ea typeface="Inter Bold" pitchFamily="34" charset="-122"/>
                <a:cs typeface="Inter Bold" pitchFamily="34" charset="-120"/>
              </a:rPr>
              <a:t>Recommendation Scope</a:t>
            </a:r>
            <a:endParaRPr lang="en-US" sz="650" dirty="0"/>
          </a:p>
        </p:txBody>
      </p:sp>
      <p:sp>
        <p:nvSpPr>
          <p:cNvPr id="17" name="Text 15"/>
          <p:cNvSpPr/>
          <p:nvPr/>
        </p:nvSpPr>
        <p:spPr>
          <a:xfrm>
            <a:off x="496119" y="2961084"/>
            <a:ext cx="3989412" cy="182463"/>
          </a:xfrm>
          <a:prstGeom prst="rect">
            <a:avLst/>
          </a:prstGeom>
          <a:noFill/>
          <a:ln/>
        </p:spPr>
        <p:txBody>
          <a:bodyPr wrap="square" lIns="0" tIns="0" rIns="0" bIns="0" rtlCol="0" anchor="t">
            <a:normAutofit/>
          </a:bodyPr>
          <a:lstStyle/>
          <a:p>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Focuses on Indian mutual funds only; no international asset class support</a:t>
            </a:r>
            <a:endParaRPr lang="en-US" sz="550" dirty="0"/>
          </a:p>
          <a:p>
            <a:pPr algn="l" marL="111760" indent="-111760">
              <a:lnSpc>
                <a:spcPct val="100000"/>
              </a:lnSpc>
              <a:buSzPct val="100000"/>
              <a:buChar char="•"/>
            </a:pPr>
            <a:r>
              <a:rPr lang="en-US" sz="550" dirty="0">
                <a:solidFill>
                  <a:srgbClr val="272525"/>
                </a:solidFill>
                <a:latin typeface="Inter" pitchFamily="34" charset="0"/>
                <a:ea typeface="Inter" pitchFamily="34" charset="-122"/>
                <a:cs typeface="Inter" pitchFamily="34" charset="-120"/>
              </a:rPr>
              <a:t>Does not account for tax implications or investor-specific constraints</a:t>
            </a:r>
            <a:endParaRPr lang="en-US" sz="550" dirty="0"/>
          </a:p>
        </p:txBody>
      </p:sp>
      <p:sp>
        <p:nvSpPr>
          <p:cNvPr id="18" name="Text 16"/>
          <p:cNvSpPr/>
          <p:nvPr/>
        </p:nvSpPr>
        <p:spPr>
          <a:xfrm>
            <a:off x="496119" y="3175397"/>
            <a:ext cx="4446612" cy="85055"/>
          </a:xfrm>
          <a:prstGeom prst="rect">
            <a:avLst/>
          </a:prstGeom>
          <a:noFill/>
          <a:ln/>
        </p:spPr>
        <p:txBody>
          <a:bodyPr wrap="none" lIns="0" tIns="0" rIns="0" bIns="0" rtlCol="0" anchor="t"/>
          <a:lstStyle/>
          <a:p>
            <a:pPr algn="l" indent="0" marL="0">
              <a:lnSpc>
                <a:spcPct val="100000"/>
              </a:lnSpc>
              <a:buNone/>
            </a:pPr>
            <a:r>
              <a:rPr lang="en-US" sz="550" dirty="0">
                <a:solidFill>
                  <a:srgbClr val="272525"/>
                </a:solidFill>
                <a:latin typeface="Inter" pitchFamily="34" charset="0"/>
                <a:ea typeface="Inter" pitchFamily="34" charset="-122"/>
                <a:cs typeface="Inter" pitchFamily="34" charset="-120"/>
              </a:rPr>
              <a:t>Future: Tax-adjusted returns, goal-based filtering, SIP optimization</a:t>
            </a:r>
            <a:endParaRPr lang="en-US" sz="550" dirty="0"/>
          </a:p>
        </p:txBody>
      </p:sp>
      <p:sp>
        <p:nvSpPr>
          <p:cNvPr id="19" name="Text 17"/>
          <p:cNvSpPr/>
          <p:nvPr/>
        </p:nvSpPr>
        <p:spPr>
          <a:xfrm>
            <a:off x="4663232" y="699864"/>
            <a:ext cx="3989412" cy="177180"/>
          </a:xfrm>
          <a:prstGeom prst="rect">
            <a:avLst/>
          </a:prstGeom>
          <a:noFill/>
          <a:ln/>
        </p:spPr>
        <p:txBody>
          <a:bodyPr wrap="none" lIns="0" tIns="0" rIns="0" bIns="0" rtlCol="0" anchor="t"/>
          <a:lstStyle/>
          <a:p>
            <a:pPr algn="l" indent="0" marL="0">
              <a:lnSpc>
                <a:spcPct val="104000"/>
              </a:lnSpc>
              <a:buNone/>
            </a:pPr>
            <a:r>
              <a:rPr lang="en-US" sz="1100" b="1" dirty="0">
                <a:solidFill>
                  <a:srgbClr val="000000"/>
                </a:solidFill>
                <a:latin typeface="Inter Bold" pitchFamily="34" charset="0"/>
                <a:ea typeface="Inter Bold" pitchFamily="34" charset="-122"/>
                <a:cs typeface="Inter Bold" pitchFamily="34" charset="-120"/>
              </a:rPr>
              <a:t>Future Enhancement Roadmap</a:t>
            </a:r>
            <a:endParaRPr lang="en-US" sz="1100" dirty="0"/>
          </a:p>
        </p:txBody>
      </p:sp>
      <p:sp>
        <p:nvSpPr>
          <p:cNvPr id="20" name="Text 18"/>
          <p:cNvSpPr/>
          <p:nvPr/>
        </p:nvSpPr>
        <p:spPr>
          <a:xfrm>
            <a:off x="4663232" y="912465"/>
            <a:ext cx="3989412" cy="572095"/>
          </a:xfrm>
          <a:prstGeom prst="rect">
            <a:avLst/>
          </a:prstGeom>
          <a:noFill/>
          <a:ln/>
        </p:spPr>
        <p:txBody>
          <a:bodyPr wrap="square" lIns="0" tIns="0" rIns="0" bIns="0" rtlCol="0" anchor="t">
            <a:normAutofit/>
          </a:bodyPr>
          <a:lstStyle/>
          <a:p>
            <a:pPr algn="l" marL="111760" indent="-111760">
              <a:lnSpc>
                <a:spcPct val="100000"/>
              </a:lnSpc>
              <a:buSzPct val="100000"/>
              <a:buFont typeface="+mj-lt"/>
              <a:buAutoNum type="arabicPeriod" startAt="1"/>
            </a:pPr>
            <a:r>
              <a:rPr lang="en-US" sz="550" b="1" dirty="0">
                <a:solidFill>
                  <a:srgbClr val="272525"/>
                </a:solidFill>
                <a:latin typeface="Inter Bold" pitchFamily="34" charset="0"/>
                <a:ea typeface="Inter Bold" pitchFamily="34" charset="-122"/>
                <a:cs typeface="Inter Bold" pitchFamily="34" charset="-120"/>
              </a:rPr>
              <a:t>Q3 2026 : </a:t>
            </a:r>
            <a:pPr algn="l" marL="111760" indent="-111760">
              <a:lnSpc>
                <a:spcPct val="100000"/>
              </a:lnSpc>
              <a:buSzPct val="100000"/>
              <a:buFont typeface="+mj-lt"/>
              <a:buAutoNum type="arabicPeriod" startAt="1"/>
            </a:pPr>
            <a:r>
              <a:rPr lang="en-US" sz="550" dirty="0">
                <a:solidFill>
                  <a:srgbClr val="272525"/>
                </a:solidFill>
                <a:latin typeface="Inter" pitchFamily="34" charset="0"/>
                <a:ea typeface="Inter" pitchFamily="34" charset="-122"/>
                <a:cs typeface="Inter" pitchFamily="34" charset="-120"/>
              </a:rPr>
              <a:t>Integrate AI and fully automated pipelines</a:t>
            </a:r>
            <a:endParaRPr lang="en-US" sz="550" dirty="0"/>
          </a:p>
          <a:p>
            <a:pPr algn="l" marL="111760" indent="-111760">
              <a:lnSpc>
                <a:spcPct val="100000"/>
              </a:lnSpc>
              <a:buSzPct val="100000"/>
              <a:buFont typeface="+mj-lt"/>
              <a:buAutoNum type="arabicPeriod" startAt="2"/>
            </a:pPr>
            <a:r>
              <a:rPr lang="en-US" sz="550" dirty="0">
                <a:solidFill>
                  <a:srgbClr val="272525"/>
                </a:solidFill>
                <a:latin typeface="Inter" pitchFamily="34" charset="0"/>
                <a:ea typeface="Inter" pitchFamily="34" charset="-122"/>
                <a:cs typeface="Inter" pitchFamily="34" charset="-120"/>
              </a:rPr>
              <a:t>Dynamic clustering with Silhouette-based K optimization           </a:t>
            </a:r>
            <a:endParaRPr lang="en-US" sz="550" dirty="0"/>
          </a:p>
          <a:p>
            <a:pPr algn="l" marL="111760" indent="-111760">
              <a:lnSpc>
                <a:spcPct val="100000"/>
              </a:lnSpc>
              <a:buSzPct val="100000"/>
              <a:buFont typeface="+mj-lt"/>
              <a:buAutoNum type="arabicPeriod" startAt="3"/>
            </a:pPr>
            <a:r>
              <a:rPr lang="en-US" sz="550" dirty="0">
                <a:solidFill>
                  <a:srgbClr val="272525"/>
                </a:solidFill>
                <a:latin typeface="Inter" pitchFamily="34" charset="0"/>
                <a:ea typeface="Inter" pitchFamily="34" charset="-122"/>
                <a:cs typeface="Inter" pitchFamily="34" charset="-120"/>
              </a:rPr>
              <a:t>Portfolio construction module with correlation analysis           </a:t>
            </a:r>
            <a:endParaRPr lang="en-US" sz="550" dirty="0"/>
          </a:p>
          <a:p>
            <a:pPr algn="l" marL="111760" indent="-111760">
              <a:lnSpc>
                <a:spcPct val="100000"/>
              </a:lnSpc>
              <a:buSzPct val="100000"/>
              <a:buFont typeface="+mj-lt"/>
              <a:buAutoNum type="arabicPeriod" startAt="4"/>
            </a:pPr>
            <a:r>
              <a:rPr lang="en-US" sz="550" b="1" dirty="0">
                <a:solidFill>
                  <a:srgbClr val="272525"/>
                </a:solidFill>
                <a:latin typeface="Inter Bold" pitchFamily="34" charset="0"/>
                <a:ea typeface="Inter Bold" pitchFamily="34" charset="-122"/>
                <a:cs typeface="Inter Bold" pitchFamily="34" charset="-120"/>
              </a:rPr>
              <a:t>Q1 2027</a:t>
            </a:r>
            <a:pPr algn="l" marL="111760" indent="-111760">
              <a:lnSpc>
                <a:spcPct val="100000"/>
              </a:lnSpc>
              <a:buSzPct val="100000"/>
              <a:buFont typeface="+mj-lt"/>
              <a:buAutoNum type="arabicPeriod" startAt="4"/>
            </a:pPr>
            <a:r>
              <a:rPr lang="en-US" sz="550" dirty="0">
                <a:solidFill>
                  <a:srgbClr val="272525"/>
                </a:solidFill>
                <a:latin typeface="Inter" pitchFamily="34" charset="0"/>
                <a:ea typeface="Inter" pitchFamily="34" charset="-122"/>
                <a:cs typeface="Inter" pitchFamily="34" charset="-120"/>
              </a:rPr>
              <a:t>: Tax-adjusted return calculations and goal-based recommendations           </a:t>
            </a:r>
            <a:endParaRPr lang="en-US" sz="550" dirty="0"/>
          </a:p>
          <a:p>
            <a:pPr algn="l" marL="111760" indent="-111760">
              <a:lnSpc>
                <a:spcPct val="100000"/>
              </a:lnSpc>
              <a:buSzPct val="100000"/>
              <a:buFont typeface="+mj-lt"/>
              <a:buAutoNum type="arabicPeriod" startAt="5"/>
            </a:pPr>
            <a:r>
              <a:rPr lang="en-US" sz="550" b="1" dirty="0">
                <a:solidFill>
                  <a:srgbClr val="272525"/>
                </a:solidFill>
                <a:latin typeface="Inter Bold" pitchFamily="34" charset="0"/>
                <a:ea typeface="Inter Bold" pitchFamily="34" charset="-122"/>
                <a:cs typeface="Inter Bold" pitchFamily="34" charset="-120"/>
              </a:rPr>
              <a:t>Q2 2027</a:t>
            </a:r>
            <a:pPr algn="l" marL="111760" indent="-111760">
              <a:lnSpc>
                <a:spcPct val="100000"/>
              </a:lnSpc>
              <a:buSzPct val="100000"/>
              <a:buFont typeface="+mj-lt"/>
              <a:buAutoNum type="arabicPeriod" startAt="5"/>
            </a:pPr>
            <a:r>
              <a:rPr lang="en-US" sz="550" dirty="0">
                <a:solidFill>
                  <a:srgbClr val="272525"/>
                </a:solidFill>
                <a:latin typeface="Inter" pitchFamily="34" charset="0"/>
                <a:ea typeface="Inter" pitchFamily="34" charset="-122"/>
                <a:cs typeface="Inter" pitchFamily="34" charset="-120"/>
              </a:rPr>
              <a:t>: Mobile app deployment and real-time push notifications           </a:t>
            </a:r>
            <a:endParaRPr lang="en-US" sz="550" dirty="0"/>
          </a:p>
          <a:p>
            <a:pPr algn="l" marL="111760" indent="-111760">
              <a:lnSpc>
                <a:spcPct val="100000"/>
              </a:lnSpc>
              <a:buSzPct val="100000"/>
              <a:buFont typeface="+mj-lt"/>
              <a:buAutoNum type="arabicPeriod" startAt="6"/>
            </a:pPr>
            <a:r>
              <a:rPr lang="en-US" sz="550" b="1" dirty="0">
                <a:solidFill>
                  <a:srgbClr val="272525"/>
                </a:solidFill>
                <a:latin typeface="Inter Bold" pitchFamily="34" charset="0"/>
                <a:ea typeface="Inter Bold" pitchFamily="34" charset="-122"/>
                <a:cs typeface="Inter Bold" pitchFamily="34" charset="-120"/>
              </a:rPr>
              <a:t>Q3 2028</a:t>
            </a:r>
            <a:pPr algn="l" marL="111760" indent="-111760">
              <a:lnSpc>
                <a:spcPct val="100000"/>
              </a:lnSpc>
              <a:buSzPct val="100000"/>
              <a:buFont typeface="+mj-lt"/>
              <a:buAutoNum type="arabicPeriod" startAt="6"/>
            </a:pPr>
            <a:r>
              <a:rPr lang="en-US" sz="550" dirty="0">
                <a:solidFill>
                  <a:srgbClr val="272525"/>
                </a:solidFill>
                <a:latin typeface="Inter" pitchFamily="34" charset="0"/>
                <a:ea typeface="Inter" pitchFamily="34" charset="-122"/>
                <a:cs typeface="Inter" pitchFamily="34" charset="-120"/>
              </a:rPr>
              <a:t>: International fund support and multi-currency analysis           </a:t>
            </a:r>
            <a:endParaRPr lang="en-US" sz="550" dirty="0"/>
          </a:p>
        </p:txBody>
      </p:sp>
      <p:pic>
        <p:nvPicPr>
          <p:cNvPr id="21" name="Image 0" descr="preencoded.png">    </p:cNvPr>
          <p:cNvPicPr>
            <a:picLocks noChangeAspect="1"/>
          </p:cNvPicPr>
          <p:nvPr/>
        </p:nvPicPr>
        <p:blipFill>
          <a:blip r:embed="rId1"/>
          <a:stretch>
            <a:fillRect/>
          </a:stretch>
        </p:blipFill>
        <p:spPr>
          <a:xfrm>
            <a:off x="4663232" y="1524372"/>
            <a:ext cx="3989412" cy="398941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96119" y="493291"/>
            <a:ext cx="8151763" cy="242292"/>
          </a:xfrm>
          <a:prstGeom prst="rect">
            <a:avLst/>
          </a:prstGeom>
          <a:noFill/>
          <a:ln/>
        </p:spPr>
        <p:txBody>
          <a:bodyPr wrap="none" lIns="0" tIns="0" rIns="0" bIns="0" rtlCol="0" anchor="t"/>
          <a:lstStyle/>
          <a:p>
            <a:pPr algn="l" indent="0" marL="0">
              <a:lnSpc>
                <a:spcPct val="104000"/>
              </a:lnSpc>
              <a:buNone/>
            </a:pPr>
            <a:r>
              <a:rPr lang="en-US" sz="1500" b="1" dirty="0">
                <a:solidFill>
                  <a:srgbClr val="000000"/>
                </a:solidFill>
                <a:latin typeface="Inter Bold" pitchFamily="34" charset="0"/>
                <a:ea typeface="Inter Bold" pitchFamily="34" charset="-122"/>
                <a:cs typeface="Inter Bold" pitchFamily="34" charset="-120"/>
              </a:rPr>
              <a:t>Performance Metrics &amp; Conclusion</a:t>
            </a:r>
            <a:endParaRPr lang="en-US" sz="1500" dirty="0"/>
          </a:p>
        </p:txBody>
      </p:sp>
      <p:sp>
        <p:nvSpPr>
          <p:cNvPr id="3" name="Text 1"/>
          <p:cNvSpPr/>
          <p:nvPr/>
        </p:nvSpPr>
        <p:spPr>
          <a:xfrm>
            <a:off x="496119" y="859036"/>
            <a:ext cx="4049390" cy="255836"/>
          </a:xfrm>
          <a:prstGeom prst="rect">
            <a:avLst/>
          </a:prstGeom>
          <a:noFill/>
          <a:ln/>
        </p:spPr>
        <p:txBody>
          <a:bodyPr wrap="none" lIns="0" tIns="0" rIns="0" bIns="0" rtlCol="0" anchor="t"/>
          <a:lstStyle/>
          <a:p>
            <a:pPr algn="ctr" indent="0" marL="0">
              <a:lnSpc>
                <a:spcPct val="83000"/>
              </a:lnSpc>
              <a:buNone/>
            </a:pPr>
            <a:r>
              <a:rPr lang="en-US" sz="2000" b="1" dirty="0">
                <a:solidFill>
                  <a:srgbClr val="272525"/>
                </a:solidFill>
                <a:latin typeface="Inter Bold" pitchFamily="34" charset="0"/>
                <a:ea typeface="Inter Bold" pitchFamily="34" charset="-122"/>
                <a:cs typeface="Inter Bold" pitchFamily="34" charset="-120"/>
              </a:rPr>
              <a:t>14,341</a:t>
            </a:r>
            <a:endParaRPr lang="en-US" sz="2000" dirty="0"/>
          </a:p>
        </p:txBody>
      </p:sp>
      <p:sp>
        <p:nvSpPr>
          <p:cNvPr id="4" name="Text 2"/>
          <p:cNvSpPr/>
          <p:nvPr/>
        </p:nvSpPr>
        <p:spPr>
          <a:xfrm>
            <a:off x="496119" y="1185342"/>
            <a:ext cx="4049390" cy="121072"/>
          </a:xfrm>
          <a:prstGeom prst="rect">
            <a:avLst/>
          </a:prstGeom>
          <a:noFill/>
          <a:ln/>
        </p:spPr>
        <p:txBody>
          <a:bodyPr wrap="none" lIns="0" tIns="0" rIns="0" bIns="0" rtlCol="0" anchor="t"/>
          <a:lstStyle/>
          <a:p>
            <a:pPr algn="ctr" indent="0" marL="0">
              <a:lnSpc>
                <a:spcPct val="104000"/>
              </a:lnSpc>
              <a:buNone/>
            </a:pPr>
            <a:r>
              <a:rPr lang="en-US" sz="750" b="1" dirty="0">
                <a:solidFill>
                  <a:srgbClr val="272525"/>
                </a:solidFill>
                <a:latin typeface="Inter Bold" pitchFamily="34" charset="0"/>
                <a:ea typeface="Inter Bold" pitchFamily="34" charset="-122"/>
                <a:cs typeface="Inter Bold" pitchFamily="34" charset="-120"/>
              </a:rPr>
              <a:t>Schemes Processed</a:t>
            </a:r>
            <a:endParaRPr lang="en-US" sz="750" dirty="0"/>
          </a:p>
        </p:txBody>
      </p:sp>
      <p:sp>
        <p:nvSpPr>
          <p:cNvPr id="5" name="Text 3"/>
          <p:cNvSpPr/>
          <p:nvPr/>
        </p:nvSpPr>
        <p:spPr>
          <a:xfrm>
            <a:off x="496119" y="1331788"/>
            <a:ext cx="4049390" cy="95920"/>
          </a:xfrm>
          <a:prstGeom prst="rect">
            <a:avLst/>
          </a:prstGeom>
          <a:noFill/>
          <a:ln/>
        </p:spPr>
        <p:txBody>
          <a:bodyPr wrap="none" lIns="0" tIns="0" rIns="0" bIns="0" rtlCol="0" anchor="t"/>
          <a:lstStyle/>
          <a:p>
            <a:pPr algn="ctr" indent="0" marL="0">
              <a:lnSpc>
                <a:spcPct val="103000"/>
              </a:lnSpc>
              <a:buNone/>
            </a:pPr>
            <a:r>
              <a:rPr lang="en-US" sz="600" dirty="0">
                <a:solidFill>
                  <a:srgbClr val="272525"/>
                </a:solidFill>
                <a:latin typeface="Inter" pitchFamily="34" charset="0"/>
                <a:ea typeface="Inter" pitchFamily="34" charset="-122"/>
                <a:cs typeface="Inter" pitchFamily="34" charset="-120"/>
              </a:rPr>
              <a:t>From 51 fund houses</a:t>
            </a:r>
            <a:endParaRPr lang="en-US" sz="600" dirty="0"/>
          </a:p>
        </p:txBody>
      </p:sp>
      <p:sp>
        <p:nvSpPr>
          <p:cNvPr id="6" name="Text 4"/>
          <p:cNvSpPr/>
          <p:nvPr/>
        </p:nvSpPr>
        <p:spPr>
          <a:xfrm>
            <a:off x="4598491" y="859036"/>
            <a:ext cx="4049390" cy="255836"/>
          </a:xfrm>
          <a:prstGeom prst="rect">
            <a:avLst/>
          </a:prstGeom>
          <a:noFill/>
          <a:ln/>
        </p:spPr>
        <p:txBody>
          <a:bodyPr wrap="none" lIns="0" tIns="0" rIns="0" bIns="0" rtlCol="0" anchor="t"/>
          <a:lstStyle/>
          <a:p>
            <a:pPr algn="ctr" indent="0" marL="0">
              <a:lnSpc>
                <a:spcPct val="83000"/>
              </a:lnSpc>
              <a:buNone/>
            </a:pPr>
            <a:r>
              <a:rPr lang="en-US" sz="2000" b="1" dirty="0">
                <a:solidFill>
                  <a:srgbClr val="272525"/>
                </a:solidFill>
                <a:latin typeface="Inter Bold" pitchFamily="34" charset="0"/>
                <a:ea typeface="Inter Bold" pitchFamily="34" charset="-122"/>
                <a:cs typeface="Inter Bold" pitchFamily="34" charset="-120"/>
              </a:rPr>
              <a:t>11,506</a:t>
            </a:r>
            <a:endParaRPr lang="en-US" sz="2000" dirty="0"/>
          </a:p>
        </p:txBody>
      </p:sp>
      <p:sp>
        <p:nvSpPr>
          <p:cNvPr id="7" name="Text 5"/>
          <p:cNvSpPr/>
          <p:nvPr/>
        </p:nvSpPr>
        <p:spPr>
          <a:xfrm>
            <a:off x="4598491" y="1185342"/>
            <a:ext cx="4049390" cy="121072"/>
          </a:xfrm>
          <a:prstGeom prst="rect">
            <a:avLst/>
          </a:prstGeom>
          <a:noFill/>
          <a:ln/>
        </p:spPr>
        <p:txBody>
          <a:bodyPr wrap="none" lIns="0" tIns="0" rIns="0" bIns="0" rtlCol="0" anchor="t"/>
          <a:lstStyle/>
          <a:p>
            <a:pPr algn="ctr" indent="0" marL="0">
              <a:lnSpc>
                <a:spcPct val="104000"/>
              </a:lnSpc>
              <a:buNone/>
            </a:pPr>
            <a:r>
              <a:rPr lang="en-US" sz="750" b="1" dirty="0">
                <a:solidFill>
                  <a:srgbClr val="272525"/>
                </a:solidFill>
                <a:latin typeface="Inter Bold" pitchFamily="34" charset="0"/>
                <a:ea typeface="Inter Bold" pitchFamily="34" charset="-122"/>
                <a:cs typeface="Inter Bold" pitchFamily="34" charset="-120"/>
              </a:rPr>
              <a:t>Cleaned Schemes</a:t>
            </a:r>
            <a:endParaRPr lang="en-US" sz="750" dirty="0"/>
          </a:p>
        </p:txBody>
      </p:sp>
      <p:sp>
        <p:nvSpPr>
          <p:cNvPr id="8" name="Text 6"/>
          <p:cNvSpPr/>
          <p:nvPr/>
        </p:nvSpPr>
        <p:spPr>
          <a:xfrm>
            <a:off x="4598491" y="1331788"/>
            <a:ext cx="4049390" cy="95920"/>
          </a:xfrm>
          <a:prstGeom prst="rect">
            <a:avLst/>
          </a:prstGeom>
          <a:noFill/>
          <a:ln/>
        </p:spPr>
        <p:txBody>
          <a:bodyPr wrap="none" lIns="0" tIns="0" rIns="0" bIns="0" rtlCol="0" anchor="t"/>
          <a:lstStyle/>
          <a:p>
            <a:pPr algn="ctr" indent="0" marL="0">
              <a:lnSpc>
                <a:spcPct val="103000"/>
              </a:lnSpc>
              <a:buNone/>
            </a:pPr>
            <a:r>
              <a:rPr lang="en-US" sz="600" dirty="0">
                <a:solidFill>
                  <a:srgbClr val="272525"/>
                </a:solidFill>
                <a:latin typeface="Inter" pitchFamily="34" charset="0"/>
                <a:ea typeface="Inter" pitchFamily="34" charset="-122"/>
                <a:cs typeface="Inter" pitchFamily="34" charset="-120"/>
              </a:rPr>
              <a:t>19.77% removed</a:t>
            </a:r>
            <a:endParaRPr lang="en-US" sz="600" dirty="0"/>
          </a:p>
        </p:txBody>
      </p:sp>
      <p:sp>
        <p:nvSpPr>
          <p:cNvPr id="9" name="Text 7"/>
          <p:cNvSpPr/>
          <p:nvPr/>
        </p:nvSpPr>
        <p:spPr>
          <a:xfrm>
            <a:off x="496119" y="1551161"/>
            <a:ext cx="4049390" cy="255836"/>
          </a:xfrm>
          <a:prstGeom prst="rect">
            <a:avLst/>
          </a:prstGeom>
          <a:noFill/>
          <a:ln/>
        </p:spPr>
        <p:txBody>
          <a:bodyPr wrap="none" lIns="0" tIns="0" rIns="0" bIns="0" rtlCol="0" anchor="t"/>
          <a:lstStyle/>
          <a:p>
            <a:pPr algn="ctr" indent="0" marL="0">
              <a:lnSpc>
                <a:spcPct val="83000"/>
              </a:lnSpc>
              <a:buNone/>
            </a:pPr>
            <a:r>
              <a:rPr lang="en-US" sz="2000" b="1" dirty="0">
                <a:solidFill>
                  <a:srgbClr val="272525"/>
                </a:solidFill>
                <a:latin typeface="Inter Bold" pitchFamily="34" charset="0"/>
                <a:ea typeface="Inter Bold" pitchFamily="34" charset="-122"/>
                <a:cs typeface="Inter Bold" pitchFamily="34" charset="-120"/>
              </a:rPr>
              <a:t>1,874</a:t>
            </a:r>
            <a:endParaRPr lang="en-US" sz="2000" dirty="0"/>
          </a:p>
        </p:txBody>
      </p:sp>
      <p:sp>
        <p:nvSpPr>
          <p:cNvPr id="10" name="Text 8"/>
          <p:cNvSpPr/>
          <p:nvPr/>
        </p:nvSpPr>
        <p:spPr>
          <a:xfrm>
            <a:off x="496119" y="1877467"/>
            <a:ext cx="4049390" cy="121072"/>
          </a:xfrm>
          <a:prstGeom prst="rect">
            <a:avLst/>
          </a:prstGeom>
          <a:noFill/>
          <a:ln/>
        </p:spPr>
        <p:txBody>
          <a:bodyPr wrap="none" lIns="0" tIns="0" rIns="0" bIns="0" rtlCol="0" anchor="t"/>
          <a:lstStyle/>
          <a:p>
            <a:pPr algn="ctr" indent="0" marL="0">
              <a:lnSpc>
                <a:spcPct val="104000"/>
              </a:lnSpc>
              <a:buNone/>
            </a:pPr>
            <a:r>
              <a:rPr lang="en-US" sz="750" b="1" dirty="0">
                <a:solidFill>
                  <a:srgbClr val="272525"/>
                </a:solidFill>
                <a:latin typeface="Inter Bold" pitchFamily="34" charset="0"/>
                <a:ea typeface="Inter Bold" pitchFamily="34" charset="-122"/>
                <a:cs typeface="Inter Bold" pitchFamily="34" charset="-120"/>
              </a:rPr>
              <a:t>Featured Schemes</a:t>
            </a:r>
            <a:endParaRPr lang="en-US" sz="750" dirty="0"/>
          </a:p>
        </p:txBody>
      </p:sp>
      <p:sp>
        <p:nvSpPr>
          <p:cNvPr id="11" name="Text 9"/>
          <p:cNvSpPr/>
          <p:nvPr/>
        </p:nvSpPr>
        <p:spPr>
          <a:xfrm>
            <a:off x="496119" y="2023914"/>
            <a:ext cx="4049390" cy="95920"/>
          </a:xfrm>
          <a:prstGeom prst="rect">
            <a:avLst/>
          </a:prstGeom>
          <a:noFill/>
          <a:ln/>
        </p:spPr>
        <p:txBody>
          <a:bodyPr wrap="none" lIns="0" tIns="0" rIns="0" bIns="0" rtlCol="0" anchor="t"/>
          <a:lstStyle/>
          <a:p>
            <a:pPr algn="ctr" indent="0" marL="0">
              <a:lnSpc>
                <a:spcPct val="103000"/>
              </a:lnSpc>
              <a:buNone/>
            </a:pPr>
            <a:r>
              <a:rPr lang="en-US" sz="600" dirty="0">
                <a:solidFill>
                  <a:srgbClr val="272525"/>
                </a:solidFill>
                <a:latin typeface="Inter" pitchFamily="34" charset="0"/>
                <a:ea typeface="Inter" pitchFamily="34" charset="-122"/>
                <a:cs typeface="Inter" pitchFamily="34" charset="-120"/>
              </a:rPr>
              <a:t>With 17 metrics</a:t>
            </a:r>
            <a:endParaRPr lang="en-US" sz="600" dirty="0"/>
          </a:p>
        </p:txBody>
      </p:sp>
      <p:sp>
        <p:nvSpPr>
          <p:cNvPr id="12" name="Text 10"/>
          <p:cNvSpPr/>
          <p:nvPr/>
        </p:nvSpPr>
        <p:spPr>
          <a:xfrm>
            <a:off x="4598491" y="1551161"/>
            <a:ext cx="4049390" cy="255836"/>
          </a:xfrm>
          <a:prstGeom prst="rect">
            <a:avLst/>
          </a:prstGeom>
          <a:noFill/>
          <a:ln/>
        </p:spPr>
        <p:txBody>
          <a:bodyPr wrap="none" lIns="0" tIns="0" rIns="0" bIns="0" rtlCol="0" anchor="t"/>
          <a:lstStyle/>
          <a:p>
            <a:pPr algn="ctr" indent="0" marL="0">
              <a:lnSpc>
                <a:spcPct val="83000"/>
              </a:lnSpc>
              <a:buNone/>
            </a:pPr>
            <a:r>
              <a:rPr lang="en-US" sz="2000" b="1" dirty="0">
                <a:solidFill>
                  <a:srgbClr val="272525"/>
                </a:solidFill>
                <a:latin typeface="Inter Bold" pitchFamily="34" charset="0"/>
                <a:ea typeface="Inter Bold" pitchFamily="34" charset="-122"/>
                <a:cs typeface="Inter Bold" pitchFamily="34" charset="-120"/>
              </a:rPr>
              <a:t>&lt;100ms</a:t>
            </a:r>
            <a:endParaRPr lang="en-US" sz="2000" dirty="0"/>
          </a:p>
        </p:txBody>
      </p:sp>
      <p:sp>
        <p:nvSpPr>
          <p:cNvPr id="13" name="Text 11"/>
          <p:cNvSpPr/>
          <p:nvPr/>
        </p:nvSpPr>
        <p:spPr>
          <a:xfrm>
            <a:off x="4598491" y="1877467"/>
            <a:ext cx="4049390" cy="121072"/>
          </a:xfrm>
          <a:prstGeom prst="rect">
            <a:avLst/>
          </a:prstGeom>
          <a:noFill/>
          <a:ln/>
        </p:spPr>
        <p:txBody>
          <a:bodyPr wrap="none" lIns="0" tIns="0" rIns="0" bIns="0" rtlCol="0" anchor="t"/>
          <a:lstStyle/>
          <a:p>
            <a:pPr algn="ctr" indent="0" marL="0">
              <a:lnSpc>
                <a:spcPct val="104000"/>
              </a:lnSpc>
              <a:buNone/>
            </a:pPr>
            <a:r>
              <a:rPr lang="en-US" sz="750" b="1" dirty="0">
                <a:solidFill>
                  <a:srgbClr val="272525"/>
                </a:solidFill>
                <a:latin typeface="Inter Bold" pitchFamily="34" charset="0"/>
                <a:ea typeface="Inter Bold" pitchFamily="34" charset="-122"/>
                <a:cs typeface="Inter Bold" pitchFamily="34" charset="-120"/>
              </a:rPr>
              <a:t>Avg API Response</a:t>
            </a:r>
            <a:endParaRPr lang="en-US" sz="750" dirty="0"/>
          </a:p>
        </p:txBody>
      </p:sp>
      <p:sp>
        <p:nvSpPr>
          <p:cNvPr id="14" name="Text 12"/>
          <p:cNvSpPr/>
          <p:nvPr/>
        </p:nvSpPr>
        <p:spPr>
          <a:xfrm>
            <a:off x="4598491" y="2023914"/>
            <a:ext cx="4049390" cy="95920"/>
          </a:xfrm>
          <a:prstGeom prst="rect">
            <a:avLst/>
          </a:prstGeom>
          <a:noFill/>
          <a:ln/>
        </p:spPr>
        <p:txBody>
          <a:bodyPr wrap="none" lIns="0" tIns="0" rIns="0" bIns="0" rtlCol="0" anchor="t"/>
          <a:lstStyle/>
          <a:p>
            <a:pPr algn="ctr" indent="0" marL="0">
              <a:lnSpc>
                <a:spcPct val="103000"/>
              </a:lnSpc>
              <a:buNone/>
            </a:pPr>
            <a:r>
              <a:rPr lang="en-US" sz="600" dirty="0">
                <a:solidFill>
                  <a:srgbClr val="272525"/>
                </a:solidFill>
                <a:latin typeface="Inter" pitchFamily="34" charset="0"/>
                <a:ea typeface="Inter" pitchFamily="34" charset="-122"/>
                <a:cs typeface="Inter" pitchFamily="34" charset="-120"/>
              </a:rPr>
              <a:t>Sub-100 milliseconds</a:t>
            </a:r>
            <a:endParaRPr lang="en-US" sz="600" dirty="0"/>
          </a:p>
        </p:txBody>
      </p:sp>
      <p:sp>
        <p:nvSpPr>
          <p:cNvPr id="15" name="Text 13"/>
          <p:cNvSpPr/>
          <p:nvPr/>
        </p:nvSpPr>
        <p:spPr>
          <a:xfrm>
            <a:off x="496119" y="2243286"/>
            <a:ext cx="4049390" cy="255836"/>
          </a:xfrm>
          <a:prstGeom prst="rect">
            <a:avLst/>
          </a:prstGeom>
          <a:noFill/>
          <a:ln/>
        </p:spPr>
        <p:txBody>
          <a:bodyPr wrap="none" lIns="0" tIns="0" rIns="0" bIns="0" rtlCol="0" anchor="t"/>
          <a:lstStyle/>
          <a:p>
            <a:pPr algn="ctr" indent="0" marL="0">
              <a:lnSpc>
                <a:spcPct val="83000"/>
              </a:lnSpc>
              <a:buNone/>
            </a:pPr>
            <a:r>
              <a:rPr lang="en-US" sz="2000" b="1" dirty="0">
                <a:solidFill>
                  <a:srgbClr val="272525"/>
                </a:solidFill>
                <a:latin typeface="Inter Bold" pitchFamily="34" charset="0"/>
                <a:ea typeface="Inter Bold" pitchFamily="34" charset="-122"/>
                <a:cs typeface="Inter Bold" pitchFamily="34" charset="-120"/>
              </a:rPr>
              <a:t>4</a:t>
            </a:r>
            <a:endParaRPr lang="en-US" sz="2000" dirty="0"/>
          </a:p>
        </p:txBody>
      </p:sp>
      <p:sp>
        <p:nvSpPr>
          <p:cNvPr id="16" name="Text 14"/>
          <p:cNvSpPr/>
          <p:nvPr/>
        </p:nvSpPr>
        <p:spPr>
          <a:xfrm>
            <a:off x="496119" y="2569592"/>
            <a:ext cx="4049390" cy="121072"/>
          </a:xfrm>
          <a:prstGeom prst="rect">
            <a:avLst/>
          </a:prstGeom>
          <a:noFill/>
          <a:ln/>
        </p:spPr>
        <p:txBody>
          <a:bodyPr wrap="none" lIns="0" tIns="0" rIns="0" bIns="0" rtlCol="0" anchor="t"/>
          <a:lstStyle/>
          <a:p>
            <a:pPr algn="ctr" indent="0" marL="0">
              <a:lnSpc>
                <a:spcPct val="104000"/>
              </a:lnSpc>
              <a:buNone/>
            </a:pPr>
            <a:r>
              <a:rPr lang="en-US" sz="750" b="1" dirty="0">
                <a:solidFill>
                  <a:srgbClr val="272525"/>
                </a:solidFill>
                <a:latin typeface="Inter Bold" pitchFamily="34" charset="0"/>
                <a:ea typeface="Inter Bold" pitchFamily="34" charset="-122"/>
                <a:cs typeface="Inter Bold" pitchFamily="34" charset="-120"/>
              </a:rPr>
              <a:t>Risk Clusters</a:t>
            </a:r>
            <a:endParaRPr lang="en-US" sz="750" dirty="0"/>
          </a:p>
        </p:txBody>
      </p:sp>
      <p:sp>
        <p:nvSpPr>
          <p:cNvPr id="17" name="Text 15"/>
          <p:cNvSpPr/>
          <p:nvPr/>
        </p:nvSpPr>
        <p:spPr>
          <a:xfrm>
            <a:off x="496119" y="2716039"/>
            <a:ext cx="4049390" cy="95920"/>
          </a:xfrm>
          <a:prstGeom prst="rect">
            <a:avLst/>
          </a:prstGeom>
          <a:noFill/>
          <a:ln/>
        </p:spPr>
        <p:txBody>
          <a:bodyPr wrap="none" lIns="0" tIns="0" rIns="0" bIns="0" rtlCol="0" anchor="t"/>
          <a:lstStyle/>
          <a:p>
            <a:pPr algn="ctr" indent="0" marL="0">
              <a:lnSpc>
                <a:spcPct val="103000"/>
              </a:lnSpc>
              <a:buNone/>
            </a:pPr>
            <a:r>
              <a:rPr lang="en-US" sz="600" dirty="0">
                <a:solidFill>
                  <a:srgbClr val="272525"/>
                </a:solidFill>
                <a:latin typeface="Inter" pitchFamily="34" charset="0"/>
                <a:ea typeface="Inter" pitchFamily="34" charset="-122"/>
                <a:cs typeface="Inter" pitchFamily="34" charset="-120"/>
              </a:rPr>
              <a:t>K-Means K=4</a:t>
            </a:r>
            <a:endParaRPr lang="en-US" sz="600" dirty="0"/>
          </a:p>
        </p:txBody>
      </p:sp>
      <p:sp>
        <p:nvSpPr>
          <p:cNvPr id="18" name="Text 16"/>
          <p:cNvSpPr/>
          <p:nvPr/>
        </p:nvSpPr>
        <p:spPr>
          <a:xfrm>
            <a:off x="4598491" y="2243286"/>
            <a:ext cx="4049390" cy="255836"/>
          </a:xfrm>
          <a:prstGeom prst="rect">
            <a:avLst/>
          </a:prstGeom>
          <a:noFill/>
          <a:ln/>
        </p:spPr>
        <p:txBody>
          <a:bodyPr wrap="none" lIns="0" tIns="0" rIns="0" bIns="0" rtlCol="0" anchor="t"/>
          <a:lstStyle/>
          <a:p>
            <a:pPr algn="ctr" indent="0" marL="0">
              <a:lnSpc>
                <a:spcPct val="83000"/>
              </a:lnSpc>
              <a:buNone/>
            </a:pPr>
            <a:r>
              <a:rPr lang="en-US" sz="2000" b="1" dirty="0">
                <a:solidFill>
                  <a:srgbClr val="272525"/>
                </a:solidFill>
                <a:latin typeface="Inter Bold" pitchFamily="34" charset="0"/>
                <a:ea typeface="Inter Bold" pitchFamily="34" charset="-122"/>
                <a:cs typeface="Inter Bold" pitchFamily="34" charset="-120"/>
              </a:rPr>
              <a:t>6</a:t>
            </a:r>
            <a:endParaRPr lang="en-US" sz="2000" dirty="0"/>
          </a:p>
        </p:txBody>
      </p:sp>
      <p:sp>
        <p:nvSpPr>
          <p:cNvPr id="19" name="Text 17"/>
          <p:cNvSpPr/>
          <p:nvPr/>
        </p:nvSpPr>
        <p:spPr>
          <a:xfrm>
            <a:off x="4598491" y="2569592"/>
            <a:ext cx="4049390" cy="121072"/>
          </a:xfrm>
          <a:prstGeom prst="rect">
            <a:avLst/>
          </a:prstGeom>
          <a:noFill/>
          <a:ln/>
        </p:spPr>
        <p:txBody>
          <a:bodyPr wrap="none" lIns="0" tIns="0" rIns="0" bIns="0" rtlCol="0" anchor="t"/>
          <a:lstStyle/>
          <a:p>
            <a:pPr algn="ctr" indent="0" marL="0">
              <a:lnSpc>
                <a:spcPct val="104000"/>
              </a:lnSpc>
              <a:buNone/>
            </a:pPr>
            <a:r>
              <a:rPr lang="en-US" sz="750" b="1" dirty="0">
                <a:solidFill>
                  <a:srgbClr val="272525"/>
                </a:solidFill>
                <a:latin typeface="Inter Bold" pitchFamily="34" charset="0"/>
                <a:ea typeface="Inter Bold" pitchFamily="34" charset="-122"/>
                <a:cs typeface="Inter Bold" pitchFamily="34" charset="-120"/>
              </a:rPr>
              <a:t>Airflow DAGs</a:t>
            </a:r>
            <a:endParaRPr lang="en-US" sz="750" dirty="0"/>
          </a:p>
        </p:txBody>
      </p:sp>
      <p:sp>
        <p:nvSpPr>
          <p:cNvPr id="20" name="Text 18"/>
          <p:cNvSpPr/>
          <p:nvPr/>
        </p:nvSpPr>
        <p:spPr>
          <a:xfrm>
            <a:off x="4598491" y="2716039"/>
            <a:ext cx="4049390" cy="95920"/>
          </a:xfrm>
          <a:prstGeom prst="rect">
            <a:avLst/>
          </a:prstGeom>
          <a:noFill/>
          <a:ln/>
        </p:spPr>
        <p:txBody>
          <a:bodyPr wrap="none" lIns="0" tIns="0" rIns="0" bIns="0" rtlCol="0" anchor="t"/>
          <a:lstStyle/>
          <a:p>
            <a:pPr algn="ctr" indent="0" marL="0">
              <a:lnSpc>
                <a:spcPct val="103000"/>
              </a:lnSpc>
              <a:buNone/>
            </a:pPr>
            <a:r>
              <a:rPr lang="en-US" sz="600" dirty="0">
                <a:solidFill>
                  <a:srgbClr val="272525"/>
                </a:solidFill>
                <a:latin typeface="Inter" pitchFamily="34" charset="0"/>
                <a:ea typeface="Inter" pitchFamily="34" charset="-122"/>
                <a:cs typeface="Inter" pitchFamily="34" charset="-120"/>
              </a:rPr>
              <a:t>Orchestrating the pipeline</a:t>
            </a:r>
            <a:endParaRPr lang="en-US" sz="600" dirty="0"/>
          </a:p>
        </p:txBody>
      </p:sp>
      <p:sp>
        <p:nvSpPr>
          <p:cNvPr id="21" name="Text 19"/>
          <p:cNvSpPr/>
          <p:nvPr/>
        </p:nvSpPr>
        <p:spPr>
          <a:xfrm>
            <a:off x="496119" y="2935412"/>
            <a:ext cx="4049390" cy="255836"/>
          </a:xfrm>
          <a:prstGeom prst="rect">
            <a:avLst/>
          </a:prstGeom>
          <a:noFill/>
          <a:ln/>
        </p:spPr>
        <p:txBody>
          <a:bodyPr wrap="none" lIns="0" tIns="0" rIns="0" bIns="0" rtlCol="0" anchor="t"/>
          <a:lstStyle/>
          <a:p>
            <a:pPr algn="ctr" indent="0" marL="0">
              <a:lnSpc>
                <a:spcPct val="83000"/>
              </a:lnSpc>
              <a:buNone/>
            </a:pPr>
            <a:r>
              <a:rPr lang="en-US" sz="2000" b="1" dirty="0">
                <a:solidFill>
                  <a:srgbClr val="272525"/>
                </a:solidFill>
                <a:latin typeface="Inter Bold" pitchFamily="34" charset="0"/>
                <a:ea typeface="Inter Bold" pitchFamily="34" charset="-122"/>
                <a:cs typeface="Inter Bold" pitchFamily="34" charset="-120"/>
              </a:rPr>
              <a:t>15+</a:t>
            </a:r>
            <a:endParaRPr lang="en-US" sz="2000" dirty="0"/>
          </a:p>
        </p:txBody>
      </p:sp>
      <p:sp>
        <p:nvSpPr>
          <p:cNvPr id="22" name="Text 20"/>
          <p:cNvSpPr/>
          <p:nvPr/>
        </p:nvSpPr>
        <p:spPr>
          <a:xfrm>
            <a:off x="496119" y="3261717"/>
            <a:ext cx="4049390" cy="121072"/>
          </a:xfrm>
          <a:prstGeom prst="rect">
            <a:avLst/>
          </a:prstGeom>
          <a:noFill/>
          <a:ln/>
        </p:spPr>
        <p:txBody>
          <a:bodyPr wrap="none" lIns="0" tIns="0" rIns="0" bIns="0" rtlCol="0" anchor="t"/>
          <a:lstStyle/>
          <a:p>
            <a:pPr algn="ctr" indent="0" marL="0">
              <a:lnSpc>
                <a:spcPct val="104000"/>
              </a:lnSpc>
              <a:buNone/>
            </a:pPr>
            <a:r>
              <a:rPr lang="en-US" sz="750" b="1" dirty="0">
                <a:solidFill>
                  <a:srgbClr val="272525"/>
                </a:solidFill>
                <a:latin typeface="Inter Bold" pitchFamily="34" charset="0"/>
                <a:ea typeface="Inter Bold" pitchFamily="34" charset="-122"/>
                <a:cs typeface="Inter Bold" pitchFamily="34" charset="-120"/>
              </a:rPr>
              <a:t>REST Endpoints</a:t>
            </a:r>
            <a:endParaRPr lang="en-US" sz="750" dirty="0"/>
          </a:p>
        </p:txBody>
      </p:sp>
      <p:sp>
        <p:nvSpPr>
          <p:cNvPr id="23" name="Text 21"/>
          <p:cNvSpPr/>
          <p:nvPr/>
        </p:nvSpPr>
        <p:spPr>
          <a:xfrm>
            <a:off x="496119" y="3408164"/>
            <a:ext cx="4049390" cy="95920"/>
          </a:xfrm>
          <a:prstGeom prst="rect">
            <a:avLst/>
          </a:prstGeom>
          <a:noFill/>
          <a:ln/>
        </p:spPr>
        <p:txBody>
          <a:bodyPr wrap="none" lIns="0" tIns="0" rIns="0" bIns="0" rtlCol="0" anchor="t"/>
          <a:lstStyle/>
          <a:p>
            <a:pPr algn="ctr" indent="0" marL="0">
              <a:lnSpc>
                <a:spcPct val="103000"/>
              </a:lnSpc>
              <a:buNone/>
            </a:pPr>
            <a:r>
              <a:rPr lang="en-US" sz="600" dirty="0">
                <a:solidFill>
                  <a:srgbClr val="272525"/>
                </a:solidFill>
                <a:latin typeface="Inter" pitchFamily="34" charset="0"/>
                <a:ea typeface="Inter" pitchFamily="34" charset="-122"/>
                <a:cs typeface="Inter" pitchFamily="34" charset="-120"/>
              </a:rPr>
              <a:t>API coverage validated</a:t>
            </a:r>
            <a:endParaRPr lang="en-US" sz="600" dirty="0"/>
          </a:p>
        </p:txBody>
      </p:sp>
      <p:sp>
        <p:nvSpPr>
          <p:cNvPr id="24" name="Text 22"/>
          <p:cNvSpPr/>
          <p:nvPr/>
        </p:nvSpPr>
        <p:spPr>
          <a:xfrm>
            <a:off x="4598491" y="2935412"/>
            <a:ext cx="4049390" cy="255836"/>
          </a:xfrm>
          <a:prstGeom prst="rect">
            <a:avLst/>
          </a:prstGeom>
          <a:noFill/>
          <a:ln/>
        </p:spPr>
        <p:txBody>
          <a:bodyPr wrap="none" lIns="0" tIns="0" rIns="0" bIns="0" rtlCol="0" anchor="t"/>
          <a:lstStyle/>
          <a:p>
            <a:pPr algn="ctr" indent="0" marL="0">
              <a:lnSpc>
                <a:spcPct val="83000"/>
              </a:lnSpc>
              <a:buNone/>
            </a:pPr>
            <a:r>
              <a:rPr lang="en-US" sz="2000" b="1" dirty="0">
                <a:solidFill>
                  <a:srgbClr val="272525"/>
                </a:solidFill>
                <a:latin typeface="Inter Bold" pitchFamily="34" charset="0"/>
                <a:ea typeface="Inter Bold" pitchFamily="34" charset="-122"/>
                <a:cs typeface="Inter Bold" pitchFamily="34" charset="-120"/>
              </a:rPr>
              <a:t>8</a:t>
            </a:r>
            <a:endParaRPr lang="en-US" sz="2000" dirty="0"/>
          </a:p>
        </p:txBody>
      </p:sp>
      <p:sp>
        <p:nvSpPr>
          <p:cNvPr id="25" name="Text 23"/>
          <p:cNvSpPr/>
          <p:nvPr/>
        </p:nvSpPr>
        <p:spPr>
          <a:xfrm>
            <a:off x="4598491" y="3261717"/>
            <a:ext cx="4049390" cy="121072"/>
          </a:xfrm>
          <a:prstGeom prst="rect">
            <a:avLst/>
          </a:prstGeom>
          <a:noFill/>
          <a:ln/>
        </p:spPr>
        <p:txBody>
          <a:bodyPr wrap="none" lIns="0" tIns="0" rIns="0" bIns="0" rtlCol="0" anchor="t"/>
          <a:lstStyle/>
          <a:p>
            <a:pPr algn="ctr" indent="0" marL="0">
              <a:lnSpc>
                <a:spcPct val="104000"/>
              </a:lnSpc>
              <a:buNone/>
            </a:pPr>
            <a:r>
              <a:rPr lang="en-US" sz="750" b="1" dirty="0">
                <a:solidFill>
                  <a:srgbClr val="272525"/>
                </a:solidFill>
                <a:latin typeface="Inter Bold" pitchFamily="34" charset="0"/>
                <a:ea typeface="Inter Bold" pitchFamily="34" charset="-122"/>
                <a:cs typeface="Inter Bold" pitchFamily="34" charset="-120"/>
              </a:rPr>
              <a:t>Page Dashboard</a:t>
            </a:r>
            <a:endParaRPr lang="en-US" sz="750" dirty="0"/>
          </a:p>
        </p:txBody>
      </p:sp>
      <p:sp>
        <p:nvSpPr>
          <p:cNvPr id="26" name="Text 24"/>
          <p:cNvSpPr/>
          <p:nvPr/>
        </p:nvSpPr>
        <p:spPr>
          <a:xfrm>
            <a:off x="4598491" y="3408164"/>
            <a:ext cx="4049390" cy="95920"/>
          </a:xfrm>
          <a:prstGeom prst="rect">
            <a:avLst/>
          </a:prstGeom>
          <a:noFill/>
          <a:ln/>
        </p:spPr>
        <p:txBody>
          <a:bodyPr wrap="none" lIns="0" tIns="0" rIns="0" bIns="0" rtlCol="0" anchor="t"/>
          <a:lstStyle/>
          <a:p>
            <a:pPr algn="ctr" indent="0" marL="0">
              <a:lnSpc>
                <a:spcPct val="103000"/>
              </a:lnSpc>
              <a:buNone/>
            </a:pPr>
            <a:r>
              <a:rPr lang="en-US" sz="600" dirty="0">
                <a:solidFill>
                  <a:srgbClr val="272525"/>
                </a:solidFill>
                <a:latin typeface="Inter" pitchFamily="34" charset="0"/>
                <a:ea typeface="Inter" pitchFamily="34" charset="-122"/>
                <a:cs typeface="Inter" pitchFamily="34" charset="-120"/>
              </a:rPr>
              <a:t>Interactive analytics interface</a:t>
            </a:r>
            <a:endParaRPr lang="en-US" sz="600" dirty="0"/>
          </a:p>
        </p:txBody>
      </p:sp>
      <p:sp>
        <p:nvSpPr>
          <p:cNvPr id="27" name="Text 25"/>
          <p:cNvSpPr/>
          <p:nvPr/>
        </p:nvSpPr>
        <p:spPr>
          <a:xfrm>
            <a:off x="496119" y="3567633"/>
            <a:ext cx="8151763" cy="193849"/>
          </a:xfrm>
          <a:prstGeom prst="rect">
            <a:avLst/>
          </a:prstGeom>
          <a:noFill/>
          <a:ln/>
        </p:spPr>
        <p:txBody>
          <a:bodyPr wrap="none" lIns="0" tIns="0" rIns="0" bIns="0" rtlCol="0" anchor="t"/>
          <a:lstStyle/>
          <a:p>
            <a:pPr algn="l" indent="0" marL="0">
              <a:lnSpc>
                <a:spcPct val="104000"/>
              </a:lnSpc>
              <a:buNone/>
            </a:pPr>
            <a:r>
              <a:rPr lang="en-US" sz="1200" b="1" dirty="0">
                <a:solidFill>
                  <a:srgbClr val="000000"/>
                </a:solidFill>
                <a:latin typeface="Inter Bold" pitchFamily="34" charset="0"/>
                <a:ea typeface="Inter Bold" pitchFamily="34" charset="-122"/>
                <a:cs typeface="Inter Bold" pitchFamily="34" charset="-120"/>
              </a:rPr>
              <a:t>Key Achievements</a:t>
            </a:r>
            <a:endParaRPr lang="en-US" sz="1200" dirty="0"/>
          </a:p>
        </p:txBody>
      </p:sp>
      <p:sp>
        <p:nvSpPr>
          <p:cNvPr id="28" name="Text 26"/>
          <p:cNvSpPr/>
          <p:nvPr/>
        </p:nvSpPr>
        <p:spPr>
          <a:xfrm>
            <a:off x="496119" y="3863132"/>
            <a:ext cx="3981301" cy="428104"/>
          </a:xfrm>
          <a:prstGeom prst="rect">
            <a:avLst/>
          </a:prstGeom>
          <a:noFill/>
          <a:ln/>
        </p:spPr>
        <p:txBody>
          <a:bodyPr wrap="square" lIns="0" tIns="0" rIns="0" bIns="0" rtlCol="0" anchor="t">
            <a:normAutofit/>
          </a:bodyPr>
          <a:lstStyle/>
          <a:p>
            <a:pPr algn="l" marL="121920" indent="-121920">
              <a:lnSpc>
                <a:spcPct val="103000"/>
              </a:lnSpc>
              <a:buSzPct val="100000"/>
              <a:buChar char="•"/>
            </a:pPr>
            <a:r>
              <a:rPr lang="en-US" sz="600" dirty="0">
                <a:solidFill>
                  <a:srgbClr val="272525"/>
                </a:solidFill>
                <a:latin typeface="Inter" pitchFamily="34" charset="0"/>
                <a:ea typeface="Inter" pitchFamily="34" charset="-122"/>
                <a:cs typeface="Inter" pitchFamily="34" charset="-120"/>
              </a:rPr>
              <a:t>Complete 5-layer architecture</a:t>
            </a:r>
            <a:endParaRPr lang="en-US" sz="600" dirty="0"/>
          </a:p>
          <a:p>
            <a:pPr algn="l" marL="121920" indent="-121920">
              <a:lnSpc>
                <a:spcPct val="103000"/>
              </a:lnSpc>
              <a:buSzPct val="100000"/>
              <a:buChar char="•"/>
            </a:pPr>
            <a:r>
              <a:rPr lang="en-US" sz="600" dirty="0">
                <a:solidFill>
                  <a:srgbClr val="272525"/>
                </a:solidFill>
                <a:latin typeface="Inter" pitchFamily="34" charset="0"/>
                <a:ea typeface="Inter" pitchFamily="34" charset="-122"/>
                <a:cs typeface="Inter" pitchFamily="34" charset="-120"/>
              </a:rPr>
              <a:t>15+ REST endpoints tested</a:t>
            </a:r>
            <a:endParaRPr lang="en-US" sz="600" dirty="0"/>
          </a:p>
          <a:p>
            <a:pPr algn="l" marL="121920" indent="-121920">
              <a:lnSpc>
                <a:spcPct val="103000"/>
              </a:lnSpc>
              <a:buSzPct val="100000"/>
              <a:buChar char="•"/>
            </a:pPr>
            <a:r>
              <a:rPr lang="en-US" sz="600" dirty="0">
                <a:solidFill>
                  <a:srgbClr val="272525"/>
                </a:solidFill>
                <a:latin typeface="Inter" pitchFamily="34" charset="0"/>
                <a:ea typeface="Inter" pitchFamily="34" charset="-122"/>
                <a:cs typeface="Inter" pitchFamily="34" charset="-120"/>
              </a:rPr>
              <a:t>8-page interactive dashboard</a:t>
            </a:r>
            <a:endParaRPr lang="en-US" sz="600" dirty="0"/>
          </a:p>
          <a:p>
            <a:pPr algn="l" marL="121920" indent="-121920">
              <a:lnSpc>
                <a:spcPct val="103000"/>
              </a:lnSpc>
              <a:buSzPct val="100000"/>
              <a:buChar char="•"/>
            </a:pPr>
            <a:r>
              <a:rPr lang="en-US" sz="600" dirty="0">
                <a:solidFill>
                  <a:srgbClr val="272525"/>
                </a:solidFill>
                <a:latin typeface="Inter" pitchFamily="34" charset="0"/>
                <a:ea typeface="Inter" pitchFamily="34" charset="-122"/>
                <a:cs typeface="Inter" pitchFamily="34" charset="-120"/>
              </a:rPr>
              <a:t>Automated Airflow pipeline</a:t>
            </a:r>
            <a:endParaRPr lang="en-US" sz="600" dirty="0"/>
          </a:p>
        </p:txBody>
      </p:sp>
      <p:sp>
        <p:nvSpPr>
          <p:cNvPr id="29" name="Text 27"/>
          <p:cNvSpPr/>
          <p:nvPr/>
        </p:nvSpPr>
        <p:spPr>
          <a:xfrm>
            <a:off x="4671343" y="3863132"/>
            <a:ext cx="3981301" cy="428104"/>
          </a:xfrm>
          <a:prstGeom prst="rect">
            <a:avLst/>
          </a:prstGeom>
          <a:noFill/>
          <a:ln/>
        </p:spPr>
        <p:txBody>
          <a:bodyPr wrap="square" lIns="0" tIns="0" rIns="0" bIns="0" rtlCol="0" anchor="t">
            <a:normAutofit/>
          </a:bodyPr>
          <a:lstStyle/>
          <a:p>
            <a:pPr algn="l" marL="121920" indent="-121920">
              <a:lnSpc>
                <a:spcPct val="103000"/>
              </a:lnSpc>
              <a:buSzPct val="100000"/>
              <a:buChar char="•"/>
            </a:pPr>
            <a:r>
              <a:rPr lang="en-US" sz="600" dirty="0">
                <a:solidFill>
                  <a:srgbClr val="272525"/>
                </a:solidFill>
                <a:latin typeface="Inter" pitchFamily="34" charset="0"/>
                <a:ea typeface="Inter" pitchFamily="34" charset="-122"/>
                <a:cs typeface="Inter" pitchFamily="34" charset="-120"/>
              </a:rPr>
              <a:t>100% data validation pass rate</a:t>
            </a:r>
            <a:endParaRPr lang="en-US" sz="600" dirty="0"/>
          </a:p>
          <a:p>
            <a:pPr algn="l" marL="121920" indent="-121920">
              <a:lnSpc>
                <a:spcPct val="103000"/>
              </a:lnSpc>
              <a:buSzPct val="100000"/>
              <a:buChar char="•"/>
            </a:pPr>
            <a:r>
              <a:rPr lang="en-US" sz="600" dirty="0">
                <a:solidFill>
                  <a:srgbClr val="272525"/>
                </a:solidFill>
                <a:latin typeface="Inter" pitchFamily="34" charset="0"/>
                <a:ea typeface="Inter" pitchFamily="34" charset="-122"/>
                <a:cs typeface="Inter" pitchFamily="34" charset="-120"/>
              </a:rPr>
              <a:t>Production-ready deployment</a:t>
            </a:r>
            <a:endParaRPr lang="en-US" sz="600" dirty="0"/>
          </a:p>
          <a:p>
            <a:pPr algn="l" marL="121920" indent="-121920">
              <a:lnSpc>
                <a:spcPct val="103000"/>
              </a:lnSpc>
              <a:buSzPct val="100000"/>
              <a:buChar char="•"/>
            </a:pPr>
            <a:r>
              <a:rPr lang="en-US" sz="600" dirty="0">
                <a:solidFill>
                  <a:srgbClr val="272525"/>
                </a:solidFill>
                <a:latin typeface="Inter" pitchFamily="34" charset="0"/>
                <a:ea typeface="Inter" pitchFamily="34" charset="-122"/>
                <a:cs typeface="Inter" pitchFamily="34" charset="-120"/>
              </a:rPr>
              <a:t>Scalable ML components</a:t>
            </a:r>
            <a:endParaRPr lang="en-US" sz="600" dirty="0"/>
          </a:p>
          <a:p>
            <a:pPr algn="l" marL="121920" indent="-121920">
              <a:lnSpc>
                <a:spcPct val="103000"/>
              </a:lnSpc>
              <a:buSzPct val="100000"/>
              <a:buChar char="•"/>
            </a:pPr>
            <a:r>
              <a:rPr lang="en-US" sz="600" dirty="0">
                <a:solidFill>
                  <a:srgbClr val="272525"/>
                </a:solidFill>
                <a:latin typeface="Inter" pitchFamily="34" charset="0"/>
                <a:ea typeface="Inter" pitchFamily="34" charset="-122"/>
                <a:cs typeface="Inter" pitchFamily="34" charset="-120"/>
              </a:rPr>
              <a:t>Comprehensive documentation</a:t>
            </a:r>
            <a:endParaRPr lang="en-US" sz="600" dirty="0"/>
          </a:p>
        </p:txBody>
      </p:sp>
      <p:sp>
        <p:nvSpPr>
          <p:cNvPr id="30" name="Text 28"/>
          <p:cNvSpPr/>
          <p:nvPr/>
        </p:nvSpPr>
        <p:spPr>
          <a:xfrm>
            <a:off x="496119" y="4369594"/>
            <a:ext cx="8151763" cy="121072"/>
          </a:xfrm>
          <a:prstGeom prst="rect">
            <a:avLst/>
          </a:prstGeom>
          <a:noFill/>
          <a:ln/>
        </p:spPr>
        <p:txBody>
          <a:bodyPr wrap="none" lIns="0" tIns="0" rIns="0" bIns="0" rtlCol="0" anchor="t"/>
          <a:lstStyle/>
          <a:p>
            <a:pPr algn="l" indent="0" marL="0">
              <a:lnSpc>
                <a:spcPct val="104000"/>
              </a:lnSpc>
              <a:buNone/>
            </a:pPr>
            <a:r>
              <a:rPr lang="en-US" sz="750" b="1" dirty="0">
                <a:solidFill>
                  <a:srgbClr val="000000"/>
                </a:solidFill>
                <a:latin typeface="Inter Bold" pitchFamily="34" charset="0"/>
                <a:ea typeface="Inter Bold" pitchFamily="34" charset="-122"/>
                <a:cs typeface="Inter Bold" pitchFamily="34" charset="-120"/>
              </a:rPr>
              <a:t>Conclusion</a:t>
            </a:r>
            <a:endParaRPr lang="en-US" sz="750" dirty="0"/>
          </a:p>
        </p:txBody>
      </p:sp>
      <p:sp>
        <p:nvSpPr>
          <p:cNvPr id="31" name="Text 29"/>
          <p:cNvSpPr/>
          <p:nvPr/>
        </p:nvSpPr>
        <p:spPr>
          <a:xfrm>
            <a:off x="496119" y="4554215"/>
            <a:ext cx="8608963" cy="95920"/>
          </a:xfrm>
          <a:prstGeom prst="rect">
            <a:avLst/>
          </a:prstGeom>
          <a:noFill/>
          <a:ln/>
        </p:spPr>
        <p:txBody>
          <a:bodyPr wrap="none" lIns="0" tIns="0" rIns="0" bIns="0" rtlCol="0" anchor="t"/>
          <a:lstStyle/>
          <a:p>
            <a:pPr algn="l" indent="0" marL="0">
              <a:lnSpc>
                <a:spcPct val="103000"/>
              </a:lnSpc>
              <a:buNone/>
            </a:pPr>
            <a:r>
              <a:rPr lang="en-US" sz="600" dirty="0">
                <a:solidFill>
                  <a:srgbClr val="272525"/>
                </a:solidFill>
                <a:latin typeface="Inter" pitchFamily="34" charset="0"/>
                <a:ea typeface="Inter" pitchFamily="34" charset="-122"/>
                <a:cs typeface="Inter" pitchFamily="34" charset="-120"/>
              </a:rPr>
              <a:t>This project bridges the gap between complex financial data and practical investment decision-making by transforming raw AMFI inputs into clean, structured, and actionable intelligence for Indian mutual fund analysis.</a:t>
            </a:r>
            <a:endParaRPr lang="en-US" sz="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96119" y="837084"/>
            <a:ext cx="8151763" cy="442987"/>
          </a:xfrm>
          <a:prstGeom prst="rect">
            <a:avLst/>
          </a:prstGeom>
          <a:noFill/>
          <a:ln/>
        </p:spPr>
        <p:txBody>
          <a:bodyPr wrap="none" lIns="0" tIns="0" rIns="0" bIns="0" rtlCol="0" anchor="t"/>
          <a:lstStyle/>
          <a:p>
            <a:pPr algn="l" indent="0" marL="0">
              <a:lnSpc>
                <a:spcPct val="104000"/>
              </a:lnSpc>
              <a:buNone/>
            </a:pPr>
            <a:r>
              <a:rPr lang="en-US" sz="2750" b="1" dirty="0">
                <a:solidFill>
                  <a:srgbClr val="000000"/>
                </a:solidFill>
                <a:latin typeface="Inter Bold" pitchFamily="34" charset="0"/>
                <a:ea typeface="Inter Bold" pitchFamily="34" charset="-122"/>
                <a:cs typeface="Inter Bold" pitchFamily="34" charset="-120"/>
              </a:rPr>
              <a:t>References </a:t>
            </a:r>
            <a:endParaRPr lang="en-US" sz="2750" dirty="0"/>
          </a:p>
        </p:txBody>
      </p:sp>
      <p:sp>
        <p:nvSpPr>
          <p:cNvPr id="3" name="Text 1"/>
          <p:cNvSpPr/>
          <p:nvPr/>
        </p:nvSpPr>
        <p:spPr>
          <a:xfrm>
            <a:off x="496119" y="1563588"/>
            <a:ext cx="8151763" cy="2742754"/>
          </a:xfrm>
          <a:prstGeom prst="rect">
            <a:avLst/>
          </a:prstGeom>
          <a:noFill/>
          <a:ln/>
        </p:spPr>
        <p:txBody>
          <a:bodyPr wrap="square" lIns="0" tIns="0" rIns="0" bIns="0" rtlCol="0" anchor="t">
            <a:normAutofit/>
          </a:bodyPr>
          <a:lstStyle/>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[1] Markowitz, H. (1952). Portfolio Selection. </a:t>
            </a:r>
            <a:pPr algn="l" marL="223520" indent="-223520">
              <a:lnSpc>
                <a:spcPct val="133000"/>
              </a:lnSpc>
              <a:buSzPct val="100000"/>
              <a:buChar char="•"/>
            </a:pPr>
            <a:r>
              <a:rPr lang="en-US" sz="1100" i="1" dirty="0">
                <a:solidFill>
                  <a:srgbClr val="272525"/>
                </a:solidFill>
                <a:latin typeface="Inter" pitchFamily="34" charset="0"/>
                <a:ea typeface="Inter" pitchFamily="34" charset="-122"/>
                <a:cs typeface="Inter" pitchFamily="34" charset="-120"/>
              </a:rPr>
              <a:t>The Journal of Finance</a:t>
            </a:r>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 7(1), 77-91. </a:t>
            </a:r>
            <a:pPr algn="l" marL="223520" indent="-223520">
              <a:lnSpc>
                <a:spcPct val="133000"/>
              </a:lnSpc>
              <a:buSzPct val="100000"/>
              <a:buChar char="•"/>
            </a:pPr>
            <a:r>
              <a:rPr lang="en-US" sz="1100" b="1" u="sng" dirty="0">
                <a:solidFill>
                  <a:srgbClr val="4950BC"/>
                </a:solidFill>
                <a:latin typeface="Inter Bold" pitchFamily="34" charset="0"/>
                <a:ea typeface="Inter Bold" pitchFamily="34" charset="-122"/>
                <a:cs typeface="Inter Bold"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https://doi.org/10.1111/j.1540-6261.1952.tb01525.x</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[2] Sharpe, W. F. (1966). Mutual Fund Performance. </a:t>
            </a:r>
            <a:pPr algn="l" marL="223520" indent="-223520">
              <a:lnSpc>
                <a:spcPct val="133000"/>
              </a:lnSpc>
              <a:buSzPct val="100000"/>
              <a:buChar char="•"/>
            </a:pPr>
            <a:r>
              <a:rPr lang="en-US" sz="1100" i="1" dirty="0">
                <a:solidFill>
                  <a:srgbClr val="272525"/>
                </a:solidFill>
                <a:latin typeface="Inter" pitchFamily="34" charset="0"/>
                <a:ea typeface="Inter" pitchFamily="34" charset="-122"/>
                <a:cs typeface="Inter" pitchFamily="34" charset="-120"/>
              </a:rPr>
              <a:t>The Journal of Business</a:t>
            </a:r>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 39(1), 119-138.</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[3] Sortino, F. A., &amp; van der Meer, H. J. (1991). Downside Risk. </a:t>
            </a:r>
            <a:pPr algn="l" marL="223520" indent="-223520">
              <a:lnSpc>
                <a:spcPct val="133000"/>
              </a:lnSpc>
              <a:buSzPct val="100000"/>
              <a:buChar char="•"/>
            </a:pPr>
            <a:r>
              <a:rPr lang="en-US" sz="1100" i="1" dirty="0">
                <a:solidFill>
                  <a:srgbClr val="272525"/>
                </a:solidFill>
                <a:latin typeface="Inter" pitchFamily="34" charset="0"/>
                <a:ea typeface="Inter" pitchFamily="34" charset="-122"/>
                <a:cs typeface="Inter" pitchFamily="34" charset="-120"/>
              </a:rPr>
              <a:t>The Journal of Portfolio Management</a:t>
            </a:r>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 17(4), 27-31. </a:t>
            </a:r>
            <a:pPr algn="l" marL="223520" indent="-223520">
              <a:lnSpc>
                <a:spcPct val="133000"/>
              </a:lnSpc>
              <a:buSzPct val="100000"/>
              <a:buChar char="•"/>
            </a:pPr>
            <a:r>
              <a:rPr lang="en-US" sz="1100" b="1" u="sng" dirty="0">
                <a:solidFill>
                  <a:srgbClr val="4950BC"/>
                </a:solidFill>
                <a:latin typeface="Inter Bold" pitchFamily="34" charset="0"/>
                <a:ea typeface="Inter Bold" pitchFamily="34" charset="-122"/>
                <a:cs typeface="Inter Bold"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https://doi.org/10.3905/jpm.1991.409343</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[4] MacQueen, J. (1967). Some Methods for Classification and Analysis of Multivariate Observations. In </a:t>
            </a:r>
            <a:pPr algn="l" marL="223520" indent="-223520">
              <a:lnSpc>
                <a:spcPct val="133000"/>
              </a:lnSpc>
              <a:buSzPct val="100000"/>
              <a:buChar char="•"/>
            </a:pPr>
            <a:r>
              <a:rPr lang="en-US" sz="1100" i="1" dirty="0">
                <a:solidFill>
                  <a:srgbClr val="272525"/>
                </a:solidFill>
                <a:latin typeface="Inter" pitchFamily="34" charset="0"/>
                <a:ea typeface="Inter" pitchFamily="34" charset="-122"/>
                <a:cs typeface="Inter" pitchFamily="34" charset="-120"/>
              </a:rPr>
              <a:t>Proceedings of the Fifth Berkeley Symposium on Mathematical Statistics and Probability</a:t>
            </a:r>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 (Vol. 1, pp. 281-297).</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[5] FastAPI Developers. (2024). </a:t>
            </a:r>
            <a:pPr algn="l" marL="223520" indent="-223520">
              <a:lnSpc>
                <a:spcPct val="133000"/>
              </a:lnSpc>
              <a:buSzPct val="100000"/>
              <a:buChar char="•"/>
            </a:pPr>
            <a:r>
              <a:rPr lang="en-US" sz="1100" i="1" dirty="0">
                <a:solidFill>
                  <a:srgbClr val="272525"/>
                </a:solidFill>
                <a:latin typeface="Inter" pitchFamily="34" charset="0"/>
                <a:ea typeface="Inter" pitchFamily="34" charset="-122"/>
                <a:cs typeface="Inter" pitchFamily="34" charset="-120"/>
              </a:rPr>
              <a:t>FastAPI Framework: Asynchronous High-Performance Web APIs in Python</a:t>
            </a:r>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 </a:t>
            </a:r>
            <a:pPr algn="l" marL="223520" indent="-223520">
              <a:lnSpc>
                <a:spcPct val="133000"/>
              </a:lnSpc>
              <a:buSzPct val="100000"/>
              <a:buChar char="•"/>
            </a:pPr>
            <a:r>
              <a:rPr lang="en-US" sz="1100" b="1" u="sng" dirty="0">
                <a:solidFill>
                  <a:srgbClr val="4950BC"/>
                </a:solidFill>
                <a:latin typeface="Inter Bold" pitchFamily="34" charset="0"/>
                <a:ea typeface="Inter Bold" pitchFamily="34" charset="-122"/>
                <a:cs typeface="Inter Bold"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https://fastapi.tiangolo.com</a:t>
            </a:r>
            <a:endParaRPr lang="en-US" sz="1100" dirty="0"/>
          </a:p>
          <a:p>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[6] Association of Mutual Funds in India (AMFI). (2026). </a:t>
            </a:r>
            <a:pPr algn="l" marL="223520" indent="-223520">
              <a:lnSpc>
                <a:spcPct val="133000"/>
              </a:lnSpc>
              <a:buSzPct val="100000"/>
              <a:buChar char="•"/>
            </a:pPr>
            <a:r>
              <a:rPr lang="en-US" sz="1100" i="1" dirty="0">
                <a:solidFill>
                  <a:srgbClr val="272525"/>
                </a:solidFill>
                <a:latin typeface="Inter" pitchFamily="34" charset="0"/>
                <a:ea typeface="Inter" pitchFamily="34" charset="-122"/>
                <a:cs typeface="Inter" pitchFamily="34" charset="-120"/>
              </a:rPr>
              <a:t>Mutual Fund Net Asset Value (NAV) Data Portal</a:t>
            </a:r>
            <a:pPr algn="l" marL="223520" indent="-223520">
              <a:lnSpc>
                <a:spcPct val="133000"/>
              </a:lnSpc>
              <a:buSzPct val="100000"/>
              <a:buChar char="•"/>
            </a:pPr>
            <a:r>
              <a:rPr lang="en-US" sz="1100" dirty="0">
                <a:solidFill>
                  <a:srgbClr val="272525"/>
                </a:solidFill>
                <a:latin typeface="Inter" pitchFamily="34" charset="0"/>
                <a:ea typeface="Inter" pitchFamily="34" charset="-122"/>
                <a:cs typeface="Inter" pitchFamily="34" charset="-120"/>
              </a:rPr>
              <a:t>. </a:t>
            </a:r>
            <a:pPr algn="l" marL="223520" indent="-223520">
              <a:lnSpc>
                <a:spcPct val="133000"/>
              </a:lnSpc>
              <a:buSzPct val="100000"/>
              <a:buChar char="•"/>
            </a:pPr>
            <a:r>
              <a:rPr lang="en-US" sz="1100" b="1" u="sng" dirty="0">
                <a:solidFill>
                  <a:srgbClr val="4950BC"/>
                </a:solidFill>
                <a:latin typeface="Inter Bold" pitchFamily="34" charset="0"/>
                <a:ea typeface="Inter Bold" pitchFamily="34" charset="-122"/>
                <a:cs typeface="Inter Bold"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https://www.amfiindia.com</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96119" y="937394"/>
            <a:ext cx="8151763" cy="442987"/>
          </a:xfrm>
          <a:prstGeom prst="rect">
            <a:avLst/>
          </a:prstGeom>
          <a:noFill/>
          <a:ln/>
        </p:spPr>
        <p:txBody>
          <a:bodyPr wrap="none" lIns="0" tIns="0" rIns="0" bIns="0" rtlCol="0" anchor="t"/>
          <a:lstStyle/>
          <a:p>
            <a:pPr algn="ctr" indent="0" marL="0">
              <a:lnSpc>
                <a:spcPct val="104000"/>
              </a:lnSpc>
              <a:buNone/>
            </a:pPr>
            <a:r>
              <a:rPr lang="en-US" sz="2750" b="1" dirty="0">
                <a:solidFill>
                  <a:srgbClr val="000000"/>
                </a:solidFill>
                <a:latin typeface="Inter Bold" pitchFamily="34" charset="0"/>
                <a:ea typeface="Inter Bold" pitchFamily="34" charset="-122"/>
                <a:cs typeface="Inter Bold" pitchFamily="34" charset="-120"/>
              </a:rPr>
              <a:t>Thank You</a:t>
            </a:r>
            <a:endParaRPr lang="en-US" sz="2750" dirty="0"/>
          </a:p>
        </p:txBody>
      </p:sp>
      <p:sp>
        <p:nvSpPr>
          <p:cNvPr id="3" name="Text 1"/>
          <p:cNvSpPr/>
          <p:nvPr/>
        </p:nvSpPr>
        <p:spPr>
          <a:xfrm>
            <a:off x="496119" y="1437084"/>
            <a:ext cx="8151763" cy="354360"/>
          </a:xfrm>
          <a:prstGeom prst="rect">
            <a:avLst/>
          </a:prstGeom>
          <a:noFill/>
          <a:ln/>
        </p:spPr>
        <p:txBody>
          <a:bodyPr wrap="none" lIns="0" tIns="0" rIns="0" bIns="0" rtlCol="0" anchor="t"/>
          <a:lstStyle/>
          <a:p>
            <a:pPr algn="ctr" indent="0" marL="0">
              <a:lnSpc>
                <a:spcPct val="104000"/>
              </a:lnSpc>
              <a:buNone/>
            </a:pPr>
            <a:r>
              <a:rPr lang="en-US" sz="2200" b="1" dirty="0">
                <a:solidFill>
                  <a:srgbClr val="000000"/>
                </a:solidFill>
                <a:latin typeface="Inter Bold" pitchFamily="34" charset="0"/>
                <a:ea typeface="Inter Bold" pitchFamily="34" charset="-122"/>
                <a:cs typeface="Inter Bold" pitchFamily="34" charset="-120"/>
              </a:rPr>
              <a:t>Questions &amp; Discussion</a:t>
            </a:r>
            <a:endParaRPr lang="en-US" sz="2200" dirty="0"/>
          </a:p>
        </p:txBody>
      </p:sp>
      <p:sp>
        <p:nvSpPr>
          <p:cNvPr id="4" name="Text 2"/>
          <p:cNvSpPr/>
          <p:nvPr/>
        </p:nvSpPr>
        <p:spPr>
          <a:xfrm>
            <a:off x="496119" y="2004045"/>
            <a:ext cx="8151763" cy="1385664"/>
          </a:xfrm>
          <a:prstGeom prst="rect">
            <a:avLst/>
          </a:prstGeom>
          <a:noFill/>
          <a:ln/>
        </p:spPr>
        <p:txBody>
          <a:bodyPr wrap="square" lIns="0" tIns="0" rIns="0" bIns="0" rtlCol="0" anchor="t"/>
          <a:lstStyle/>
          <a:p>
            <a:pPr algn="ctr" indent="0" marL="0">
              <a:lnSpc>
                <a:spcPct val="133000"/>
              </a:lnSpc>
              <a:spcAft>
                <a:spcPts val="1250"/>
              </a:spcAft>
              <a:buNone/>
            </a:pPr>
            <a:r>
              <a:rPr lang="en-US" sz="1100" dirty="0">
                <a:solidFill>
                  <a:srgbClr val="272525"/>
                </a:solidFill>
                <a:latin typeface="Inter" pitchFamily="34" charset="0"/>
                <a:ea typeface="Inter" pitchFamily="34" charset="-122"/>
                <a:cs typeface="Inter" pitchFamily="34" charset="-120"/>
              </a:rPr>
              <a:t>For inquiries, feedback, or collaboration opportunities:</a:t>
            </a:r>
            <a:endParaRPr lang="en-US" sz="1100" dirty="0"/>
          </a:p>
          <a:p>
            <a:pPr algn="ctr" indent="0" marL="0">
              <a:lnSpc>
                <a:spcPct val="133000"/>
              </a:lnSpc>
              <a:buNone/>
            </a:pPr>
            <a:r>
              <a:rPr lang="en-US" sz="1100" dirty="0">
                <a:solidFill>
                  <a:srgbClr val="000000"/>
                </a:solidFill>
                <a:latin typeface="Inter" pitchFamily="34" charset="0"/>
                <a:ea typeface="Inter" pitchFamily="34" charset="-122"/>
                <a:cs typeface="Inter" pitchFamily="34" charset="-120"/>
              </a:rPr>
              <a:t>📧</a:t>
            </a:r>
            <a:pPr algn="ctr" indent="0" marL="0">
              <a:lnSpc>
                <a:spcPct val="133000"/>
              </a:lnSpc>
              <a:buNone/>
            </a:pPr>
            <a:r>
              <a:rPr lang="en-US" sz="1100" dirty="0">
                <a:solidFill>
                  <a:srgbClr val="272525"/>
                </a:solidFill>
                <a:latin typeface="Inter" pitchFamily="34" charset="0"/>
                <a:ea typeface="Inter" pitchFamily="34" charset="-122"/>
                <a:cs typeface="Inter" pitchFamily="34" charset="-120"/>
              </a:rPr>
              <a:t> </a:t>
            </a:r>
            <a:pPr algn="ctr" indent="0" marL="0">
              <a:lnSpc>
                <a:spcPct val="133000"/>
              </a:lnSpc>
              <a:buNone/>
            </a:pPr>
            <a:r>
              <a:rPr lang="en-US" sz="1100" b="1" dirty="0">
                <a:solidFill>
                  <a:srgbClr val="272525"/>
                </a:solidFill>
                <a:latin typeface="Inter Bold" pitchFamily="34" charset="0"/>
                <a:ea typeface="Inter Bold" pitchFamily="34" charset="-122"/>
                <a:cs typeface="Inter Bold" pitchFamily="34" charset="-120"/>
              </a:rPr>
              <a:t>Email:</a:t>
            </a:r>
            <a:pPr algn="ctr" indent="0" marL="0">
              <a:lnSpc>
                <a:spcPct val="133000"/>
              </a:lnSpc>
              <a:spcAft>
                <a:spcPts val="1250"/>
              </a:spcAft>
              <a:buNone/>
            </a:pPr>
            <a:r>
              <a:rPr lang="en-US" sz="1100" dirty="0">
                <a:solidFill>
                  <a:srgbClr val="272525"/>
                </a:solidFill>
                <a:latin typeface="Inter" pitchFamily="34" charset="0"/>
                <a:ea typeface="Inter" pitchFamily="34" charset="-122"/>
                <a:cs typeface="Inter" pitchFamily="34" charset="-120"/>
              </a:rPr>
              <a:t> rahul.bhagat@vit.ac.in</a:t>
            </a:r>
            <a:endParaRPr lang="en-US" sz="1100" dirty="0"/>
          </a:p>
          <a:p>
            <a:pPr algn="ctr" indent="0" marL="0">
              <a:lnSpc>
                <a:spcPct val="133000"/>
              </a:lnSpc>
              <a:buNone/>
            </a:pPr>
            <a:r>
              <a:rPr lang="en-US" sz="1100" dirty="0">
                <a:solidFill>
                  <a:srgbClr val="000000"/>
                </a:solidFill>
                <a:latin typeface="Inter" pitchFamily="34" charset="0"/>
                <a:ea typeface="Inter" pitchFamily="34" charset="-122"/>
                <a:cs typeface="Inter" pitchFamily="34" charset="-120"/>
              </a:rPr>
              <a:t>🔗</a:t>
            </a:r>
            <a:pPr algn="ctr" indent="0" marL="0">
              <a:lnSpc>
                <a:spcPct val="133000"/>
              </a:lnSpc>
              <a:buNone/>
            </a:pPr>
            <a:r>
              <a:rPr lang="en-US" sz="1100" dirty="0">
                <a:solidFill>
                  <a:srgbClr val="272525"/>
                </a:solidFill>
                <a:latin typeface="Inter" pitchFamily="34" charset="0"/>
                <a:ea typeface="Inter" pitchFamily="34" charset="-122"/>
                <a:cs typeface="Inter" pitchFamily="34" charset="-120"/>
              </a:rPr>
              <a:t> </a:t>
            </a:r>
            <a:pPr algn="ctr" indent="0" marL="0">
              <a:lnSpc>
                <a:spcPct val="133000"/>
              </a:lnSpc>
              <a:buNone/>
            </a:pPr>
            <a:r>
              <a:rPr lang="en-US" sz="1100" b="1" dirty="0">
                <a:solidFill>
                  <a:srgbClr val="272525"/>
                </a:solidFill>
                <a:latin typeface="Inter Bold" pitchFamily="34" charset="0"/>
                <a:ea typeface="Inter Bold" pitchFamily="34" charset="-122"/>
                <a:cs typeface="Inter Bold" pitchFamily="34" charset="-120"/>
              </a:rPr>
              <a:t>GitHub:</a:t>
            </a:r>
            <a:pPr algn="ctr" indent="0" marL="0">
              <a:lnSpc>
                <a:spcPct val="133000"/>
              </a:lnSpc>
              <a:buNone/>
            </a:pPr>
            <a:r>
              <a:rPr lang="en-US" sz="1100" dirty="0">
                <a:solidFill>
                  <a:srgbClr val="272525"/>
                </a:solidFill>
                <a:latin typeface="Inter" pitchFamily="34" charset="0"/>
                <a:ea typeface="Inter" pitchFamily="34" charset="-122"/>
                <a:cs typeface="Inter" pitchFamily="34" charset="-120"/>
              </a:rPr>
              <a:t> </a:t>
            </a:r>
            <a:pPr algn="ctr" indent="0" marL="0">
              <a:lnSpc>
                <a:spcPct val="133000"/>
              </a:lnSpc>
              <a:spcAft>
                <a:spcPts val="1250"/>
              </a:spcAft>
              <a:buNone/>
            </a:pPr>
            <a:r>
              <a:rPr lang="en-US" sz="1100" b="1" u="sng" dirty="0">
                <a:solidFill>
                  <a:srgbClr val="4950BC"/>
                </a:solidFill>
                <a:latin typeface="Inter Bold" pitchFamily="34" charset="0"/>
                <a:ea typeface="Inter Bold" pitchFamily="34" charset="-122"/>
                <a:cs typeface="Inter Bold"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Project Repository</a:t>
            </a:r>
            <a:endParaRPr lang="en-US" sz="1100" dirty="0"/>
          </a:p>
          <a:p>
            <a:pPr algn="ctr" indent="0" marL="0">
              <a:lnSpc>
                <a:spcPct val="133000"/>
              </a:lnSpc>
              <a:buNone/>
            </a:pPr>
            <a:r>
              <a:rPr lang="en-US" sz="1100" dirty="0">
                <a:solidFill>
                  <a:srgbClr val="000000"/>
                </a:solidFill>
                <a:latin typeface="Inter" pitchFamily="34" charset="0"/>
                <a:ea typeface="Inter" pitchFamily="34" charset="-122"/>
                <a:cs typeface="Inter" pitchFamily="34" charset="-120"/>
              </a:rPr>
              <a:t>📊</a:t>
            </a:r>
            <a:pPr algn="ctr" indent="0" marL="0">
              <a:lnSpc>
                <a:spcPct val="133000"/>
              </a:lnSpc>
              <a:buNone/>
            </a:pPr>
            <a:r>
              <a:rPr lang="en-US" sz="1100" dirty="0">
                <a:solidFill>
                  <a:srgbClr val="272525"/>
                </a:solidFill>
                <a:latin typeface="Inter" pitchFamily="34" charset="0"/>
                <a:ea typeface="Inter" pitchFamily="34" charset="-122"/>
                <a:cs typeface="Inter" pitchFamily="34" charset="-120"/>
              </a:rPr>
              <a:t> </a:t>
            </a:r>
            <a:pPr algn="ctr" indent="0" marL="0">
              <a:lnSpc>
                <a:spcPct val="133000"/>
              </a:lnSpc>
              <a:buNone/>
            </a:pPr>
            <a:r>
              <a:rPr lang="en-US" sz="1100" b="1" dirty="0">
                <a:solidFill>
                  <a:srgbClr val="272525"/>
                </a:solidFill>
                <a:latin typeface="Inter Bold" pitchFamily="34" charset="0"/>
                <a:ea typeface="Inter Bold" pitchFamily="34" charset="-122"/>
                <a:cs typeface="Inter Bold" pitchFamily="34" charset="-120"/>
              </a:rPr>
              <a:t>Dashboard:</a:t>
            </a:r>
            <a:pPr algn="ctr" indent="0" marL="0">
              <a:lnSpc>
                <a:spcPct val="133000"/>
              </a:lnSpc>
              <a:buNone/>
            </a:pPr>
            <a:r>
              <a:rPr lang="en-US" sz="1100" dirty="0">
                <a:solidFill>
                  <a:srgbClr val="272525"/>
                </a:solidFill>
                <a:latin typeface="Inter" pitchFamily="34" charset="0"/>
                <a:ea typeface="Inter" pitchFamily="34" charset="-122"/>
                <a:cs typeface="Inter" pitchFamily="34" charset="-120"/>
              </a:rPr>
              <a:t> L</a:t>
            </a:r>
            <a:pPr algn="ctr" indent="0" marL="0">
              <a:lnSpc>
                <a:spcPct val="133000"/>
              </a:lnSpc>
              <a:buNone/>
            </a:pPr>
            <a:r>
              <a:rPr lang="en-US" sz="1100" b="1" u="sng" dirty="0">
                <a:solidFill>
                  <a:srgbClr val="4950BC"/>
                </a:solidFill>
                <a:latin typeface="Inter Bold" pitchFamily="34" charset="0"/>
                <a:ea typeface="Inter Bold" pitchFamily="34" charset="-122"/>
                <a:cs typeface="Inter Bold" pitchFamily="34" charset="-120"/>
                <a:hlinkClick r:id="rId2" invalidUrl="" action="" tgtFrame="" tooltip="" history="1" highlightClick="0" endSnd="0">
                  <a:extLst>
                    <a:ext uri="{A12FA001-AC4F-418D-AE19-62706E023703}">
                      <ahyp:hlinkClr xmlns:ahyp="http://schemas.microsoft.com/office/drawing/2018/hyperlinkcolor" val="tx"/>
                    </a:ext>
                  </a:extLst>
                </a:hlinkClick>
              </a:rPr>
              <a:t>ive Demo Link</a:t>
            </a:r>
            <a:endParaRPr lang="en-US" sz="1100" dirty="0"/>
          </a:p>
        </p:txBody>
      </p:sp>
      <p:sp>
        <p:nvSpPr>
          <p:cNvPr id="5" name="Shape 3"/>
          <p:cNvSpPr/>
          <p:nvPr/>
        </p:nvSpPr>
        <p:spPr>
          <a:xfrm>
            <a:off x="496119" y="3584600"/>
            <a:ext cx="8151763" cy="19050"/>
          </a:xfrm>
          <a:prstGeom prst="roundRect">
            <a:avLst>
              <a:gd name="adj" fmla="val 60000"/>
            </a:avLst>
          </a:prstGeom>
          <a:solidFill>
            <a:srgbClr val="272525">
              <a:alpha val="50000"/>
            </a:srgbClr>
          </a:solidFill>
          <a:ln/>
        </p:spPr>
      </p:sp>
      <p:sp>
        <p:nvSpPr>
          <p:cNvPr id="6" name="Text 4"/>
          <p:cNvSpPr/>
          <p:nvPr/>
        </p:nvSpPr>
        <p:spPr>
          <a:xfrm>
            <a:off x="496119" y="3851672"/>
            <a:ext cx="8151763" cy="354360"/>
          </a:xfrm>
          <a:prstGeom prst="rect">
            <a:avLst/>
          </a:prstGeom>
          <a:noFill/>
          <a:ln/>
        </p:spPr>
        <p:txBody>
          <a:bodyPr wrap="none" lIns="0" tIns="0" rIns="0" bIns="0" rtlCol="0" anchor="t"/>
          <a:lstStyle/>
          <a:p>
            <a:pPr algn="ctr" indent="0" marL="0">
              <a:lnSpc>
                <a:spcPct val="104000"/>
              </a:lnSpc>
              <a:buNone/>
            </a:pP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4950BC"/>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2026-07-11T12:33:59Z</dcterms:created>
  <dcterms:modified xsi:type="dcterms:W3CDTF">2026-07-11T12:33:59Z</dcterms:modified>
</cp:coreProperties>
</file>